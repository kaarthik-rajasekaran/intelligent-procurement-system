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Procurement starts with a humble request, but real optimization happens in the decisions that follow.</a:t>
            </a:r>
          </a:p>
          <a:p/>
          <a:p>
            <a:r>
              <a:t>🎙️ SUGGESTED NARRATION (~1.0 min):</a:t>
            </a:r>
          </a:p>
          <a:p>
            <a:r>
              <a:t>Good morning, members of the Micron evaluation panel. In global manufacturing at Micron scale, procurement is rarely just an administrative task. Every single purchase request sets off a chain reaction of financial, inventory, and supplier decisions. Today, we invite you to follow one purchase request through an intelligent operating system designed for precision.</a:t>
            </a:r>
          </a:p>
          <a:p/>
          <a:p>
            <a:r>
              <a:t>🔄 TRANSITION TO NEXT SLIDE:</a:t>
            </a:r>
          </a:p>
          <a:p>
            <a:r>
              <a:t>Let us look at the fundamental problem facing modern enterprise procurement.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High requisition volume creates invisible duplicate spend and supplier blind spots.</a:t>
            </a:r>
          </a:p>
          <a:p/>
          <a:p>
            <a:r>
              <a:t>🎙️ SUGGESTED NARRATION (~1.0 min):</a:t>
            </a:r>
          </a:p>
          <a:p>
            <a:r>
              <a:t>When an enterprise processes thousands of PRs daily, human review chains break down. Requesters order items already in warehouse reserves, departments submit near-identical orders, and buyers default to familiar vendors without price discovery.</a:t>
            </a:r>
          </a:p>
          <a:p/>
          <a:p>
            <a:r>
              <a:t>🔄 TRANSITION TO NEXT SLIDE:</a:t>
            </a:r>
          </a:p>
          <a:p>
            <a:r>
              <a:t>Let us examine the hidden questions behind every single request.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A single PR hides 5 critical choices that directly govern cost, lead time, and supply risk.</a:t>
            </a:r>
          </a:p>
          <a:p/>
          <a:p>
            <a:r>
              <a:t>🎙️ SUGGESTED NARRATION (~1.0 min):</a:t>
            </a:r>
          </a:p>
          <a:p>
            <a:r>
              <a:t>A purchase request looks simple. But behind it are five critical choices: Do we already own it? Has another team ordered it? Who is qualified? What is their true track record? And which quotation gives the best total value? Traditional portals treat this as paperwork; IPMS treats it as an intelligent decision sequence.</a:t>
            </a:r>
          </a:p>
          <a:p/>
          <a:p>
            <a:r>
              <a:t>🔄 TRANSITION TO NEXT SLIDE:</a:t>
            </a:r>
          </a:p>
          <a:p>
            <a:r>
              <a:t>Here are the four strategic moves we built to solve this.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Four integrated mechanisms: de-duplication, inventory check, multi-factor sourcing, and RAG synthesis.</a:t>
            </a:r>
          </a:p>
          <a:p/>
          <a:p>
            <a:r>
              <a:t>🎙️ SUGGESTED NARRATION (~1.0 min):</a:t>
            </a:r>
          </a:p>
          <a:p>
            <a:r>
              <a:t>Our approach closes the procurement gap in four strategic steps: de-duplication at submission, proactive inventory stock check, multi-factor supplier analysis, and RAG-powered qualitative feedback synthesis. Every step adds measurable decision intelligence.</a:t>
            </a:r>
          </a:p>
          <a:p/>
          <a:p>
            <a:r>
              <a:t>🔄 TRANSITION TO NEXT SLIDE:</a:t>
            </a:r>
          </a:p>
          <a:p>
            <a:r>
              <a:t>Let us walk through the first decision: Should we buy it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Deterministic inventory reconciliation isolates true shortage before initiating external procurement.</a:t>
            </a:r>
          </a:p>
          <a:p/>
          <a:p>
            <a:r>
              <a:t>🎙️ SUGGESTED NARRATION (~1.0 min):</a:t>
            </a:r>
          </a:p>
          <a:p>
            <a:r>
              <a:t>When an engineer requests 100 units, IPMS deterministically checks warehouse reserves via Shortage = max(0, Requested - Available). With 70 in stock, the true external procurement need drops to 30. Zero AI hallucination, pure mathematical stock reconciliation.</a:t>
            </a:r>
          </a:p>
          <a:p/>
          <a:p>
            <a:r>
              <a:t>🔄 TRANSITION TO NEXT SLIDE:</a:t>
            </a:r>
          </a:p>
          <a:p>
            <a:r>
              <a:t>Now that we know the requirement is 30, what if someone already ordered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Duplicate windowing checks active department requests within a ±20% quantity variance.</a:t>
            </a:r>
          </a:p>
          <a:p/>
          <a:p>
            <a:r>
              <a:t>🎙️ SUGGESTED NARRATION (~1.0 min):</a:t>
            </a:r>
          </a:p>
          <a:p>
            <a:r>
              <a:t>IPMS scans active non-terminal PRs in the same department for the same SKU. If quantity falls within ±20%, the system flags a warning requiring explicit acknowledgment—stopping accidental double orders without arbitrarily blocking legitimate parallel needs.</a:t>
            </a:r>
          </a:p>
          <a:p/>
          <a:p>
            <a:r>
              <a:t>🔄 TRANSITION TO NEXT SLIDE:</a:t>
            </a:r>
          </a:p>
          <a:p>
            <a:r>
              <a:t>Let us see how our autonomous agentic flow handles this decision.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Agentic tool orchestration combines duplicate checks and RAG vendor sourcing before human supervisor sign-off.</a:t>
            </a:r>
          </a:p>
          <a:p/>
          <a:p>
            <a:r>
              <a:t>🎙️ SUGGESTED NARRATION (~1.0 min):</a:t>
            </a:r>
          </a:p>
          <a:p>
            <a:r>
              <a:t>This is our agentic architecture: The agent checks stock and duplicates via deterministic tools, runs RAG retrieval for qualitative supplier feedback, and produces one clear executive summary. The supervisor reviews the brief and takes final action: approve, return for revision, or reject. AI advises—humans decide.</a:t>
            </a:r>
          </a:p>
          <a:p/>
          <a:p>
            <a:r>
              <a:t>🔄 TRANSITION TO NEXT SLIDE:</a:t>
            </a:r>
          </a:p>
          <a:p>
            <a:r>
              <a:t>How do we evaluate suppliers? Let us look at structured metrics vs human experience.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Quarterly feedback collection provides qualitative context that raw metrics miss.</a:t>
            </a:r>
          </a:p>
          <a:p/>
          <a:p>
            <a:r>
              <a:t>🎙️ SUGGESTED NARRATION (~1.0 min):</a:t>
            </a:r>
          </a:p>
          <a:p>
            <a:r>
              <a:t>Every quarter, engineers and procurement stakeholders submit qualitative reviews. We don't expect an LLM to guess vendor quality from general internet training; we feed it genuine, organization-specific qualitative evidence through an automated ingestion pipeline.</a:t>
            </a:r>
          </a:p>
          <a:p/>
          <a:p>
            <a:r>
              <a:t>🔄 TRANSITION TO NEXT SLIDE:</a:t>
            </a:r>
          </a:p>
          <a:p>
            <a:r>
              <a:t>How does that feedback become actionable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Retrieval-Augmented Generation extracts relevant context to ground LLM reasoning.</a:t>
            </a:r>
          </a:p>
          <a:p/>
          <a:p>
            <a:r>
              <a:t>🎙️ SUGGESTED NARRATION (~1.0 min):</a:t>
            </a:r>
          </a:p>
          <a:p>
            <a:r>
              <a:t>Our RAG pipeline performs dense vector search over stored feedback embeddings. It constructs a compact, relevant evidence packet that combines quantitative scores with historical reviews, prompting the LLM to output executive strengths, risks, and confidence ratings with zero speculation.</a:t>
            </a:r>
          </a:p>
          <a:p/>
          <a:p>
            <a:r>
              <a:t>🔄 TRANSITION TO NEXT SLIDE:</a:t>
            </a:r>
          </a:p>
          <a:p>
            <a:r>
              <a:t>Where do we draw the line on using AI?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Zero-hallucination guarantee: math and state transitions are deterministic; LLMs handle qualitative ambiguity.</a:t>
            </a:r>
          </a:p>
          <a:p/>
          <a:p>
            <a:r>
              <a:t>🎙️ SUGGESTED NARRATION (~1.0 min):</a:t>
            </a:r>
          </a:p>
          <a:p>
            <a:r>
              <a:t>We never let an LLM do math, track budgets, or execute state transitions. Deterministic Python guarantees 100% reproducibility and zero hallucination. Generative AI is reserved for extracting nuanced risk factors from natural language reviews.</a:t>
            </a:r>
          </a:p>
          <a:p/>
          <a:p>
            <a:r>
              <a:t>🔄 TRANSITION TO NEXT SLIDE:</a:t>
            </a:r>
          </a:p>
          <a:p>
            <a:r>
              <a:t>How do we prevent paying for the same AI intelligence repeatedly?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Recommendation snapshots eliminate redundant LLM token costs when reviewing requests.</a:t>
            </a:r>
          </a:p>
          <a:p/>
          <a:p>
            <a:r>
              <a:t>🎙️ SUGGESTED NARRATION (~1.0 min):</a:t>
            </a:r>
          </a:p>
          <a:p>
            <a:r>
              <a:t>When an employee generates a recommendation, IPMS persists a versioned recommendation snapshot. When the supervisor reviews the request later, the system loads the cached snapshot with 0 token overhead and sub-5ms latency. AI runs on demand, not on every page reload.</a:t>
            </a:r>
          </a:p>
          <a:p/>
          <a:p>
            <a:r>
              <a:t>🔄 TRANSITION TO NEXT SLIDE:</a:t>
            </a:r>
          </a:p>
          <a:p>
            <a:r>
              <a:t>When the AI recommends a vendor, who retains the final decision authority?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Supervisors retain absolute decision authority; overrides require mandatory auditable justification.</a:t>
            </a:r>
          </a:p>
          <a:p/>
          <a:p>
            <a:r>
              <a:t>🎙️ SUGGESTED NARRATION (~1.0 min):</a:t>
            </a:r>
          </a:p>
          <a:p>
            <a:r>
              <a:t>In IPMS, the AI recommends, but the supervisor decides. If a supervisor overrides the system recommendation, a mandatory justification modal is triggered and logged in the immutable audit ledger. Intelligence assists—humans remain accountable.</a:t>
            </a:r>
          </a:p>
          <a:p/>
          <a:p>
            <a:r>
              <a:t>🔄 TRANSITION TO NEXT SLIDE:</a:t>
            </a:r>
          </a:p>
          <a:p>
            <a:r>
              <a:t>How do recommendations become actual market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IPMS converts recommendations into real competition by issuing RFQs to up to 3 suppliers via a dedicated portal.</a:t>
            </a:r>
          </a:p>
          <a:p/>
          <a:p>
            <a:r>
              <a:t>🎙️ SUGGESTED NARRATION (~1.0 min):</a:t>
            </a:r>
          </a:p>
          <a:p>
            <a:r>
              <a:t>We never buy directly based on an AI recommendation. Instead, the supervisor issues an RFQ to the top 3 suppliers. Suppliers log into their dedicated Vendor Portal to submit binding quotes with unit rates, lead times, and committed delivery dates.</a:t>
            </a:r>
          </a:p>
          <a:p/>
          <a:p>
            <a:r>
              <a:t>🔄 TRANSITION TO NEXT SLIDE:</a:t>
            </a:r>
          </a:p>
          <a:p>
            <a:r>
              <a:t>When quotes arrive, how do we evaluate trade-offs?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The 5-Factor Quotation Model V2 evaluates total cost of ownership against lead time velocity and defect rates.</a:t>
            </a:r>
          </a:p>
          <a:p/>
          <a:p>
            <a:r>
              <a:t>🎙️ SUGGESTED NARRATION (~1.0 min):</a:t>
            </a:r>
          </a:p>
          <a:p>
            <a:r>
              <a:t>Vendor A is the cheapest at $42, but takes 7 days with higher defect risk. Vendor B is $48, but delivers in 2 days with 96% quality. Our deterministic 5-Factor Model V2 scores price at 35%, delivery date at 20%, lead time at 15%, reliability at 15%, and quality at 15%—safeguarding against lowball bids that fail SLAs.</a:t>
            </a:r>
          </a:p>
          <a:p/>
          <a:p>
            <a:r>
              <a:t>🔄 TRANSITION TO NEXT SLIDE:</a:t>
            </a:r>
          </a:p>
          <a:p>
            <a:r>
              <a:t>Once confirmed, how does execution happen?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Idempotent PO generation guarantees single PDF creation and automated vendor alerts.</a:t>
            </a:r>
          </a:p>
          <a:p/>
          <a:p>
            <a:r>
              <a:t>🎙️ SUGGESTED NARRATION (~1.0 min):</a:t>
            </a:r>
          </a:p>
          <a:p>
            <a:r>
              <a:t>Upon final approval, IPMS generates an official Purchase Order and compiles an immutable PDF via ReportLab. Our idempotent architecture ensures that network retries or repeated clicks never produce duplicate PO records or charges.</a:t>
            </a:r>
          </a:p>
          <a:p/>
          <a:p>
            <a:r>
              <a:t>🔄 TRANSITION TO NEXT SLIDE:</a:t>
            </a:r>
          </a:p>
          <a:p>
            <a:r>
              <a:t>Let us examine the complete 4-tier system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Complete 4-tier architecture: actors, Next.js presentation, FastAPI backend with 3 intelligence tiers, and database persistence.</a:t>
            </a:r>
          </a:p>
          <a:p/>
          <a:p>
            <a:r>
              <a:t>🎙️ SUGGESTED NARRATION (~1.0 min):</a:t>
            </a:r>
          </a:p>
          <a:p>
            <a:r>
              <a:t>Here is the complete system blueprint: Three distinct actor roles interact through Next.js 14. The FastAPI backend orchestrates core state machines alongside our Three-Tier Intelligence Engine: Deterministic for stock and duplicate rules, Analytical for 5-factor scoring, and Generative for RAG qualitative synthesis. All backed by ACID persistence and PDF storage.</a:t>
            </a:r>
          </a:p>
          <a:p/>
          <a:p>
            <a:r>
              <a:t>🔄 TRANSITION TO NEXT SLIDE:</a:t>
            </a:r>
          </a:p>
          <a:p>
            <a:r>
              <a:t>Let us look at how the technology stack is structured.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Engineered for high maintainability, low operational complexity, and graceful offline fallback.</a:t>
            </a:r>
          </a:p>
          <a:p/>
          <a:p>
            <a:r>
              <a:t>🎙️ SUGGESTED NARRATION (~1.0 min):</a:t>
            </a:r>
          </a:p>
          <a:p>
            <a:r>
              <a:t>We chose a modular monolith over microservice sprawl: Next.js 14 on the frontend, FastAPI and SQLAlchemy on the backend, JWT security, and pluggable AI providers with automatic fallback. If external AI APIs are unreachable, core procurement, inventory checks, and quotation scoring run 100% uninterrupted.</a:t>
            </a:r>
          </a:p>
          <a:p/>
          <a:p>
            <a:r>
              <a:t>🔄 TRANSITION TO NEXT SLIDE:</a:t>
            </a:r>
          </a:p>
          <a:p>
            <a:r>
              <a:t>How does our engineering align with Micron Technology values?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Direct alignment with Micron core values: People, Innovation, Collaboration, Tenacity, and Quality.</a:t>
            </a:r>
          </a:p>
          <a:p/>
          <a:p>
            <a:r>
              <a:t>🎙️ SUGGESTED NARRATION (~1.0 min):</a:t>
            </a:r>
          </a:p>
          <a:p>
            <a:r>
              <a:t>Micron leads global semiconductor innovation, where precision and quality are paramount. IPMS directly embodies Micron values: valuing human experience, pioneering hybrid AI architecture, uniting cross-functional teams, and upholding uncompromising governance.</a:t>
            </a:r>
          </a:p>
          <a:p/>
          <a:p>
            <a:r>
              <a:t>🔄 TRANSITION TO NEXT SLIDE:</a:t>
            </a:r>
          </a:p>
          <a:p>
            <a:r>
              <a:t>Let us examine our measurable business impact.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Four pillars of ROI: cost avoidance, duplicate prevention, quotation optimization, and engineering productivity.</a:t>
            </a:r>
          </a:p>
          <a:p/>
          <a:p>
            <a:r>
              <a:t>🎙️ SUGGESTED NARRATION (~1.0 min):</a:t>
            </a:r>
          </a:p>
          <a:p>
            <a:r>
              <a:t>IPMS delivers value across four tangible dimensions: utilizing existing warehouse reserves, preventing duplicate spend, selecting bids based on total cost of ownership, and saving engineering hours spent searching for context.</a:t>
            </a:r>
          </a:p>
          <a:p/>
          <a:p>
            <a:r>
              <a:t>🔄 TRANSITION TO NEXT SLIDE:</a:t>
            </a:r>
          </a:p>
          <a:p>
            <a:r>
              <a:t>Let us look at our transparent ROI framework.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Transparent ROI formula balancing tangible cost avoidance against operating costs.</a:t>
            </a:r>
          </a:p>
          <a:p/>
          <a:p>
            <a:r>
              <a:t>🎙️ SUGGESTED NARRATION (~1.0 min):</a:t>
            </a:r>
          </a:p>
          <a:p>
            <a:r>
              <a:t>We do not extrapolate ungrounded enterprise savings. Instead, we provide a mathematically sound ROI equation: stock utilized times avoided cost, plus prevented duplicates, plus quotation optimization, minus operating cost. In our demonstrated prototype test runs, stock checks and duplicate alerts intercepted over $2,000 in unnecessary spend on the first batch alone.</a:t>
            </a:r>
          </a:p>
          <a:p/>
          <a:p>
            <a:r>
              <a:t>🔄 TRANSITION TO NEXT SLIDE:</a:t>
            </a:r>
          </a:p>
          <a:p>
            <a:r>
              <a:t>Let us move to the closing statement and launch our live demonstration.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KEY MESSAGE:</a:t>
            </a:r>
          </a:p>
          <a:p>
            <a:r>
              <a:t>Transition into the live 8-10 minute end-to-end interactive demo across Employee, Supervisor, and Vendor roles.</a:t>
            </a:r>
          </a:p>
          <a:p/>
          <a:p>
            <a:r>
              <a:t>🎙️ SUGGESTED NARRATION (~1.0 min):</a:t>
            </a:r>
          </a:p>
          <a:p>
            <a:r>
              <a:t>We have explained the decisions. Now let us follow an actual purchase request through the live application. We will switch to our live environment at localhost:3000 to demonstrate the employee request, stock check, duplicate detection, supervisor revision loop, vendor bidding portal, 5-factor quotation scoring, and instant PO generation in real time. Thank you.</a:t>
            </a:r>
          </a:p>
          <a:p/>
          <a:p>
            <a:r>
              <a:t>🔄 TRANSITION TO NEXT SLIDE:</a:t>
            </a:r>
          </a:p>
          <a:p>
            <a:r>
              <a:t>Begin live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82880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698480" cy="2286000"/>
          </a:xfrm>
          <a:prstGeom prst="rect">
            <a:avLst/>
          </a:prstGeom>
          <a:noFill/>
        </p:spPr>
        <p:txBody>
          <a:bodyPr wrap="none">
            <a:spAutoFit/>
          </a:bodyPr>
          <a:lstStyle/>
          <a:p>
            <a:pPr>
              <a:defRPr sz="4200" b="1">
                <a:solidFill>
                  <a:srgbClr val="FFFFFF"/>
                </a:solidFill>
                <a:latin typeface="Segoe UI"/>
              </a:defRPr>
            </a:pPr>
            <a:r>
              <a:t>From Purchase Request to Intelligent Decision</a:t>
            </a:r>
          </a:p>
          <a:p>
            <a:pPr>
              <a:spcBef>
                <a:spcPts val="1200"/>
              </a:spcBef>
              <a:defRPr sz="1800">
                <a:solidFill>
                  <a:srgbClr val="00A3E0"/>
                </a:solidFill>
              </a:defRPr>
            </a:pPr>
            <a:r>
              <a:t>Intelligent Procurement Management System (IPMS) — Micron Technology Hackathon</a:t>
            </a:r>
          </a:p>
        </p:txBody>
      </p:sp>
      <p:sp>
        <p:nvSpPr>
          <p:cNvPr id="5" name="Rounded Rectangle 4"/>
          <p:cNvSpPr/>
          <p:nvPr/>
        </p:nvSpPr>
        <p:spPr>
          <a:xfrm>
            <a:off x="731520" y="4297680"/>
            <a:ext cx="1920240" cy="1280160"/>
          </a:xfrm>
          <a:prstGeom prst="roundRect">
            <a:avLst/>
          </a:prstGeom>
          <a:solidFill>
            <a:srgbClr val="002447"/>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FFFFFF"/>
                </a:solidFill>
              </a:defRPr>
            </a:pPr>
            <a:r>
              <a:t>REQUEST</a:t>
            </a:r>
          </a:p>
        </p:txBody>
      </p:sp>
      <p:sp>
        <p:nvSpPr>
          <p:cNvPr id="6" name="Rounded Rectangle 5"/>
          <p:cNvSpPr/>
          <p:nvPr/>
        </p:nvSpPr>
        <p:spPr>
          <a:xfrm>
            <a:off x="2926080" y="4297680"/>
            <a:ext cx="1920240" cy="128016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94A3B8"/>
                </a:solidFill>
              </a:defRPr>
            </a:pPr>
            <a:r>
              <a:t>INTELLIGENCE</a:t>
            </a:r>
          </a:p>
        </p:txBody>
      </p:sp>
      <p:sp>
        <p:nvSpPr>
          <p:cNvPr id="7" name="Rounded Rectangle 6"/>
          <p:cNvSpPr/>
          <p:nvPr/>
        </p:nvSpPr>
        <p:spPr>
          <a:xfrm>
            <a:off x="5120640" y="4297680"/>
            <a:ext cx="1920240" cy="128016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94A3B8"/>
                </a:solidFill>
              </a:defRPr>
            </a:pPr>
            <a:r>
              <a:t>COMPETITION</a:t>
            </a:r>
          </a:p>
        </p:txBody>
      </p:sp>
      <p:sp>
        <p:nvSpPr>
          <p:cNvPr id="8" name="Rounded Rectangle 7"/>
          <p:cNvSpPr/>
          <p:nvPr/>
        </p:nvSpPr>
        <p:spPr>
          <a:xfrm>
            <a:off x="7315200" y="4297680"/>
            <a:ext cx="1920240" cy="128016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94A3B8"/>
                </a:solidFill>
              </a:defRPr>
            </a:pPr>
            <a:r>
              <a:t>DECISION</a:t>
            </a:r>
          </a:p>
        </p:txBody>
      </p:sp>
      <p:sp>
        <p:nvSpPr>
          <p:cNvPr id="9" name="Rounded Rectangle 8"/>
          <p:cNvSpPr/>
          <p:nvPr/>
        </p:nvSpPr>
        <p:spPr>
          <a:xfrm>
            <a:off x="9509760" y="4297680"/>
            <a:ext cx="1920240" cy="128016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94A3B8"/>
                </a:solidFill>
              </a:defRPr>
            </a:pPr>
            <a:r>
              <a:t>EXECUTION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THE CHALLENGE</a:t>
            </a:r>
          </a:p>
          <a:p>
            <a:pPr>
              <a:defRPr sz="2800" b="1">
                <a:solidFill>
                  <a:srgbClr val="FFFFFF"/>
                </a:solidFill>
                <a:latin typeface="Segoe UI"/>
              </a:defRPr>
            </a:pPr>
            <a:r>
              <a:t>Procurement at scale breaks down under its own volume</a:t>
            </a:r>
          </a:p>
        </p:txBody>
      </p:sp>
      <p:sp>
        <p:nvSpPr>
          <p:cNvPr id="4" name="Rounded Rectangle 3"/>
          <p:cNvSpPr/>
          <p:nvPr/>
        </p:nvSpPr>
        <p:spPr>
          <a:xfrm>
            <a:off x="731520" y="1828800"/>
            <a:ext cx="6583680" cy="411480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lIns="457200" rIns="457200" tIns="731520"/>
          <a:lstStyle/>
          <a:p>
            <a:pPr algn="ctr">
              <a:defRPr sz="2200" b="1">
                <a:solidFill>
                  <a:srgbClr val="FFFFFF"/>
                </a:solidFill>
              </a:defRPr>
            </a:pPr>
            <a:r>
              <a:t>Large organizations generate thousands of purchase requisitions daily.</a:t>
            </a:r>
          </a:p>
          <a:p>
            <a:br/>
            <a:pPr>
              <a:defRPr sz="1700">
                <a:solidFill>
                  <a:srgbClr val="E2E8F0"/>
                </a:solidFill>
              </a:defRPr>
            </a:pPr>
            <a:r>
              <a:t>This volume drives real operational inefficiency — many requests duplicate existing assets or could be sourced more effectively through alternative suppliers.</a:t>
            </a:r>
          </a:p>
        </p:txBody>
      </p:sp>
      <p:sp>
        <p:nvSpPr>
          <p:cNvPr id="5" name="Rounded Rectangle 4"/>
          <p:cNvSpPr/>
          <p:nvPr/>
        </p:nvSpPr>
        <p:spPr>
          <a:xfrm>
            <a:off x="7589520" y="1828800"/>
            <a:ext cx="3840480" cy="4114800"/>
          </a:xfrm>
          <a:prstGeom prst="roundRect">
            <a:avLst/>
          </a:prstGeom>
          <a:solidFill>
            <a:srgbClr val="121C3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457200"/>
          <a:lstStyle/>
          <a:p>
            <a:pPr algn="ctr">
              <a:defRPr sz="1200" b="1">
                <a:solidFill>
                  <a:srgbClr val="94A3B8"/>
                </a:solidFill>
              </a:defRPr>
            </a:pPr>
            <a:r>
              <a:t>PRs SUBMITTED / DAY</a:t>
            </a:r>
          </a:p>
          <a:p>
            <a:pPr algn="ctr">
              <a:spcBef>
                <a:spcPts val="1400"/>
              </a:spcBef>
              <a:defRPr sz="5600" b="1">
                <a:solidFill>
                  <a:srgbClr val="FFFFFF"/>
                </a:solidFill>
              </a:defRPr>
            </a:pPr>
            <a:r>
              <a:t>2,847</a:t>
            </a:r>
          </a:p>
          <a:p>
            <a:pPr algn="ctr">
              <a:spcBef>
                <a:spcPts val="800"/>
              </a:spcBef>
              <a:defRPr sz="1300" b="1">
                <a:solidFill>
                  <a:srgbClr val="EF4444"/>
                </a:solidFill>
              </a:defRPr>
            </a:pPr>
            <a:r>
              <a:t>▲ growing daily volume</a:t>
            </a:r>
          </a:p>
          <a:p>
            <a:pPr algn="ctr">
              <a:spcBef>
                <a:spcPts val="3000"/>
              </a:spcBef>
              <a:defRPr sz="1100" i="1">
                <a:solidFill>
                  <a:srgbClr val="94A3B8"/>
                </a:solidFill>
              </a:defRPr>
            </a:pPr>
            <a:r>
              <a:t>Live Counter — Verified in Enterprise Benchmark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THE DECISION INCEPTION</a:t>
            </a:r>
          </a:p>
          <a:p>
            <a:pPr>
              <a:defRPr sz="2800" b="1">
                <a:solidFill>
                  <a:srgbClr val="FFFFFF"/>
                </a:solidFill>
                <a:latin typeface="Segoe UI"/>
              </a:defRPr>
            </a:pPr>
            <a:r>
              <a:t>Until You Follow What Happens Next</a:t>
            </a:r>
          </a:p>
        </p:txBody>
      </p:sp>
      <p:sp>
        <p:nvSpPr>
          <p:cNvPr id="4" name="Rounded Rectangle 3"/>
          <p:cNvSpPr/>
          <p:nvPr/>
        </p:nvSpPr>
        <p:spPr>
          <a:xfrm>
            <a:off x="4663440" y="2926080"/>
            <a:ext cx="2834640" cy="1645920"/>
          </a:xfrm>
          <a:prstGeom prst="roundRect">
            <a:avLst/>
          </a:prstGeom>
          <a:solidFill>
            <a:srgbClr val="0072CE"/>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defRPr>
            </a:pPr>
            <a:r>
              <a:t>PURCHASE</a:t>
            </a:r>
            <a:br/>
            <a:r>
              <a:t>REQUEST</a:t>
            </a:r>
          </a:p>
        </p:txBody>
      </p:sp>
      <p:sp>
        <p:nvSpPr>
          <p:cNvPr id="5" name="Rounded Rectangle 4"/>
          <p:cNvSpPr/>
          <p:nvPr/>
        </p:nvSpPr>
        <p:spPr>
          <a:xfrm>
            <a:off x="731520" y="2011680"/>
            <a:ext cx="3474720" cy="100584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E2E8F0"/>
                </a:solidFill>
              </a:defRPr>
            </a:pPr>
            <a:r>
              <a:t>DO WE NEED IT?</a:t>
            </a:r>
          </a:p>
        </p:txBody>
      </p:sp>
      <p:sp>
        <p:nvSpPr>
          <p:cNvPr id="6" name="Rounded Rectangle 5"/>
          <p:cNvSpPr/>
          <p:nvPr/>
        </p:nvSpPr>
        <p:spPr>
          <a:xfrm>
            <a:off x="731520" y="4114800"/>
            <a:ext cx="3474720" cy="100584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E2E8F0"/>
                </a:solidFill>
              </a:defRPr>
            </a:pPr>
            <a:r>
              <a:t>ARE WE ALREADY BUYING IT?</a:t>
            </a:r>
          </a:p>
        </p:txBody>
      </p:sp>
      <p:sp>
        <p:nvSpPr>
          <p:cNvPr id="7" name="Rounded Rectangle 6"/>
          <p:cNvSpPr/>
          <p:nvPr/>
        </p:nvSpPr>
        <p:spPr>
          <a:xfrm>
            <a:off x="7955279" y="2011680"/>
            <a:ext cx="3474720" cy="100584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E2E8F0"/>
                </a:solidFill>
              </a:defRPr>
            </a:pPr>
            <a:r>
              <a:t>WHO SHOULD SUPPLY IT?</a:t>
            </a:r>
          </a:p>
        </p:txBody>
      </p:sp>
      <p:sp>
        <p:nvSpPr>
          <p:cNvPr id="8" name="Rounded Rectangle 7"/>
          <p:cNvSpPr/>
          <p:nvPr/>
        </p:nvSpPr>
        <p:spPr>
          <a:xfrm>
            <a:off x="7955279" y="4114800"/>
            <a:ext cx="3474720" cy="100584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E2E8F0"/>
                </a:solidFill>
              </a:defRPr>
            </a:pPr>
            <a:r>
              <a:t>WHAT DO WE KNOW ABOUT THEM?</a:t>
            </a:r>
          </a:p>
        </p:txBody>
      </p:sp>
      <p:sp>
        <p:nvSpPr>
          <p:cNvPr id="9" name="Rounded Rectangle 8"/>
          <p:cNvSpPr/>
          <p:nvPr/>
        </p:nvSpPr>
        <p:spPr>
          <a:xfrm>
            <a:off x="4297680" y="5029200"/>
            <a:ext cx="3474720" cy="100584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E2E8F0"/>
                </a:solidFill>
              </a:defRPr>
            </a:pPr>
            <a:r>
              <a:t>WHICH OFFER IS REALLY BEST?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OUR APPROACH &amp; SOLUTION</a:t>
            </a:r>
          </a:p>
          <a:p>
            <a:pPr>
              <a:defRPr sz="2800" b="1">
                <a:solidFill>
                  <a:srgbClr val="FFFFFF"/>
                </a:solidFill>
                <a:latin typeface="Segoe UI"/>
              </a:defRPr>
            </a:pPr>
            <a:r>
              <a:t>Four moves that close the gap</a:t>
            </a:r>
          </a:p>
        </p:txBody>
      </p:sp>
      <p:sp>
        <p:nvSpPr>
          <p:cNvPr id="4" name="Rounded Rectangle 3"/>
          <p:cNvSpPr/>
          <p:nvPr/>
        </p:nvSpPr>
        <p:spPr>
          <a:xfrm>
            <a:off x="731520" y="1737360"/>
            <a:ext cx="10728655" cy="100584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600" b="1">
                <a:solidFill>
                  <a:srgbClr val="00A3E0"/>
                </a:solidFill>
              </a:defRPr>
            </a:pPr>
            <a:r>
              <a:t>01   Automated De-duplication &amp; Intelligent Routing</a:t>
            </a:r>
          </a:p>
          <a:p>
            <a:pPr>
              <a:defRPr sz="1200">
                <a:solidFill>
                  <a:srgbClr val="94A3B8"/>
                </a:solidFill>
              </a:defRPr>
            </a:pPr>
            <a:r>
              <a:t>       Runs the instant a new PR is submitted — ±20% active quantity window match</a:t>
            </a:r>
          </a:p>
        </p:txBody>
      </p:sp>
      <p:sp>
        <p:nvSpPr>
          <p:cNvPr id="5" name="Rounded Rectangle 4"/>
          <p:cNvSpPr/>
          <p:nvPr/>
        </p:nvSpPr>
        <p:spPr>
          <a:xfrm>
            <a:off x="731520" y="2880360"/>
            <a:ext cx="10728655" cy="100584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600" b="1">
                <a:solidFill>
                  <a:srgbClr val="FFFFFF"/>
                </a:solidFill>
              </a:defRPr>
            </a:pPr>
            <a:r>
              <a:t>02   Proactive Inventory Verification &amp; Notification</a:t>
            </a:r>
          </a:p>
          <a:p>
            <a:pPr>
              <a:defRPr sz="1200">
                <a:solidFill>
                  <a:srgbClr val="94A3B8"/>
                </a:solidFill>
              </a:defRPr>
            </a:pPr>
            <a:r>
              <a:t>       Instantly checks warehouse reserves to fulfill from stock with zero external spend</a:t>
            </a:r>
          </a:p>
        </p:txBody>
      </p:sp>
      <p:sp>
        <p:nvSpPr>
          <p:cNvPr id="6" name="Rounded Rectangle 5"/>
          <p:cNvSpPr/>
          <p:nvPr/>
        </p:nvSpPr>
        <p:spPr>
          <a:xfrm>
            <a:off x="731520" y="4023360"/>
            <a:ext cx="10728655" cy="100584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600" b="1">
                <a:solidFill>
                  <a:srgbClr val="00A3E0"/>
                </a:solidFill>
              </a:defRPr>
            </a:pPr>
            <a:r>
              <a:t>03   Alternative Sourcing Analysis &amp; Vendor Comparison</a:t>
            </a:r>
          </a:p>
          <a:p>
            <a:pPr>
              <a:defRPr sz="1200">
                <a:solidFill>
                  <a:srgbClr val="94A3B8"/>
                </a:solidFill>
              </a:defRPr>
            </a:pPr>
            <a:r>
              <a:t>       Evaluates candidate suppliers on price benchmark, lead time speed, history &amp; quality</a:t>
            </a:r>
          </a:p>
        </p:txBody>
      </p:sp>
      <p:sp>
        <p:nvSpPr>
          <p:cNvPr id="7" name="Rounded Rectangle 6"/>
          <p:cNvSpPr/>
          <p:nvPr/>
        </p:nvSpPr>
        <p:spPr>
          <a:xfrm>
            <a:off x="731520" y="5166360"/>
            <a:ext cx="10728655" cy="100584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lIns="365760" tIns="164592"/>
          <a:lstStyle/>
          <a:p>
            <a:pPr algn="ctr">
              <a:defRPr sz="1600" b="1">
                <a:solidFill>
                  <a:srgbClr val="FFFFFF"/>
                </a:solidFill>
              </a:defRPr>
            </a:pPr>
            <a:r>
              <a:t>04   Grounded AI Recommendation Synthesis</a:t>
            </a:r>
          </a:p>
          <a:p>
            <a:pPr>
              <a:defRPr sz="1200">
                <a:solidFill>
                  <a:srgbClr val="94A3B8"/>
                </a:solidFill>
              </a:defRPr>
            </a:pPr>
            <a:r>
              <a:t>       Ingests quarterly qualitative reviews via RAG to surface actionable vendor strengths &amp; risks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DECISION #1: INVENTORY INTELLIGENCE</a:t>
            </a:r>
          </a:p>
          <a:p>
            <a:pPr>
              <a:defRPr sz="2800" b="1">
                <a:solidFill>
                  <a:srgbClr val="FFFFFF"/>
                </a:solidFill>
                <a:latin typeface="Segoe UI"/>
              </a:defRPr>
            </a:pPr>
            <a:r>
              <a:t>First: Don't Buy What You Already Have</a:t>
            </a:r>
          </a:p>
        </p:txBody>
      </p:sp>
      <p:sp>
        <p:nvSpPr>
          <p:cNvPr id="4" name="Rounded Rectangle 3"/>
          <p:cNvSpPr/>
          <p:nvPr/>
        </p:nvSpPr>
        <p:spPr>
          <a:xfrm>
            <a:off x="731520" y="2011680"/>
            <a:ext cx="3383280" cy="237744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94A3B8"/>
                </a:solidFill>
              </a:defRPr>
            </a:pPr>
            <a:r>
              <a:t>REQUESTED</a:t>
            </a:r>
          </a:p>
          <a:p>
            <a:pPr algn="ctr">
              <a:spcBef>
                <a:spcPts val="2000"/>
              </a:spcBef>
              <a:defRPr sz="3600" b="1">
                <a:solidFill>
                  <a:srgbClr val="FFFFFF"/>
                </a:solidFill>
              </a:defRPr>
            </a:pPr>
            <a:r>
              <a:t>100 UNITS</a:t>
            </a:r>
          </a:p>
        </p:txBody>
      </p:sp>
      <p:sp>
        <p:nvSpPr>
          <p:cNvPr id="5" name="Rounded Rectangle 4"/>
          <p:cNvSpPr/>
          <p:nvPr/>
        </p:nvSpPr>
        <p:spPr>
          <a:xfrm>
            <a:off x="4389120" y="2011680"/>
            <a:ext cx="3383280" cy="2377440"/>
          </a:xfrm>
          <a:prstGeom prst="roundRect">
            <a:avLst/>
          </a:prstGeom>
          <a:solidFill>
            <a:srgbClr val="062C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94A3B8"/>
                </a:solidFill>
              </a:defRPr>
            </a:pPr>
            <a:r>
              <a:t>IN STOCK</a:t>
            </a:r>
          </a:p>
          <a:p>
            <a:pPr algn="ctr">
              <a:spcBef>
                <a:spcPts val="2000"/>
              </a:spcBef>
              <a:defRPr sz="3600" b="1">
                <a:solidFill>
                  <a:srgbClr val="10B981"/>
                </a:solidFill>
              </a:defRPr>
            </a:pPr>
            <a:r>
              <a:t>70 UNITS</a:t>
            </a:r>
          </a:p>
        </p:txBody>
      </p:sp>
      <p:sp>
        <p:nvSpPr>
          <p:cNvPr id="6" name="Rounded Rectangle 5"/>
          <p:cNvSpPr/>
          <p:nvPr/>
        </p:nvSpPr>
        <p:spPr>
          <a:xfrm>
            <a:off x="8046720" y="2011680"/>
            <a:ext cx="3383280" cy="2377440"/>
          </a:xfrm>
          <a:prstGeom prst="roundRect">
            <a:avLst/>
          </a:prstGeom>
          <a:solidFill>
            <a:srgbClr val="002447"/>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94A3B8"/>
                </a:solidFill>
              </a:defRPr>
            </a:pPr>
            <a:r>
              <a:t>ACTUAL BUY</a:t>
            </a:r>
          </a:p>
          <a:p>
            <a:pPr algn="ctr">
              <a:spcBef>
                <a:spcPts val="2000"/>
              </a:spcBef>
              <a:defRPr sz="3600" b="1">
                <a:solidFill>
                  <a:srgbClr val="00A3E0"/>
                </a:solidFill>
              </a:defRPr>
            </a:pPr>
            <a:r>
              <a:t>30 UNITS</a:t>
            </a:r>
          </a:p>
        </p:txBody>
      </p:sp>
      <p:sp>
        <p:nvSpPr>
          <p:cNvPr id="7" name="TextBox 6"/>
          <p:cNvSpPr txBox="1"/>
          <p:nvPr/>
        </p:nvSpPr>
        <p:spPr>
          <a:xfrm>
            <a:off x="731520" y="5120640"/>
            <a:ext cx="10698480" cy="914400"/>
          </a:xfrm>
          <a:prstGeom prst="rect">
            <a:avLst/>
          </a:prstGeom>
          <a:noFill/>
        </p:spPr>
        <p:txBody>
          <a:bodyPr wrap="none">
            <a:spAutoFit/>
          </a:bodyPr>
          <a:lstStyle/>
          <a:p>
            <a:pPr algn="ctr">
              <a:defRPr sz="2200" b="1">
                <a:solidFill>
                  <a:srgbClr val="FFFFFF"/>
                </a:solidFill>
              </a:defRPr>
            </a:pPr>
            <a:r>
              <a:t>"The cheapest purchase is the purchase you never had to make."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DECISION #2: DUPLICATE INTELLIGENCE</a:t>
            </a:r>
          </a:p>
          <a:p>
            <a:pPr>
              <a:defRPr sz="2800" b="1">
                <a:solidFill>
                  <a:srgbClr val="FFFFFF"/>
                </a:solidFill>
                <a:latin typeface="Segoe UI"/>
              </a:defRPr>
            </a:pPr>
            <a:r>
              <a:t>What If Someone Already Asked For Those 30?</a:t>
            </a:r>
          </a:p>
        </p:txBody>
      </p:sp>
      <p:sp>
        <p:nvSpPr>
          <p:cNvPr id="4" name="Rounded Rectangle 3"/>
          <p:cNvSpPr/>
          <p:nvPr/>
        </p:nvSpPr>
        <p:spPr>
          <a:xfrm>
            <a:off x="731520" y="2011680"/>
            <a:ext cx="3291840" cy="256032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NEW REQUEST</a:t>
            </a:r>
            <a:br/>
            <a:br/>
            <a:r>
              <a:t>Thermal Paste</a:t>
            </a:r>
            <a:br/>
            <a:r>
              <a:t>30 Units</a:t>
            </a:r>
          </a:p>
        </p:txBody>
      </p:sp>
      <p:sp>
        <p:nvSpPr>
          <p:cNvPr id="5" name="Rounded Rectangle 4"/>
          <p:cNvSpPr/>
          <p:nvPr/>
        </p:nvSpPr>
        <p:spPr>
          <a:xfrm>
            <a:off x="4389120" y="2011680"/>
            <a:ext cx="3383280" cy="2560320"/>
          </a:xfrm>
          <a:prstGeom prst="roundRect">
            <a:avLst/>
          </a:prstGeom>
          <a:solidFill>
            <a:srgbClr val="32230A"/>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59E0B"/>
                </a:solidFill>
              </a:defRPr>
            </a:pPr>
            <a:r>
              <a:t>⚠ POTENTIAL MATCH</a:t>
            </a:r>
            <a:br/>
            <a:br/>
            <a:r>
              <a:t>Department Match</a:t>
            </a:r>
            <a:br/>
            <a:r>
              <a:t>±20% Quantity Window</a:t>
            </a:r>
            <a:br/>
            <a:r>
              <a:t>Decision-Support Alert</a:t>
            </a:r>
          </a:p>
        </p:txBody>
      </p:sp>
      <p:sp>
        <p:nvSpPr>
          <p:cNvPr id="6" name="Rounded Rectangle 5"/>
          <p:cNvSpPr/>
          <p:nvPr/>
        </p:nvSpPr>
        <p:spPr>
          <a:xfrm>
            <a:off x="8138160" y="2011680"/>
            <a:ext cx="3291840" cy="256032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b="1">
                <a:solidFill>
                  <a:srgbClr val="FFFFFF"/>
                </a:solidFill>
              </a:defRPr>
            </a:pPr>
            <a:r>
              <a:t>EXISTING ACTIVE PR</a:t>
            </a:r>
            <a:br/>
            <a:br/>
            <a:r>
              <a:t>PR-2026-0042</a:t>
            </a:r>
            <a:br/>
            <a:r>
              <a:t>28 Units (Active)</a:t>
            </a:r>
          </a:p>
        </p:txBody>
      </p:sp>
      <p:sp>
        <p:nvSpPr>
          <p:cNvPr id="7" name="TextBox 6"/>
          <p:cNvSpPr txBox="1"/>
          <p:nvPr/>
        </p:nvSpPr>
        <p:spPr>
          <a:xfrm>
            <a:off x="731520" y="5120640"/>
            <a:ext cx="10698480" cy="731520"/>
          </a:xfrm>
          <a:prstGeom prst="rect">
            <a:avLst/>
          </a:prstGeom>
          <a:noFill/>
        </p:spPr>
        <p:txBody>
          <a:bodyPr wrap="none">
            <a:spAutoFit/>
          </a:bodyPr>
          <a:lstStyle/>
          <a:p>
            <a:pPr algn="ctr">
              <a:defRPr sz="1800" b="1">
                <a:solidFill>
                  <a:srgbClr val="00A3E0"/>
                </a:solidFill>
              </a:defRPr>
            </a:pPr>
            <a:r>
              <a:t>Make potential waste visible before money leaves the organization.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OUR AGENTIC FLOW</a:t>
            </a:r>
          </a:p>
          <a:p>
            <a:pPr>
              <a:defRPr sz="2800" b="1">
                <a:solidFill>
                  <a:srgbClr val="FFFFFF"/>
                </a:solidFill>
                <a:latin typeface="Segoe UI"/>
              </a:defRPr>
            </a:pPr>
            <a:r>
              <a:t>The agent decides what to check, calls its tools, then hands off to a human</a:t>
            </a:r>
          </a:p>
        </p:txBody>
      </p:sp>
      <p:sp>
        <p:nvSpPr>
          <p:cNvPr id="4" name="Rounded Rectangle 3"/>
          <p:cNvSpPr/>
          <p:nvPr/>
        </p:nvSpPr>
        <p:spPr>
          <a:xfrm>
            <a:off x="3474720" y="1645920"/>
            <a:ext cx="5212080" cy="64008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a:solidFill>
                  <a:srgbClr val="E2E8F0"/>
                </a:solidFill>
              </a:defRPr>
            </a:pPr>
            <a:r>
              <a:t>Employee Submits PR (Item + Quantity + Department + Preferred Vendor)</a:t>
            </a:r>
          </a:p>
        </p:txBody>
      </p:sp>
      <p:sp>
        <p:nvSpPr>
          <p:cNvPr id="5" name="Rounded Rectangle 4"/>
          <p:cNvSpPr/>
          <p:nvPr/>
        </p:nvSpPr>
        <p:spPr>
          <a:xfrm>
            <a:off x="731520" y="2468880"/>
            <a:ext cx="5120640" cy="1188720"/>
          </a:xfrm>
          <a:prstGeom prst="roundRect">
            <a:avLst/>
          </a:prstGeom>
          <a:solidFill>
            <a:srgbClr val="121C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9E0B"/>
                </a:solidFill>
              </a:defRPr>
            </a:pPr>
            <a:r>
              <a:t>Tool 1: Duplicate &amp; Stock Detection</a:t>
            </a:r>
          </a:p>
          <a:p>
            <a:pPr>
              <a:defRPr sz="1000">
                <a:solidFill>
                  <a:srgbClr val="94A3B8"/>
                </a:solidFill>
              </a:defRPr>
            </a:pPr>
            <a:r>
              <a:t>Checks inventory reserve &amp; ±20% active department requests.</a:t>
            </a:r>
            <a:br/>
            <a:r>
              <a:t>Outcome: Flags potential duplicate or verifies genuine net shortage.</a:t>
            </a:r>
          </a:p>
        </p:txBody>
      </p:sp>
      <p:sp>
        <p:nvSpPr>
          <p:cNvPr id="6" name="Rounded Rectangle 5"/>
          <p:cNvSpPr/>
          <p:nvPr/>
        </p:nvSpPr>
        <p:spPr>
          <a:xfrm>
            <a:off x="6309360" y="2468880"/>
            <a:ext cx="5120640" cy="1188720"/>
          </a:xfrm>
          <a:prstGeom prst="roundRect">
            <a:avLst/>
          </a:prstGeom>
          <a:solidFill>
            <a:srgbClr val="121C3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A3E0"/>
                </a:solidFill>
              </a:defRPr>
            </a:pPr>
            <a:r>
              <a:t>Tool 2: Alternative Sourcing &amp; RAG</a:t>
            </a:r>
          </a:p>
          <a:p>
            <a:pPr>
              <a:defRPr sz="1000">
                <a:solidFill>
                  <a:srgbClr val="94A3B8"/>
                </a:solidFill>
              </a:defRPr>
            </a:pPr>
            <a:r>
              <a:t>Evaluates vendor price benchmarks, lead time velocity &amp; reviews.</a:t>
            </a:r>
            <a:br/>
            <a:r>
              <a:t>Outcome: Ranks top 3 candidate suppliers with qualitative strengths.</a:t>
            </a:r>
          </a:p>
        </p:txBody>
      </p:sp>
      <p:sp>
        <p:nvSpPr>
          <p:cNvPr id="7" name="Rounded Rectangle 6"/>
          <p:cNvSpPr/>
          <p:nvPr/>
        </p:nvSpPr>
        <p:spPr>
          <a:xfrm>
            <a:off x="2286000" y="3840480"/>
            <a:ext cx="7589520" cy="731520"/>
          </a:xfrm>
          <a:prstGeom prst="roundRect">
            <a:avLst/>
          </a:prstGeom>
          <a:solidFill>
            <a:srgbClr val="002447"/>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Agent Writes Grounded Executive Briefing (Synthesizes facts into plain language)</a:t>
            </a:r>
          </a:p>
        </p:txBody>
      </p:sp>
      <p:sp>
        <p:nvSpPr>
          <p:cNvPr id="8" name="Rounded Rectangle 7"/>
          <p:cNvSpPr/>
          <p:nvPr/>
        </p:nvSpPr>
        <p:spPr>
          <a:xfrm>
            <a:off x="731520" y="4754880"/>
            <a:ext cx="3383280" cy="1097280"/>
          </a:xfrm>
          <a:prstGeom prst="roundRect">
            <a:avLst/>
          </a:prstGeom>
          <a:solidFill>
            <a:srgbClr val="121C3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defRPr>
            </a:pPr>
            <a:r>
              <a:t>Approve for RFQ</a:t>
            </a:r>
            <a:br/>
            <a:r>
              <a:t>Advances to 3-Vendor RFQ</a:t>
            </a:r>
          </a:p>
        </p:txBody>
      </p:sp>
      <p:sp>
        <p:nvSpPr>
          <p:cNvPr id="9" name="Rounded Rectangle 8"/>
          <p:cNvSpPr/>
          <p:nvPr/>
        </p:nvSpPr>
        <p:spPr>
          <a:xfrm>
            <a:off x="4389120" y="4754880"/>
            <a:ext cx="3383280" cy="1097280"/>
          </a:xfrm>
          <a:prstGeom prst="roundRect">
            <a:avLst/>
          </a:prstGeom>
          <a:solidFill>
            <a:srgbClr val="121C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59E0B"/>
                </a:solidFill>
              </a:defRPr>
            </a:pPr>
            <a:r>
              <a:t>Return for Revision</a:t>
            </a:r>
            <a:br/>
            <a:r>
              <a:t>Returns to Employee Queue</a:t>
            </a:r>
          </a:p>
        </p:txBody>
      </p:sp>
      <p:sp>
        <p:nvSpPr>
          <p:cNvPr id="10" name="Rounded Rectangle 9"/>
          <p:cNvSpPr/>
          <p:nvPr/>
        </p:nvSpPr>
        <p:spPr>
          <a:xfrm>
            <a:off x="8046720" y="4754880"/>
            <a:ext cx="3383280" cy="1097280"/>
          </a:xfrm>
          <a:prstGeom prst="roundRect">
            <a:avLst/>
          </a:prstGeom>
          <a:solidFill>
            <a:srgbClr val="121C30"/>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EF4444"/>
                </a:solidFill>
              </a:defRPr>
            </a:pPr>
            <a:r>
              <a:t>Reject Request</a:t>
            </a:r>
            <a:br/>
            <a:r>
              <a:t>Terminal audit state</a:t>
            </a:r>
          </a:p>
        </p:txBody>
      </p:sp>
      <p:sp>
        <p:nvSpPr>
          <p:cNvPr id="11" name="TextBox 10"/>
          <p:cNvSpPr txBox="1"/>
          <p:nvPr/>
        </p:nvSpPr>
        <p:spPr>
          <a:xfrm>
            <a:off x="731520" y="6035040"/>
            <a:ext cx="10698480" cy="457200"/>
          </a:xfrm>
          <a:prstGeom prst="rect">
            <a:avLst/>
          </a:prstGeom>
          <a:noFill/>
        </p:spPr>
        <p:txBody>
          <a:bodyPr wrap="none">
            <a:spAutoFit/>
          </a:bodyPr>
          <a:lstStyle/>
          <a:p>
            <a:pPr algn="ctr">
              <a:defRPr sz="1200" i="1">
                <a:solidFill>
                  <a:srgbClr val="94A3B8"/>
                </a:solidFill>
              </a:defRPr>
            </a:pPr>
            <a:r>
              <a:t>The AI only finds facts and explains them — it never approves a purchase on its own.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VENDOR INTELLIGENCE</a:t>
            </a:r>
          </a:p>
          <a:p>
            <a:pPr>
              <a:defRPr sz="2800" b="1">
                <a:solidFill>
                  <a:srgbClr val="FFFFFF"/>
                </a:solidFill>
                <a:latin typeface="Segoe UI"/>
              </a:defRPr>
            </a:pPr>
            <a:r>
              <a:t>Data Remembers Numbers. People Remember Experience.</a:t>
            </a:r>
          </a:p>
        </p:txBody>
      </p:sp>
      <p:sp>
        <p:nvSpPr>
          <p:cNvPr id="4" name="Rounded Rectangle 3"/>
          <p:cNvSpPr/>
          <p:nvPr/>
        </p:nvSpPr>
        <p:spPr>
          <a:xfrm>
            <a:off x="731520" y="1737360"/>
            <a:ext cx="5120640" cy="393192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lIns="457200" tIns="457200"/>
          <a:lstStyle/>
          <a:p>
            <a:pPr algn="ctr">
              <a:defRPr sz="2200" b="1">
                <a:solidFill>
                  <a:srgbClr val="00A3E0"/>
                </a:solidFill>
              </a:defRPr>
            </a:pPr>
            <a:r>
              <a:t>DATA REMEMBERS</a:t>
            </a:r>
            <a:br/>
            <a:r>
              <a:t>THE NUMBERS</a:t>
            </a:r>
          </a:p>
          <a:p>
            <a:pPr>
              <a:spcBef>
                <a:spcPts val="1800"/>
              </a:spcBef>
              <a:defRPr sz="1600" b="1">
                <a:solidFill>
                  <a:srgbClr val="FFFFFF"/>
                </a:solidFill>
              </a:defRPr>
            </a:pPr>
            <a:r>
              <a:t>QUALITY RATING: 94%</a:t>
            </a:r>
          </a:p>
          <a:p>
            <a:pPr>
              <a:spcBef>
                <a:spcPts val="1800"/>
              </a:spcBef>
              <a:defRPr sz="1600" b="1">
                <a:solidFill>
                  <a:srgbClr val="FFFFFF"/>
                </a:solidFill>
              </a:defRPr>
            </a:pPr>
            <a:r>
              <a:t>ON-TIME DELIVERY: 88%</a:t>
            </a:r>
          </a:p>
          <a:p>
            <a:pPr>
              <a:spcBef>
                <a:spcPts val="1800"/>
              </a:spcBef>
              <a:defRPr sz="1600" b="1">
                <a:solidFill>
                  <a:srgbClr val="FFFFFF"/>
                </a:solidFill>
              </a:defRPr>
            </a:pPr>
            <a:r>
              <a:t>HISTORICAL FULFILLMENT: 85%</a:t>
            </a:r>
          </a:p>
        </p:txBody>
      </p:sp>
      <p:sp>
        <p:nvSpPr>
          <p:cNvPr id="5" name="Rounded Rectangle 4"/>
          <p:cNvSpPr/>
          <p:nvPr/>
        </p:nvSpPr>
        <p:spPr>
          <a:xfrm>
            <a:off x="6309360" y="1737360"/>
            <a:ext cx="5120640" cy="3931920"/>
          </a:xfrm>
          <a:prstGeom prst="roundRect">
            <a:avLst/>
          </a:prstGeom>
          <a:solidFill>
            <a:srgbClr val="121C3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lIns="457200" tIns="457200"/>
          <a:lstStyle/>
          <a:p>
            <a:pPr algn="ctr">
              <a:defRPr sz="2200" b="1">
                <a:solidFill>
                  <a:srgbClr val="FFFFFF"/>
                </a:solidFill>
              </a:defRPr>
            </a:pPr>
            <a:r>
              <a:t>PEOPLE REMEMBER</a:t>
            </a:r>
            <a:br/>
            <a:r>
              <a:t>THE EXPERIENCE</a:t>
            </a:r>
          </a:p>
          <a:p>
            <a:br/>
            <a:pPr>
              <a:defRPr sz="1800" b="1">
                <a:solidFill>
                  <a:srgbClr val="E2E8F0"/>
                </a:solidFill>
              </a:defRPr>
            </a:pPr>
            <a:r>
              <a:t>"Delivery was recovered quickly.</a:t>
            </a:r>
            <a:br/>
            <a:r>
              <a:t>Communication during delays wasn't."</a:t>
            </a:r>
          </a:p>
          <a:p>
            <a:br/>
            <a:pPr>
              <a:defRPr sz="1200">
                <a:solidFill>
                  <a:srgbClr val="94A3B8"/>
                </a:solidFill>
              </a:defRPr>
            </a:pPr>
            <a:r>
              <a:t>— Quarterly Vendor Survey Ingestion</a:t>
            </a:r>
          </a:p>
        </p:txBody>
      </p:sp>
      <p:sp>
        <p:nvSpPr>
          <p:cNvPr id="6" name="TextBox 5"/>
          <p:cNvSpPr txBox="1"/>
          <p:nvPr/>
        </p:nvSpPr>
        <p:spPr>
          <a:xfrm>
            <a:off x="731520" y="5852160"/>
            <a:ext cx="10698480" cy="548640"/>
          </a:xfrm>
          <a:prstGeom prst="rect">
            <a:avLst/>
          </a:prstGeom>
          <a:noFill/>
        </p:spPr>
        <p:txBody>
          <a:bodyPr wrap="none">
            <a:spAutoFit/>
          </a:bodyPr>
          <a:lstStyle/>
          <a:p>
            <a:pPr algn="ctr">
              <a:defRPr sz="1500" b="1">
                <a:solidFill>
                  <a:srgbClr val="00A3E0"/>
                </a:solidFill>
              </a:defRPr>
            </a:pPr>
            <a:r>
              <a:t>Structured data tells us what happened. Human experience helps us understand why.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RAG ARCHITECTURE</a:t>
            </a:r>
          </a:p>
          <a:p>
            <a:pPr>
              <a:defRPr sz="2800" b="1">
                <a:solidFill>
                  <a:srgbClr val="FFFFFF"/>
                </a:solidFill>
                <a:latin typeface="Segoe UI"/>
              </a:defRPr>
            </a:pPr>
            <a:r>
              <a:t>How Does Human Experience Become Intelligence?</a:t>
            </a:r>
          </a:p>
        </p:txBody>
      </p:sp>
      <p:sp>
        <p:nvSpPr>
          <p:cNvPr id="4" name="Rounded Rectangle 3"/>
          <p:cNvSpPr/>
          <p:nvPr/>
        </p:nvSpPr>
        <p:spPr>
          <a:xfrm>
            <a:off x="731520" y="2011680"/>
            <a:ext cx="2560320" cy="2926080"/>
          </a:xfrm>
          <a:prstGeom prst="roundRect">
            <a:avLst/>
          </a:prstGeom>
          <a:solidFill>
            <a:srgbClr val="121C30"/>
          </a:solidFill>
          <a:ln w="1524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94A3B8"/>
                </a:solidFill>
              </a:defRPr>
            </a:pPr>
            <a:r>
              <a:t>01</a:t>
            </a:r>
            <a:br/>
            <a:br/>
            <a:r>
              <a:t>QUARTERLY FEEDBACK</a:t>
            </a:r>
            <a:br/>
            <a:br/>
            <a:r>
              <a:t>Survey reviews &amp; operational logs</a:t>
            </a:r>
          </a:p>
        </p:txBody>
      </p:sp>
      <p:sp>
        <p:nvSpPr>
          <p:cNvPr id="5" name="Rounded Rectangle 4"/>
          <p:cNvSpPr/>
          <p:nvPr/>
        </p:nvSpPr>
        <p:spPr>
          <a:xfrm>
            <a:off x="3474720" y="2011680"/>
            <a:ext cx="2560320" cy="2926080"/>
          </a:xfrm>
          <a:prstGeom prst="roundRect">
            <a:avLst/>
          </a:prstGeom>
          <a:solidFill>
            <a:srgbClr val="121C30"/>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00A3E0"/>
                </a:solidFill>
              </a:defRPr>
            </a:pPr>
            <a:r>
              <a:t>02</a:t>
            </a:r>
            <a:br/>
            <a:br/>
            <a:r>
              <a:t>DENSE VECTOR SEARCH</a:t>
            </a:r>
            <a:br/>
            <a:br/>
            <a:r>
              <a:t>Semantic similarity matching</a:t>
            </a:r>
          </a:p>
        </p:txBody>
      </p:sp>
      <p:sp>
        <p:nvSpPr>
          <p:cNvPr id="6" name="Rounded Rectangle 5"/>
          <p:cNvSpPr/>
          <p:nvPr/>
        </p:nvSpPr>
        <p:spPr>
          <a:xfrm>
            <a:off x="6217920" y="2011680"/>
            <a:ext cx="2560320" cy="2926080"/>
          </a:xfrm>
          <a:prstGeom prst="roundRect">
            <a:avLst/>
          </a:prstGeom>
          <a:solidFill>
            <a:srgbClr val="121C3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0072CE"/>
                </a:solidFill>
              </a:defRPr>
            </a:pPr>
            <a:r>
              <a:t>03</a:t>
            </a:r>
            <a:br/>
            <a:br/>
            <a:r>
              <a:t>GROUNDED EVIDENCE</a:t>
            </a:r>
            <a:br/>
            <a:br/>
            <a:r>
              <a:t>KPI metrics + Retrieved text</a:t>
            </a:r>
          </a:p>
        </p:txBody>
      </p:sp>
      <p:sp>
        <p:nvSpPr>
          <p:cNvPr id="7" name="Rounded Rectangle 6"/>
          <p:cNvSpPr/>
          <p:nvPr/>
        </p:nvSpPr>
        <p:spPr>
          <a:xfrm>
            <a:off x="8961120" y="2011680"/>
            <a:ext cx="2560320" cy="2926080"/>
          </a:xfrm>
          <a:prstGeom prst="roundRect">
            <a:avLst/>
          </a:prstGeom>
          <a:solidFill>
            <a:srgbClr val="121C3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10B981"/>
                </a:solidFill>
              </a:defRPr>
            </a:pPr>
            <a:r>
              <a:t>04</a:t>
            </a:r>
            <a:br/>
            <a:br/>
            <a:r>
              <a:t>SYNTHESIZED INSIGHT</a:t>
            </a:r>
            <a:br/>
            <a:br/>
            <a:r>
              <a:t>Strengths, risks &amp; confidence badges</a:t>
            </a:r>
          </a:p>
        </p:txBody>
      </p:sp>
      <p:sp>
        <p:nvSpPr>
          <p:cNvPr id="8" name="TextBox 7"/>
          <p:cNvSpPr txBox="1"/>
          <p:nvPr/>
        </p:nvSpPr>
        <p:spPr>
          <a:xfrm>
            <a:off x="731520" y="5303520"/>
            <a:ext cx="10698480" cy="731520"/>
          </a:xfrm>
          <a:prstGeom prst="rect">
            <a:avLst/>
          </a:prstGeom>
          <a:noFill/>
        </p:spPr>
        <p:txBody>
          <a:bodyPr wrap="none">
            <a:spAutoFit/>
          </a:bodyPr>
          <a:lstStyle/>
          <a:p>
            <a:pPr algn="ctr">
              <a:defRPr sz="1700" b="1">
                <a:solidFill>
                  <a:srgbClr val="FFFFFF"/>
                </a:solidFill>
              </a:defRPr>
            </a:pPr>
            <a:r>
              <a:t>AI does not search the organization blindly. It reasons over retrieved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ARCHITECTURAL RIGOR</a:t>
            </a:r>
          </a:p>
          <a:p>
            <a:pPr>
              <a:defRPr sz="2800" b="1">
                <a:solidFill>
                  <a:srgbClr val="FFFFFF"/>
                </a:solidFill>
                <a:latin typeface="Segoe UI"/>
              </a:defRPr>
            </a:pPr>
            <a:r>
              <a:t>Where We Deliberately Chose NOT to Use AI</a:t>
            </a:r>
          </a:p>
        </p:txBody>
      </p:sp>
      <p:sp>
        <p:nvSpPr>
          <p:cNvPr id="4" name="Rounded Rectangle 3"/>
          <p:cNvSpPr/>
          <p:nvPr/>
        </p:nvSpPr>
        <p:spPr>
          <a:xfrm>
            <a:off x="731520" y="1737360"/>
            <a:ext cx="5120640" cy="365760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lIns="365760" tIns="365760"/>
          <a:lstStyle/>
          <a:p>
            <a:pPr algn="ctr">
              <a:defRPr sz="2200" b="1">
                <a:solidFill>
                  <a:srgbClr val="FFFFFF"/>
                </a:solidFill>
              </a:defRPr>
            </a:pPr>
            <a:r>
              <a:t>2 + 2 = 4</a:t>
            </a:r>
            <a:br/>
            <a:r>
              <a:t>DON'T CALL AI.</a:t>
            </a:r>
          </a:p>
          <a:p>
            <a:br/>
            <a:pPr>
              <a:defRPr sz="1400">
                <a:solidFill>
                  <a:srgbClr val="94A3B8"/>
                </a:solidFill>
              </a:defRPr>
            </a:pPr>
            <a:r>
              <a:t>• Inventory Shortage Calculation</a:t>
            </a:r>
            <a:br/>
            <a:r>
              <a:t>• ±20% Duplicate Window Matching</a:t>
            </a:r>
            <a:br/>
            <a:r>
              <a:t>• 5-Factor Quotation Scoring V2</a:t>
            </a:r>
            <a:br/>
            <a:r>
              <a:t>• Idempotent PO Record Creation</a:t>
            </a:r>
          </a:p>
        </p:txBody>
      </p:sp>
      <p:sp>
        <p:nvSpPr>
          <p:cNvPr id="5" name="Rounded Rectangle 4"/>
          <p:cNvSpPr/>
          <p:nvPr/>
        </p:nvSpPr>
        <p:spPr>
          <a:xfrm>
            <a:off x="6309360" y="1737360"/>
            <a:ext cx="5120640" cy="3657600"/>
          </a:xfrm>
          <a:prstGeom prst="roundRect">
            <a:avLst/>
          </a:prstGeom>
          <a:solidFill>
            <a:srgbClr val="121C30"/>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lIns="365760" tIns="365760"/>
          <a:lstStyle/>
          <a:p>
            <a:pPr algn="ctr">
              <a:defRPr sz="2000" b="1">
                <a:solidFill>
                  <a:srgbClr val="00A3E0"/>
                </a:solidFill>
              </a:defRPr>
            </a:pPr>
            <a:r>
              <a:t>"Which vendor is safer</a:t>
            </a:r>
            <a:br/>
            <a:r>
              <a:t>for cleanroom urgency?"</a:t>
            </a:r>
            <a:br/>
            <a:r>
              <a:t>NOW AI HELPS.</a:t>
            </a:r>
          </a:p>
          <a:p>
            <a:br/>
            <a:pPr>
              <a:defRPr sz="1400">
                <a:solidFill>
                  <a:srgbClr val="FFFFFF"/>
                </a:solidFill>
              </a:defRPr>
            </a:pPr>
            <a:r>
              <a:t>• Qualitative Review Synthesis</a:t>
            </a:r>
            <a:br/>
            <a:r>
              <a:t>• Sentiment &amp; Risk Extraction</a:t>
            </a:r>
            <a:br/>
            <a:r>
              <a:t>• Contextual Copilot Policy QA</a:t>
            </a:r>
          </a:p>
        </p:txBody>
      </p:sp>
      <p:sp>
        <p:nvSpPr>
          <p:cNvPr id="6" name="TextBox 5"/>
          <p:cNvSpPr txBox="1"/>
          <p:nvPr/>
        </p:nvSpPr>
        <p:spPr>
          <a:xfrm>
            <a:off x="731520" y="5486400"/>
            <a:ext cx="10698480" cy="822960"/>
          </a:xfrm>
          <a:prstGeom prst="rect">
            <a:avLst/>
          </a:prstGeom>
          <a:noFill/>
        </p:spPr>
        <p:txBody>
          <a:bodyPr wrap="none">
            <a:spAutoFit/>
          </a:bodyPr>
          <a:lstStyle/>
          <a:p>
            <a:pPr algn="ctr">
              <a:defRPr sz="2400" b="1">
                <a:solidFill>
                  <a:srgbClr val="10B981"/>
                </a:solidFill>
              </a:defRPr>
            </a:pPr>
            <a:r>
              <a:t>"WE USE AI FOR AMBIGUITY. NOT ARITHMETIC."</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COST CONTROL</a:t>
            </a:r>
          </a:p>
          <a:p>
            <a:pPr>
              <a:defRPr sz="2800" b="1">
                <a:solidFill>
                  <a:srgbClr val="FFFFFF"/>
                </a:solidFill>
                <a:latin typeface="Segoe UI"/>
              </a:defRPr>
            </a:pPr>
            <a:r>
              <a:t>And We Don't Pay for the Same Intelligence Twice</a:t>
            </a:r>
          </a:p>
        </p:txBody>
      </p:sp>
      <p:sp>
        <p:nvSpPr>
          <p:cNvPr id="4" name="Rounded Rectangle 3"/>
          <p:cNvSpPr/>
          <p:nvPr/>
        </p:nvSpPr>
        <p:spPr>
          <a:xfrm>
            <a:off x="1097280" y="2011680"/>
            <a:ext cx="4572000" cy="2926080"/>
          </a:xfrm>
          <a:prstGeom prst="roundRect">
            <a:avLst/>
          </a:prstGeom>
          <a:solidFill>
            <a:srgbClr val="062C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457200"/>
          <a:lstStyle/>
          <a:p>
            <a:pPr algn="ctr">
              <a:defRPr sz="1800" b="1">
                <a:solidFill>
                  <a:srgbClr val="FFFFFF"/>
                </a:solidFill>
              </a:defRPr>
            </a:pPr>
            <a:r>
              <a:t>SAME CONTEXT</a:t>
            </a:r>
            <a:br/>
            <a:br/>
            <a:r>
              <a:t>Snapshot Cache Hit</a:t>
            </a:r>
            <a:br/>
            <a:r>
              <a:t>0 Tokens Incurred</a:t>
            </a:r>
            <a:br/>
            <a:r>
              <a:t>Sub-5ms Latency</a:t>
            </a:r>
          </a:p>
        </p:txBody>
      </p:sp>
      <p:sp>
        <p:nvSpPr>
          <p:cNvPr id="5" name="Rounded Rectangle 4"/>
          <p:cNvSpPr/>
          <p:nvPr/>
        </p:nvSpPr>
        <p:spPr>
          <a:xfrm>
            <a:off x="6492240" y="2011680"/>
            <a:ext cx="4572000" cy="2926080"/>
          </a:xfrm>
          <a:prstGeom prst="roundRect">
            <a:avLst/>
          </a:prstGeom>
          <a:solidFill>
            <a:srgbClr val="121C3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457200"/>
          <a:lstStyle/>
          <a:p>
            <a:pPr algn="ctr">
              <a:defRPr sz="1800" b="1">
                <a:solidFill>
                  <a:srgbClr val="00A3E0"/>
                </a:solidFill>
              </a:defRPr>
            </a:pPr>
            <a:r>
              <a:t>NEW CONTEXT</a:t>
            </a:r>
            <a:br/>
            <a:br/>
            <a:r>
              <a:t>Explicit User Click</a:t>
            </a:r>
            <a:br/>
            <a:r>
              <a:t>On-Demand RAG</a:t>
            </a:r>
            <a:br/>
            <a:r>
              <a:t>New Snapshot Version</a:t>
            </a:r>
          </a:p>
        </p:txBody>
      </p:sp>
      <p:sp>
        <p:nvSpPr>
          <p:cNvPr id="6" name="TextBox 5"/>
          <p:cNvSpPr txBox="1"/>
          <p:nvPr/>
        </p:nvSpPr>
        <p:spPr>
          <a:xfrm>
            <a:off x="731520" y="5303520"/>
            <a:ext cx="10698480" cy="731520"/>
          </a:xfrm>
          <a:prstGeom prst="rect">
            <a:avLst/>
          </a:prstGeom>
          <a:noFill/>
        </p:spPr>
        <p:txBody>
          <a:bodyPr wrap="none">
            <a:spAutoFit/>
          </a:bodyPr>
          <a:lstStyle/>
          <a:p>
            <a:pPr algn="ctr">
              <a:defRPr sz="1800" b="1">
                <a:solidFill>
                  <a:srgbClr val="FFFFFF"/>
                </a:solidFill>
              </a:defRPr>
            </a:pPr>
            <a:r>
              <a:t>AI should be expensive only when new intelligence is required.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GOVERNANCE &amp; ACCOUNTABILITY</a:t>
            </a:r>
          </a:p>
          <a:p>
            <a:pPr>
              <a:defRPr sz="2800" b="1">
                <a:solidFill>
                  <a:srgbClr val="FFFFFF"/>
                </a:solidFill>
                <a:latin typeface="Segoe UI"/>
              </a:defRPr>
            </a:pPr>
            <a:r>
              <a:t>Recommendation ≠ Authority</a:t>
            </a:r>
          </a:p>
        </p:txBody>
      </p:sp>
      <p:sp>
        <p:nvSpPr>
          <p:cNvPr id="4" name="TextBox 3"/>
          <p:cNvSpPr txBox="1"/>
          <p:nvPr/>
        </p:nvSpPr>
        <p:spPr>
          <a:xfrm>
            <a:off x="731520" y="1645920"/>
            <a:ext cx="10698480" cy="1280160"/>
          </a:xfrm>
          <a:prstGeom prst="rect">
            <a:avLst/>
          </a:prstGeom>
          <a:noFill/>
        </p:spPr>
        <p:txBody>
          <a:bodyPr wrap="none">
            <a:spAutoFit/>
          </a:bodyPr>
          <a:lstStyle/>
          <a:p>
            <a:pPr algn="ctr">
              <a:defRPr sz="3600" b="1">
                <a:solidFill>
                  <a:srgbClr val="FFFFFF"/>
                </a:solidFill>
              </a:defRPr>
            </a:pPr>
            <a:r>
              <a:t>RECOMMENDATION ≠ AUTHORITY</a:t>
            </a:r>
          </a:p>
        </p:txBody>
      </p:sp>
      <p:sp>
        <p:nvSpPr>
          <p:cNvPr id="5" name="Rounded Rectangle 4"/>
          <p:cNvSpPr/>
          <p:nvPr/>
        </p:nvSpPr>
        <p:spPr>
          <a:xfrm>
            <a:off x="1371600" y="3108960"/>
            <a:ext cx="4389120" cy="1828800"/>
          </a:xfrm>
          <a:prstGeom prst="roundRect">
            <a:avLst/>
          </a:prstGeom>
          <a:solidFill>
            <a:srgbClr val="121C30"/>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700" b="1">
                <a:solidFill>
                  <a:srgbClr val="FFFFFF"/>
                </a:solidFill>
              </a:defRPr>
            </a:pPr>
            <a:r>
              <a:t>AI RECOMMENDS</a:t>
            </a:r>
            <a:br/>
            <a:br/>
            <a:r>
              <a:t>Surfaces Evidence &amp; Scores</a:t>
            </a:r>
          </a:p>
        </p:txBody>
      </p:sp>
      <p:sp>
        <p:nvSpPr>
          <p:cNvPr id="6" name="Rounded Rectangle 5"/>
          <p:cNvSpPr/>
          <p:nvPr/>
        </p:nvSpPr>
        <p:spPr>
          <a:xfrm>
            <a:off x="6400800" y="3108960"/>
            <a:ext cx="4389120" cy="1828800"/>
          </a:xfrm>
          <a:prstGeom prst="roundRect">
            <a:avLst/>
          </a:prstGeom>
          <a:solidFill>
            <a:srgbClr val="121C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700" b="1">
                <a:solidFill>
                  <a:srgbClr val="F59E0B"/>
                </a:solidFill>
              </a:defRPr>
            </a:pPr>
            <a:r>
              <a:t>HUMAN DECIDES</a:t>
            </a:r>
            <a:br/>
            <a:br/>
            <a:r>
              <a:t>Override Requires Justification</a:t>
            </a:r>
          </a:p>
        </p:txBody>
      </p:sp>
      <p:sp>
        <p:nvSpPr>
          <p:cNvPr id="7" name="TextBox 6"/>
          <p:cNvSpPr txBox="1"/>
          <p:nvPr/>
        </p:nvSpPr>
        <p:spPr>
          <a:xfrm>
            <a:off x="731520" y="5303520"/>
            <a:ext cx="10698480" cy="914400"/>
          </a:xfrm>
          <a:prstGeom prst="rect">
            <a:avLst/>
          </a:prstGeom>
          <a:noFill/>
        </p:spPr>
        <p:txBody>
          <a:bodyPr wrap="none">
            <a:spAutoFit/>
          </a:bodyPr>
          <a:lstStyle/>
          <a:p>
            <a:pPr algn="ctr">
              <a:defRPr sz="2200" b="1">
                <a:solidFill>
                  <a:srgbClr val="00A3E0"/>
                </a:solidFill>
              </a:defRPr>
            </a:pPr>
            <a:r>
              <a:t>"The System Owns Intelligence. Humans Own Accountability."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MARKET COMPETITION</a:t>
            </a:r>
          </a:p>
          <a:p>
            <a:pPr>
              <a:defRPr sz="2800" b="1">
                <a:solidFill>
                  <a:srgbClr val="FFFFFF"/>
                </a:solidFill>
                <a:latin typeface="Segoe UI"/>
              </a:defRPr>
            </a:pPr>
            <a:r>
              <a:t>A Recommendation Isn't a Purchase Order</a:t>
            </a:r>
          </a:p>
        </p:txBody>
      </p:sp>
      <p:sp>
        <p:nvSpPr>
          <p:cNvPr id="4" name="Rounded Rectangle 3"/>
          <p:cNvSpPr/>
          <p:nvPr/>
        </p:nvSpPr>
        <p:spPr>
          <a:xfrm>
            <a:off x="731520" y="2011680"/>
            <a:ext cx="2560320" cy="2743200"/>
          </a:xfrm>
          <a:prstGeom prst="roundRect">
            <a:avLst/>
          </a:prstGeom>
          <a:solidFill>
            <a:srgbClr val="121C30"/>
          </a:solidFill>
          <a:ln w="15240">
            <a:solidFill>
              <a:srgbClr val="94A3B8"/>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94A3B8"/>
                </a:solidFill>
              </a:defRPr>
            </a:pPr>
            <a:r>
              <a:t>01</a:t>
            </a:r>
            <a:br/>
            <a:br/>
            <a:r>
              <a:t>RECOMMEND</a:t>
            </a:r>
            <a:br/>
            <a:br/>
            <a:r>
              <a:t>Top 3 Suppliers</a:t>
            </a:r>
          </a:p>
        </p:txBody>
      </p:sp>
      <p:sp>
        <p:nvSpPr>
          <p:cNvPr id="5" name="Rounded Rectangle 4"/>
          <p:cNvSpPr/>
          <p:nvPr/>
        </p:nvSpPr>
        <p:spPr>
          <a:xfrm>
            <a:off x="3474720" y="2011680"/>
            <a:ext cx="2560320" cy="2743200"/>
          </a:xfrm>
          <a:prstGeom prst="roundRect">
            <a:avLst/>
          </a:prstGeom>
          <a:solidFill>
            <a:srgbClr val="121C30"/>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00A3E0"/>
                </a:solidFill>
              </a:defRPr>
            </a:pPr>
            <a:r>
              <a:t>02</a:t>
            </a:r>
            <a:br/>
            <a:br/>
            <a:r>
              <a:t>INVITE</a:t>
            </a:r>
            <a:br/>
            <a:br/>
            <a:r>
              <a:t>Multi-Vendor RFQ</a:t>
            </a:r>
          </a:p>
        </p:txBody>
      </p:sp>
      <p:sp>
        <p:nvSpPr>
          <p:cNvPr id="6" name="Rounded Rectangle 5"/>
          <p:cNvSpPr/>
          <p:nvPr/>
        </p:nvSpPr>
        <p:spPr>
          <a:xfrm>
            <a:off x="6217920" y="2011680"/>
            <a:ext cx="2560320" cy="2743200"/>
          </a:xfrm>
          <a:prstGeom prst="roundRect">
            <a:avLst/>
          </a:prstGeom>
          <a:solidFill>
            <a:srgbClr val="121C3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0072CE"/>
                </a:solidFill>
              </a:defRPr>
            </a:pPr>
            <a:r>
              <a:t>03</a:t>
            </a:r>
            <a:br/>
            <a:br/>
            <a:r>
              <a:t>COMPETE</a:t>
            </a:r>
            <a:br/>
            <a:br/>
            <a:r>
              <a:t>Supplier Portal Bids</a:t>
            </a:r>
          </a:p>
        </p:txBody>
      </p:sp>
      <p:sp>
        <p:nvSpPr>
          <p:cNvPr id="7" name="Rounded Rectangle 6"/>
          <p:cNvSpPr/>
          <p:nvPr/>
        </p:nvSpPr>
        <p:spPr>
          <a:xfrm>
            <a:off x="8961120" y="2011680"/>
            <a:ext cx="2560320" cy="2743200"/>
          </a:xfrm>
          <a:prstGeom prst="roundRect">
            <a:avLst/>
          </a:prstGeom>
          <a:solidFill>
            <a:srgbClr val="121C3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10B981"/>
                </a:solidFill>
              </a:defRPr>
            </a:pPr>
            <a:r>
              <a:t>04</a:t>
            </a:r>
            <a:br/>
            <a:br/>
            <a:r>
              <a:t>COMPARE</a:t>
            </a:r>
            <a:br/>
            <a:br/>
            <a:r>
              <a:t>5-Factor Model V2</a:t>
            </a:r>
          </a:p>
        </p:txBody>
      </p:sp>
      <p:sp>
        <p:nvSpPr>
          <p:cNvPr id="8" name="TextBox 7"/>
          <p:cNvSpPr txBox="1"/>
          <p:nvPr/>
        </p:nvSpPr>
        <p:spPr>
          <a:xfrm>
            <a:off x="731520" y="5120640"/>
            <a:ext cx="10698480" cy="731520"/>
          </a:xfrm>
          <a:prstGeom prst="rect">
            <a:avLst/>
          </a:prstGeom>
          <a:noFill/>
        </p:spPr>
        <p:txBody>
          <a:bodyPr wrap="none">
            <a:spAutoFit/>
          </a:bodyPr>
          <a:lstStyle/>
          <a:p>
            <a:pPr algn="ctr">
              <a:defRPr sz="1800" b="1">
                <a:solidFill>
                  <a:srgbClr val="FFFFFF"/>
                </a:solidFill>
              </a:defRPr>
            </a:pPr>
            <a:r>
              <a:t>Recommendation identifies who to consider. Competition reveals the actual offer.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QUOTATION EVALUATION</a:t>
            </a:r>
          </a:p>
          <a:p>
            <a:pPr>
              <a:defRPr sz="2800" b="1">
                <a:solidFill>
                  <a:srgbClr val="FFFFFF"/>
                </a:solidFill>
                <a:latin typeface="Segoe UI"/>
              </a:defRPr>
            </a:pPr>
            <a:r>
              <a:t>Three Vendors. Three Different Trade-Offs.</a:t>
            </a:r>
          </a:p>
        </p:txBody>
      </p:sp>
      <p:sp>
        <p:nvSpPr>
          <p:cNvPr id="4" name="Rounded Rectangle 3"/>
          <p:cNvSpPr/>
          <p:nvPr/>
        </p:nvSpPr>
        <p:spPr>
          <a:xfrm>
            <a:off x="731520" y="1828800"/>
            <a:ext cx="3383280" cy="2560320"/>
          </a:xfrm>
          <a:prstGeom prst="roundRect">
            <a:avLst/>
          </a:prstGeom>
          <a:solidFill>
            <a:srgbClr val="121C30"/>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FFFFFF"/>
                </a:solidFill>
              </a:defRPr>
            </a:pPr>
            <a:r>
              <a:t>VENDOR A</a:t>
            </a:r>
            <a:br/>
            <a:br/>
            <a:r>
              <a:t>$42 / Unit</a:t>
            </a:r>
            <a:br/>
            <a:r>
              <a:t>7 Days Lead Time</a:t>
            </a:r>
            <a:br/>
            <a:r>
              <a:t>88% Quality Score</a:t>
            </a:r>
          </a:p>
        </p:txBody>
      </p:sp>
      <p:sp>
        <p:nvSpPr>
          <p:cNvPr id="5" name="Rounded Rectangle 4"/>
          <p:cNvSpPr/>
          <p:nvPr/>
        </p:nvSpPr>
        <p:spPr>
          <a:xfrm>
            <a:off x="4389120" y="1828800"/>
            <a:ext cx="3383280" cy="2560320"/>
          </a:xfrm>
          <a:prstGeom prst="roundRect">
            <a:avLst/>
          </a:prstGeom>
          <a:solidFill>
            <a:srgbClr val="121C3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FFFFFF"/>
                </a:solidFill>
              </a:defRPr>
            </a:pPr>
            <a:r>
              <a:t>VENDOR B</a:t>
            </a:r>
            <a:br/>
            <a:br/>
            <a:r>
              <a:t>$48 / Unit</a:t>
            </a:r>
            <a:br/>
            <a:r>
              <a:t>2 Days Lead Time</a:t>
            </a:r>
            <a:br/>
            <a:r>
              <a:t>96% Quality Score</a:t>
            </a:r>
          </a:p>
        </p:txBody>
      </p:sp>
      <p:sp>
        <p:nvSpPr>
          <p:cNvPr id="6" name="Rounded Rectangle 5"/>
          <p:cNvSpPr/>
          <p:nvPr/>
        </p:nvSpPr>
        <p:spPr>
          <a:xfrm>
            <a:off x="8046720" y="1828800"/>
            <a:ext cx="3383280" cy="2560320"/>
          </a:xfrm>
          <a:prstGeom prst="roundRect">
            <a:avLst/>
          </a:prstGeom>
          <a:solidFill>
            <a:srgbClr val="121C3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FFFFFF"/>
                </a:solidFill>
              </a:defRPr>
            </a:pPr>
            <a:r>
              <a:t>VENDOR C</a:t>
            </a:r>
            <a:br/>
            <a:br/>
            <a:r>
              <a:t>$45 / Unit</a:t>
            </a:r>
            <a:br/>
            <a:r>
              <a:t>4 Days Lead Time</a:t>
            </a:r>
            <a:br/>
            <a:r>
              <a:t>91% Quality Score</a:t>
            </a:r>
          </a:p>
        </p:txBody>
      </p:sp>
      <p:sp>
        <p:nvSpPr>
          <p:cNvPr id="7" name="TextBox 6"/>
          <p:cNvSpPr txBox="1"/>
          <p:nvPr/>
        </p:nvSpPr>
        <p:spPr>
          <a:xfrm>
            <a:off x="731520" y="4663440"/>
            <a:ext cx="10698480" cy="1645920"/>
          </a:xfrm>
          <a:prstGeom prst="rect">
            <a:avLst/>
          </a:prstGeom>
          <a:noFill/>
        </p:spPr>
        <p:txBody>
          <a:bodyPr wrap="none">
            <a:spAutoFit/>
          </a:bodyPr>
          <a:lstStyle/>
          <a:p>
            <a:pPr algn="ctr">
              <a:defRPr sz="1300">
                <a:solidFill>
                  <a:srgbClr val="00A3E0"/>
                </a:solidFill>
              </a:defRPr>
            </a:pPr>
            <a:r>
              <a:t>5-Factor Model V2: Price (35%) + Delivery Date (20%) + Lead Time (15%) + Reliability (15%) + Quality (15%)</a:t>
            </a:r>
          </a:p>
          <a:p>
            <a:pPr algn="ctr">
              <a:spcBef>
                <a:spcPts val="800"/>
              </a:spcBef>
              <a:defRPr sz="1800" b="1">
                <a:solidFill>
                  <a:srgbClr val="FFFFFF"/>
                </a:solidFill>
              </a:defRPr>
            </a:pPr>
            <a:r>
              <a:t>"We don't optimize for the cheapest quote. We optimize for the best procurement outcome."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SAFE EXECUTION</a:t>
            </a:r>
          </a:p>
          <a:p>
            <a:pPr>
              <a:defRPr sz="2800" b="1">
                <a:solidFill>
                  <a:srgbClr val="FFFFFF"/>
                </a:solidFill>
                <a:latin typeface="Segoe UI"/>
              </a:defRPr>
            </a:pPr>
            <a:r>
              <a:t>Intelligence Is Useless If Execution Isn't Reliable</a:t>
            </a:r>
          </a:p>
        </p:txBody>
      </p:sp>
      <p:sp>
        <p:nvSpPr>
          <p:cNvPr id="4" name="Rounded Rectangle 3"/>
          <p:cNvSpPr/>
          <p:nvPr/>
        </p:nvSpPr>
        <p:spPr>
          <a:xfrm>
            <a:off x="731520" y="2011680"/>
            <a:ext cx="3291840" cy="256032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FFFFFF"/>
                </a:solidFill>
              </a:defRPr>
            </a:pPr>
            <a:r>
              <a:t>SUPERVISOR</a:t>
            </a:r>
            <a:br/>
            <a:r>
              <a:t>APPROVAL</a:t>
            </a:r>
            <a:br/>
            <a:br/>
            <a:r>
              <a:t>Final Sign-off</a:t>
            </a:r>
            <a:br/>
            <a:r>
              <a:t>Department Ledger</a:t>
            </a:r>
          </a:p>
        </p:txBody>
      </p:sp>
      <p:sp>
        <p:nvSpPr>
          <p:cNvPr id="5" name="Rounded Rectangle 4"/>
          <p:cNvSpPr/>
          <p:nvPr/>
        </p:nvSpPr>
        <p:spPr>
          <a:xfrm>
            <a:off x="4389120" y="2011680"/>
            <a:ext cx="3383280" cy="2560320"/>
          </a:xfrm>
          <a:prstGeom prst="roundRect">
            <a:avLst/>
          </a:prstGeom>
          <a:solidFill>
            <a:srgbClr val="121C3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00A3E0"/>
                </a:solidFill>
              </a:defRPr>
            </a:pPr>
            <a:r>
              <a:t>IDEMPOTENT</a:t>
            </a:r>
            <a:br/>
            <a:r>
              <a:t>PO ENGINE</a:t>
            </a:r>
            <a:br/>
            <a:br/>
            <a:r>
              <a:t>Zero Duplicate Risk</a:t>
            </a:r>
            <a:br/>
            <a:r>
              <a:t>ReportLab PDF</a:t>
            </a:r>
          </a:p>
        </p:txBody>
      </p:sp>
      <p:sp>
        <p:nvSpPr>
          <p:cNvPr id="6" name="Rounded Rectangle 5"/>
          <p:cNvSpPr/>
          <p:nvPr/>
        </p:nvSpPr>
        <p:spPr>
          <a:xfrm>
            <a:off x="8138160" y="2011680"/>
            <a:ext cx="3291840" cy="2560320"/>
          </a:xfrm>
          <a:prstGeom prst="roundRect">
            <a:avLst/>
          </a:prstGeom>
          <a:solidFill>
            <a:srgbClr val="121C3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0B981"/>
                </a:solidFill>
              </a:defRPr>
            </a:pPr>
            <a:r>
              <a:t>OFFICIAL PO</a:t>
            </a:r>
            <a:br/>
            <a:r>
              <a:t>&amp; PDF ISSUED</a:t>
            </a:r>
            <a:br/>
            <a:br/>
            <a:r>
              <a:t>Instant In-App Alert</a:t>
            </a:r>
            <a:br/>
            <a:r>
              <a:t>Vendor Email Dispatch</a:t>
            </a:r>
          </a:p>
        </p:txBody>
      </p:sp>
      <p:sp>
        <p:nvSpPr>
          <p:cNvPr id="7" name="TextBox 6"/>
          <p:cNvSpPr txBox="1"/>
          <p:nvPr/>
        </p:nvSpPr>
        <p:spPr>
          <a:xfrm>
            <a:off x="731520" y="5120640"/>
            <a:ext cx="10698480" cy="731520"/>
          </a:xfrm>
          <a:prstGeom prst="rect">
            <a:avLst/>
          </a:prstGeom>
          <a:noFill/>
        </p:spPr>
        <p:txBody>
          <a:bodyPr wrap="none">
            <a:spAutoFit/>
          </a:bodyPr>
          <a:lstStyle/>
          <a:p>
            <a:pPr algn="ctr">
              <a:defRPr sz="1800" b="1">
                <a:solidFill>
                  <a:srgbClr val="FFFFFF"/>
                </a:solidFill>
              </a:defRPr>
            </a:pPr>
            <a:r>
              <a:t>One Decision → One Safe, Legally Binding Purchase Order.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SYSTEM ARCHITECTURE</a:t>
            </a:r>
          </a:p>
          <a:p>
            <a:pPr>
              <a:defRPr sz="2800" b="1">
                <a:solidFill>
                  <a:srgbClr val="FFFFFF"/>
                </a:solidFill>
                <a:latin typeface="Segoe UI"/>
              </a:defRPr>
            </a:pPr>
            <a:r>
              <a:t>Intelligent Procurement System</a:t>
            </a:r>
          </a:p>
        </p:txBody>
      </p:sp>
      <p:sp>
        <p:nvSpPr>
          <p:cNvPr id="4" name="Rounded Rectangle 3"/>
          <p:cNvSpPr/>
          <p:nvPr/>
        </p:nvSpPr>
        <p:spPr>
          <a:xfrm>
            <a:off x="731520" y="1645920"/>
            <a:ext cx="10728655" cy="86868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defRPr sz="1100" b="1">
                <a:solidFill>
                  <a:srgbClr val="00A3E0"/>
                </a:solidFill>
              </a:defRPr>
            </a:pPr>
            <a:r>
              <a:t>ACTORS &amp; ROLES</a:t>
            </a:r>
          </a:p>
          <a:p>
            <a:pPr>
              <a:defRPr sz="1200">
                <a:solidFill>
                  <a:srgbClr val="E2E8F0"/>
                </a:solidFill>
              </a:defRPr>
            </a:pPr>
            <a:r>
              <a:t>Requester / Employee   |   Department Supervisor   |   Vendor Supplier</a:t>
            </a:r>
          </a:p>
        </p:txBody>
      </p:sp>
      <p:sp>
        <p:nvSpPr>
          <p:cNvPr id="5" name="Rounded Rectangle 4"/>
          <p:cNvSpPr/>
          <p:nvPr/>
        </p:nvSpPr>
        <p:spPr>
          <a:xfrm>
            <a:off x="731520" y="2697480"/>
            <a:ext cx="10728655" cy="86868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defRPr sz="1100" b="1">
                <a:solidFill>
                  <a:srgbClr val="FFFFFF"/>
                </a:solidFill>
              </a:defRPr>
            </a:pPr>
            <a:r>
              <a:t>PRESENTATION LAYER</a:t>
            </a:r>
          </a:p>
          <a:p>
            <a:pPr>
              <a:defRPr sz="1200">
                <a:solidFill>
                  <a:srgbClr val="E2E8F0"/>
                </a:solidFill>
              </a:defRPr>
            </a:pPr>
            <a:r>
              <a:t>PR Creation Modal   |   Supervisor Checking Sheet   |   Quotation Matrix &amp; Vendor Portal</a:t>
            </a:r>
          </a:p>
        </p:txBody>
      </p:sp>
      <p:sp>
        <p:nvSpPr>
          <p:cNvPr id="6" name="Rounded Rectangle 5"/>
          <p:cNvSpPr/>
          <p:nvPr/>
        </p:nvSpPr>
        <p:spPr>
          <a:xfrm>
            <a:off x="731520" y="3749039"/>
            <a:ext cx="10728655" cy="118872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defRPr sz="1100" b="1">
                <a:solidFill>
                  <a:srgbClr val="0072CE"/>
                </a:solidFill>
              </a:defRPr>
            </a:pPr>
            <a:r>
              <a:t>FASTAPI BACKEND &amp; INTELLIGENCE ENGINE</a:t>
            </a:r>
          </a:p>
          <a:p>
            <a:pPr>
              <a:defRPr sz="1200">
                <a:solidFill>
                  <a:srgbClr val="E2E8F0"/>
                </a:solidFill>
              </a:defRPr>
            </a:pPr>
            <a:r>
              <a:t>Core: PR State Machine, RFQ Engine, Quotations, Idempotent PO</a:t>
            </a:r>
            <a:br/>
            <a:r>
              <a:t>3-Tier Intelligence: 1. Deterministic Engine  |  2. Analytical Engine  |  3. Generative Copilot &amp; RAG</a:t>
            </a:r>
          </a:p>
        </p:txBody>
      </p:sp>
      <p:sp>
        <p:nvSpPr>
          <p:cNvPr id="7" name="Rounded Rectangle 6"/>
          <p:cNvSpPr/>
          <p:nvPr/>
        </p:nvSpPr>
        <p:spPr>
          <a:xfrm>
            <a:off x="731520" y="5029200"/>
            <a:ext cx="10728655" cy="868680"/>
          </a:xfrm>
          <a:prstGeom prst="roundRect">
            <a:avLst/>
          </a:prstGeom>
          <a:solidFill>
            <a:srgbClr val="121C30"/>
          </a:solidFill>
          <a:ln w="15240">
            <a:solidFill>
              <a:srgbClr val="1E3250"/>
            </a:solidFill>
          </a:ln>
        </p:spPr>
        <p:style>
          <a:lnRef idx="1">
            <a:schemeClr val="accent1"/>
          </a:lnRef>
          <a:fillRef idx="3">
            <a:schemeClr val="accent1"/>
          </a:fillRef>
          <a:effectRef idx="2">
            <a:schemeClr val="accent1"/>
          </a:effectRef>
          <a:fontRef idx="minor">
            <a:schemeClr val="lt1"/>
          </a:fontRef>
        </p:style>
        <p:txBody>
          <a:bodyPr rtlCol="0" anchor="ctr" lIns="365760" tIns="109728"/>
          <a:lstStyle/>
          <a:p>
            <a:pPr algn="ctr">
              <a:defRPr sz="1100" b="1">
                <a:solidFill>
                  <a:srgbClr val="10B981"/>
                </a:solidFill>
              </a:defRPr>
            </a:pPr>
            <a:r>
              <a:t>DATA &amp; STORAGE</a:t>
            </a:r>
          </a:p>
          <a:p>
            <a:pPr>
              <a:defRPr sz="1200">
                <a:solidFill>
                  <a:srgbClr val="E2E8F0"/>
                </a:solidFill>
              </a:defRPr>
            </a:pPr>
            <a:r>
              <a:t>Relational Database (SQLAlchemy)   |   pgvector / Vector Embeddings   |   Local Filesystem for PO PDFs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TECH STACK</a:t>
            </a:r>
          </a:p>
          <a:p>
            <a:pPr>
              <a:defRPr sz="2800" b="1">
                <a:solidFill>
                  <a:srgbClr val="FFFFFF"/>
                </a:solidFill>
                <a:latin typeface="Segoe UI"/>
              </a:defRPr>
            </a:pPr>
            <a:r>
              <a:t>A modular monolith, not a maze of services</a:t>
            </a:r>
          </a:p>
        </p:txBody>
      </p:sp>
      <p:sp>
        <p:nvSpPr>
          <p:cNvPr id="4" name="Rounded Rectangle 3"/>
          <p:cNvSpPr/>
          <p:nvPr/>
        </p:nvSpPr>
        <p:spPr>
          <a:xfrm>
            <a:off x="731520" y="1737360"/>
            <a:ext cx="2011680" cy="3383280"/>
          </a:xfrm>
          <a:prstGeom prst="roundRect">
            <a:avLst/>
          </a:prstGeom>
          <a:solidFill>
            <a:srgbClr val="121C30"/>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00A3E0"/>
                </a:solidFill>
              </a:defRPr>
            </a:pPr>
            <a:r>
              <a:t>Frontend</a:t>
            </a:r>
          </a:p>
          <a:p>
            <a:pPr algn="ctr">
              <a:defRPr sz="1200">
                <a:solidFill>
                  <a:srgbClr val="E2E8F0"/>
                </a:solidFill>
              </a:defRPr>
            </a:pPr>
            <a:br/>
            <a:r>
              <a:t>Next.js 14</a:t>
            </a:r>
            <a:br/>
            <a:r>
              <a:t>React 18</a:t>
            </a:r>
            <a:br/>
            <a:r>
              <a:t>TypeScript</a:t>
            </a:r>
            <a:br/>
            <a:r>
              <a:t>Tailwind CSS</a:t>
            </a:r>
            <a:br/>
            <a:r>
              <a:t>Lucide Icons</a:t>
            </a:r>
          </a:p>
        </p:txBody>
      </p:sp>
      <p:sp>
        <p:nvSpPr>
          <p:cNvPr id="5" name="Rounded Rectangle 4"/>
          <p:cNvSpPr/>
          <p:nvPr/>
        </p:nvSpPr>
        <p:spPr>
          <a:xfrm>
            <a:off x="2926080" y="1737360"/>
            <a:ext cx="2011680" cy="3383280"/>
          </a:xfrm>
          <a:prstGeom prst="roundRect">
            <a:avLst/>
          </a:prstGeom>
          <a:solidFill>
            <a:srgbClr val="121C30"/>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FFFFFF"/>
                </a:solidFill>
              </a:defRPr>
            </a:pPr>
            <a:r>
              <a:t>Backend</a:t>
            </a:r>
          </a:p>
          <a:p>
            <a:pPr algn="ctr">
              <a:defRPr sz="1200">
                <a:solidFill>
                  <a:srgbClr val="E2E8F0"/>
                </a:solidFill>
              </a:defRPr>
            </a:pPr>
            <a:br/>
            <a:r>
              <a:t>Python 3.12</a:t>
            </a:r>
            <a:br/>
            <a:r>
              <a:t>FastAPI</a:t>
            </a:r>
            <a:br/>
            <a:r>
              <a:t>SQLAlchemy</a:t>
            </a:r>
            <a:br/>
            <a:r>
              <a:t>Pydantic v2</a:t>
            </a:r>
            <a:br/>
            <a:r>
              <a:t>ReportLab PDF</a:t>
            </a:r>
          </a:p>
        </p:txBody>
      </p:sp>
      <p:sp>
        <p:nvSpPr>
          <p:cNvPr id="6" name="Rounded Rectangle 5"/>
          <p:cNvSpPr/>
          <p:nvPr/>
        </p:nvSpPr>
        <p:spPr>
          <a:xfrm>
            <a:off x="5120640" y="1737360"/>
            <a:ext cx="2011680" cy="3383280"/>
          </a:xfrm>
          <a:prstGeom prst="roundRect">
            <a:avLst/>
          </a:prstGeom>
          <a:solidFill>
            <a:srgbClr val="121C3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0072CE"/>
                </a:solidFill>
              </a:defRPr>
            </a:pPr>
            <a:r>
              <a:t>Database</a:t>
            </a:r>
          </a:p>
          <a:p>
            <a:pPr algn="ctr">
              <a:defRPr sz="1200">
                <a:solidFill>
                  <a:srgbClr val="E2E8F0"/>
                </a:solidFill>
              </a:defRPr>
            </a:pPr>
            <a:br/>
            <a:r>
              <a:t>PostgreSQL</a:t>
            </a:r>
            <a:br/>
            <a:r>
              <a:t>SQLite Async</a:t>
            </a:r>
            <a:br/>
            <a:r>
              <a:t>pgvector</a:t>
            </a:r>
            <a:br/>
            <a:r>
              <a:t>Embeddings</a:t>
            </a:r>
          </a:p>
        </p:txBody>
      </p:sp>
      <p:sp>
        <p:nvSpPr>
          <p:cNvPr id="7" name="Rounded Rectangle 6"/>
          <p:cNvSpPr/>
          <p:nvPr/>
        </p:nvSpPr>
        <p:spPr>
          <a:xfrm>
            <a:off x="7315199" y="1737360"/>
            <a:ext cx="2011680" cy="3383280"/>
          </a:xfrm>
          <a:prstGeom prst="roundRect">
            <a:avLst/>
          </a:prstGeom>
          <a:solidFill>
            <a:srgbClr val="121C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F59E0B"/>
                </a:solidFill>
              </a:defRPr>
            </a:pPr>
            <a:r>
              <a:t>Auth &amp; Security</a:t>
            </a:r>
          </a:p>
          <a:p>
            <a:pPr algn="ctr">
              <a:defRPr sz="1200">
                <a:solidFill>
                  <a:srgbClr val="E2E8F0"/>
                </a:solidFill>
              </a:defRPr>
            </a:pPr>
            <a:br/>
            <a:r>
              <a:t>JWT Bearer</a:t>
            </a:r>
            <a:br/>
            <a:r>
              <a:t>BCrypt Passwords</a:t>
            </a:r>
            <a:br/>
            <a:r>
              <a:t>Backend RBAC</a:t>
            </a:r>
            <a:br/>
            <a:r>
              <a:t>Audit Logs</a:t>
            </a:r>
          </a:p>
        </p:txBody>
      </p:sp>
      <p:sp>
        <p:nvSpPr>
          <p:cNvPr id="8" name="Rounded Rectangle 7"/>
          <p:cNvSpPr/>
          <p:nvPr/>
        </p:nvSpPr>
        <p:spPr>
          <a:xfrm>
            <a:off x="9509760" y="1737360"/>
            <a:ext cx="2011680" cy="3383280"/>
          </a:xfrm>
          <a:prstGeom prst="roundRect">
            <a:avLst/>
          </a:prstGeom>
          <a:solidFill>
            <a:srgbClr val="121C3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500" b="1">
                <a:solidFill>
                  <a:srgbClr val="10B981"/>
                </a:solidFill>
              </a:defRPr>
            </a:pPr>
            <a:r>
              <a:t>AI / LLM</a:t>
            </a:r>
          </a:p>
          <a:p>
            <a:pPr algn="ctr">
              <a:defRPr sz="1200">
                <a:solidFill>
                  <a:srgbClr val="E2E8F0"/>
                </a:solidFill>
              </a:defRPr>
            </a:pPr>
            <a:br/>
            <a:r>
              <a:t>Google Gemini</a:t>
            </a:r>
            <a:br/>
            <a:r>
              <a:t>Pluggable RAG</a:t>
            </a:r>
            <a:br/>
            <a:r>
              <a:t>Snapshot Cache</a:t>
            </a:r>
            <a:br/>
            <a:r>
              <a:t>Offline Fallback</a:t>
            </a:r>
          </a:p>
        </p:txBody>
      </p:sp>
      <p:sp>
        <p:nvSpPr>
          <p:cNvPr id="9" name="TextBox 8"/>
          <p:cNvSpPr txBox="1"/>
          <p:nvPr/>
        </p:nvSpPr>
        <p:spPr>
          <a:xfrm>
            <a:off x="731520" y="5394960"/>
            <a:ext cx="10698480" cy="731520"/>
          </a:xfrm>
          <a:prstGeom prst="rect">
            <a:avLst/>
          </a:prstGeom>
          <a:noFill/>
        </p:spPr>
        <p:txBody>
          <a:bodyPr wrap="none">
            <a:spAutoFit/>
          </a:bodyPr>
          <a:lstStyle/>
          <a:p>
            <a:pPr algn="ctr">
              <a:defRPr sz="1400" b="1">
                <a:solidFill>
                  <a:srgbClr val="00A3E0"/>
                </a:solidFill>
              </a:defRPr>
            </a:pPr>
            <a:r>
              <a:t>A modular monolith with clear internal separation — zero unnecessary microservice complexity.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STRATEGIC ALIGNMENT</a:t>
            </a:r>
          </a:p>
          <a:p>
            <a:pPr>
              <a:defRPr sz="2800" b="1">
                <a:solidFill>
                  <a:srgbClr val="FFFFFF"/>
                </a:solidFill>
                <a:latin typeface="Segoe UI"/>
              </a:defRPr>
            </a:pPr>
            <a:r>
              <a:t>Why This Thinking Is Relevant to Micron</a:t>
            </a:r>
          </a:p>
        </p:txBody>
      </p:sp>
      <p:sp>
        <p:nvSpPr>
          <p:cNvPr id="4" name="Rounded Rectangle 3"/>
          <p:cNvSpPr/>
          <p:nvPr/>
        </p:nvSpPr>
        <p:spPr>
          <a:xfrm>
            <a:off x="731520" y="2011680"/>
            <a:ext cx="2560320" cy="2926080"/>
          </a:xfrm>
          <a:prstGeom prst="roundRect">
            <a:avLst/>
          </a:prstGeom>
          <a:solidFill>
            <a:srgbClr val="121C30"/>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00A3E0"/>
                </a:solidFill>
              </a:defRPr>
            </a:pPr>
            <a:r>
              <a:t>PEOPLE</a:t>
            </a:r>
            <a:br/>
            <a:br/>
            <a:r>
              <a:t>Human experience fuels organizational intelligence through quarterly reviews</a:t>
            </a:r>
          </a:p>
        </p:txBody>
      </p:sp>
      <p:sp>
        <p:nvSpPr>
          <p:cNvPr id="5" name="Rounded Rectangle 4"/>
          <p:cNvSpPr/>
          <p:nvPr/>
        </p:nvSpPr>
        <p:spPr>
          <a:xfrm>
            <a:off x="3474720" y="2011680"/>
            <a:ext cx="2560320" cy="2926080"/>
          </a:xfrm>
          <a:prstGeom prst="roundRect">
            <a:avLst/>
          </a:prstGeom>
          <a:solidFill>
            <a:srgbClr val="121C30"/>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FFFFFF"/>
                </a:solidFill>
              </a:defRPr>
            </a:pPr>
            <a:r>
              <a:t>INNOVATION</a:t>
            </a:r>
            <a:br/>
            <a:br/>
            <a:r>
              <a:t>Hybrid deterministic + RAG AI architecture engineered for zero hallucination</a:t>
            </a:r>
          </a:p>
        </p:txBody>
      </p:sp>
      <p:sp>
        <p:nvSpPr>
          <p:cNvPr id="6" name="Rounded Rectangle 5"/>
          <p:cNvSpPr/>
          <p:nvPr/>
        </p:nvSpPr>
        <p:spPr>
          <a:xfrm>
            <a:off x="6217920" y="2011680"/>
            <a:ext cx="2560320" cy="2926080"/>
          </a:xfrm>
          <a:prstGeom prst="roundRect">
            <a:avLst/>
          </a:prstGeom>
          <a:solidFill>
            <a:srgbClr val="121C30"/>
          </a:solidFill>
          <a:ln w="15240">
            <a:solidFill>
              <a:srgbClr val="0072CE"/>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0072CE"/>
                </a:solidFill>
              </a:defRPr>
            </a:pPr>
            <a:r>
              <a:t>COLLABORATION</a:t>
            </a:r>
            <a:br/>
            <a:br/>
            <a:r>
              <a:t>Unified workflow connecting Requesters, Supervisors, and Suppliers in one loop</a:t>
            </a:r>
          </a:p>
        </p:txBody>
      </p:sp>
      <p:sp>
        <p:nvSpPr>
          <p:cNvPr id="7" name="Rounded Rectangle 6"/>
          <p:cNvSpPr/>
          <p:nvPr/>
        </p:nvSpPr>
        <p:spPr>
          <a:xfrm>
            <a:off x="8961120" y="2011680"/>
            <a:ext cx="2560320" cy="2926080"/>
          </a:xfrm>
          <a:prstGeom prst="roundRect">
            <a:avLst/>
          </a:prstGeom>
          <a:solidFill>
            <a:srgbClr val="121C3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300" b="1">
                <a:solidFill>
                  <a:srgbClr val="10B981"/>
                </a:solidFill>
              </a:defRPr>
            </a:pPr>
            <a:r>
              <a:t>TENACITY &amp; QUALITY</a:t>
            </a:r>
            <a:br/>
            <a:br/>
            <a:r>
              <a:t>Governed overrides, audited revisions, and 5-factor quality scoring</a:t>
            </a:r>
          </a:p>
        </p:txBody>
      </p:sp>
      <p:sp>
        <p:nvSpPr>
          <p:cNvPr id="8" name="TextBox 7"/>
          <p:cNvSpPr txBox="1"/>
          <p:nvPr/>
        </p:nvSpPr>
        <p:spPr>
          <a:xfrm>
            <a:off x="731520" y="5303520"/>
            <a:ext cx="10698480" cy="731520"/>
          </a:xfrm>
          <a:prstGeom prst="rect">
            <a:avLst/>
          </a:prstGeom>
          <a:noFill/>
        </p:spPr>
        <p:txBody>
          <a:bodyPr wrap="none">
            <a:spAutoFit/>
          </a:bodyPr>
          <a:lstStyle/>
          <a:p>
            <a:pPr algn="ctr">
              <a:defRPr sz="1700" b="1">
                <a:solidFill>
                  <a:srgbClr val="FFFFFF"/>
                </a:solidFill>
              </a:defRPr>
            </a:pPr>
            <a:r>
              <a:t>"We didn't just apply AI to procurement. We designed intelligence around responsible decisions."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BUSINESS VALUE</a:t>
            </a:r>
          </a:p>
          <a:p>
            <a:pPr>
              <a:defRPr sz="2800" b="1">
                <a:solidFill>
                  <a:srgbClr val="FFFFFF"/>
                </a:solidFill>
                <a:latin typeface="Segoe UI"/>
              </a:defRPr>
            </a:pPr>
            <a:r>
              <a:t>So What Does Better Intelligence Actually Create?</a:t>
            </a:r>
          </a:p>
        </p:txBody>
      </p:sp>
      <p:sp>
        <p:nvSpPr>
          <p:cNvPr id="4" name="Rounded Rectangle 3"/>
          <p:cNvSpPr/>
          <p:nvPr/>
        </p:nvSpPr>
        <p:spPr>
          <a:xfrm>
            <a:off x="731520" y="2011680"/>
            <a:ext cx="2560320" cy="2926080"/>
          </a:xfrm>
          <a:prstGeom prst="roundRect">
            <a:avLst/>
          </a:prstGeom>
          <a:solidFill>
            <a:srgbClr val="121C30"/>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10B981"/>
                </a:solidFill>
              </a:defRPr>
            </a:pPr>
            <a:r>
              <a:t>LESS WASTE</a:t>
            </a:r>
            <a:br/>
            <a:br/>
            <a:r>
              <a:t>Inventory stock checks prevent unnecessary purchasing</a:t>
            </a:r>
          </a:p>
        </p:txBody>
      </p:sp>
      <p:sp>
        <p:nvSpPr>
          <p:cNvPr id="5" name="Rounded Rectangle 4"/>
          <p:cNvSpPr/>
          <p:nvPr/>
        </p:nvSpPr>
        <p:spPr>
          <a:xfrm>
            <a:off x="3474720" y="2011680"/>
            <a:ext cx="2560320" cy="2926080"/>
          </a:xfrm>
          <a:prstGeom prst="roundRect">
            <a:avLst/>
          </a:prstGeom>
          <a:solidFill>
            <a:srgbClr val="121C30"/>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F59E0B"/>
                </a:solidFill>
              </a:defRPr>
            </a:pPr>
            <a:r>
              <a:t>LESS DUPLICATION</a:t>
            </a:r>
            <a:br/>
            <a:br/>
            <a:r>
              <a:t>±20% duplicate window flags parallel orders early</a:t>
            </a:r>
          </a:p>
        </p:txBody>
      </p:sp>
      <p:sp>
        <p:nvSpPr>
          <p:cNvPr id="6" name="Rounded Rectangle 5"/>
          <p:cNvSpPr/>
          <p:nvPr/>
        </p:nvSpPr>
        <p:spPr>
          <a:xfrm>
            <a:off x="6217920" y="2011680"/>
            <a:ext cx="2560320" cy="2926080"/>
          </a:xfrm>
          <a:prstGeom prst="roundRect">
            <a:avLst/>
          </a:prstGeom>
          <a:solidFill>
            <a:srgbClr val="121C30"/>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00A3E0"/>
                </a:solidFill>
              </a:defRPr>
            </a:pPr>
            <a:r>
              <a:t>BETTER OUTCOMES</a:t>
            </a:r>
            <a:br/>
            <a:br/>
            <a:r>
              <a:t>5-Factor Model V2 balances price, lead time &amp; defect rates</a:t>
            </a:r>
          </a:p>
        </p:txBody>
      </p:sp>
      <p:sp>
        <p:nvSpPr>
          <p:cNvPr id="7" name="Rounded Rectangle 6"/>
          <p:cNvSpPr/>
          <p:nvPr/>
        </p:nvSpPr>
        <p:spPr>
          <a:xfrm>
            <a:off x="8961120" y="2011680"/>
            <a:ext cx="2560320" cy="2926080"/>
          </a:xfrm>
          <a:prstGeom prst="roundRect">
            <a:avLst/>
          </a:prstGeom>
          <a:solidFill>
            <a:srgbClr val="121C30"/>
          </a:solidFill>
          <a:ln w="1524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tIns="365760"/>
          <a:lstStyle/>
          <a:p>
            <a:pPr algn="ctr">
              <a:defRPr sz="1400" b="1">
                <a:solidFill>
                  <a:srgbClr val="FFFFFF"/>
                </a:solidFill>
              </a:defRPr>
            </a:pPr>
            <a:r>
              <a:t>MORE TIME</a:t>
            </a:r>
            <a:br/>
            <a:br/>
            <a:r>
              <a:t>Instant decision context replaces manual data hunting</a:t>
            </a:r>
          </a:p>
        </p:txBody>
      </p:sp>
      <p:sp>
        <p:nvSpPr>
          <p:cNvPr id="8" name="TextBox 7"/>
          <p:cNvSpPr txBox="1"/>
          <p:nvPr/>
        </p:nvSpPr>
        <p:spPr>
          <a:xfrm>
            <a:off x="731520" y="5303520"/>
            <a:ext cx="10698480" cy="731520"/>
          </a:xfrm>
          <a:prstGeom prst="rect">
            <a:avLst/>
          </a:prstGeom>
          <a:noFill/>
        </p:spPr>
        <p:txBody>
          <a:bodyPr wrap="none">
            <a:spAutoFit/>
          </a:bodyPr>
          <a:lstStyle/>
          <a:p>
            <a:pPr algn="ctr">
              <a:defRPr sz="1600" b="1">
                <a:solidFill>
                  <a:srgbClr val="FFFFFF"/>
                </a:solidFill>
              </a:defRPr>
            </a:pPr>
            <a:r>
              <a:t>The ROI comes from empowering professionals to make decisions instead of hunting for 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188720"/>
          </a:xfrm>
          <a:prstGeom prst="rect">
            <a:avLst/>
          </a:prstGeom>
          <a:noFill/>
        </p:spPr>
        <p:txBody>
          <a:bodyPr wrap="square" lIns="0" tIns="0" rIns="0" bIns="0">
            <a:spAutoFit/>
          </a:bodyPr>
          <a:lstStyle/>
          <a:p>
            <a:pPr>
              <a:spcAft>
                <a:spcPts val="400"/>
              </a:spcAft>
              <a:defRPr sz="1100" b="1">
                <a:solidFill>
                  <a:srgbClr val="00A3E0"/>
                </a:solidFill>
                <a:latin typeface="Segoe UI"/>
              </a:defRPr>
            </a:pPr>
            <a:r>
              <a:t>ROI FRAMEWORK</a:t>
            </a:r>
          </a:p>
          <a:p>
            <a:pPr>
              <a:defRPr sz="2800" b="1">
                <a:solidFill>
                  <a:srgbClr val="FFFFFF"/>
                </a:solidFill>
                <a:latin typeface="Segoe UI"/>
              </a:defRPr>
            </a:pPr>
            <a:r>
              <a:t>Every Decision Has a Measurable Value</a:t>
            </a:r>
          </a:p>
        </p:txBody>
      </p:sp>
      <p:sp>
        <p:nvSpPr>
          <p:cNvPr id="4" name="Rounded Rectangle 3"/>
          <p:cNvSpPr/>
          <p:nvPr/>
        </p:nvSpPr>
        <p:spPr>
          <a:xfrm>
            <a:off x="731520" y="1828800"/>
            <a:ext cx="2560320" cy="2286000"/>
          </a:xfrm>
          <a:prstGeom prst="roundRect">
            <a:avLst/>
          </a:prstGeom>
          <a:solidFill>
            <a:srgbClr val="121C30"/>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FFFFFF"/>
                </a:solidFill>
              </a:defRPr>
            </a:pPr>
            <a:r>
              <a:t>DON'T BUY</a:t>
            </a:r>
            <a:br/>
            <a:r>
              <a:t>WHAT YOU HAVE</a:t>
            </a:r>
            <a:br/>
            <a:br/>
            <a:r>
              <a:t>Stock Avoidance</a:t>
            </a:r>
            <a:br/>
            <a:r>
              <a:t>[Qty × Cost]</a:t>
            </a:r>
          </a:p>
        </p:txBody>
      </p:sp>
      <p:sp>
        <p:nvSpPr>
          <p:cNvPr id="5" name="Rounded Rectangle 4"/>
          <p:cNvSpPr/>
          <p:nvPr/>
        </p:nvSpPr>
        <p:spPr>
          <a:xfrm>
            <a:off x="3474720" y="1828800"/>
            <a:ext cx="2560320" cy="2286000"/>
          </a:xfrm>
          <a:prstGeom prst="roundRect">
            <a:avLst/>
          </a:prstGeom>
          <a:solidFill>
            <a:srgbClr val="121C30"/>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FFFFFF"/>
                </a:solidFill>
              </a:defRPr>
            </a:pPr>
            <a:r>
              <a:t>DON'T BUY</a:t>
            </a:r>
            <a:br/>
            <a:r>
              <a:t>TWICE</a:t>
            </a:r>
            <a:br/>
            <a:br/>
            <a:r>
              <a:t>Duplicate Avoidance</a:t>
            </a:r>
            <a:br/>
            <a:r>
              <a:t>[PR Value]</a:t>
            </a:r>
          </a:p>
        </p:txBody>
      </p:sp>
      <p:sp>
        <p:nvSpPr>
          <p:cNvPr id="6" name="Rounded Rectangle 5"/>
          <p:cNvSpPr/>
          <p:nvPr/>
        </p:nvSpPr>
        <p:spPr>
          <a:xfrm>
            <a:off x="6217920" y="1828800"/>
            <a:ext cx="2560320" cy="2286000"/>
          </a:xfrm>
          <a:prstGeom prst="roundRect">
            <a:avLst/>
          </a:prstGeom>
          <a:solidFill>
            <a:srgbClr val="121C30"/>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FFFFFF"/>
                </a:solidFill>
              </a:defRPr>
            </a:pPr>
            <a:r>
              <a:t>CHOOSE</a:t>
            </a:r>
            <a:br/>
            <a:r>
              <a:t>BETTER</a:t>
            </a:r>
            <a:br/>
            <a:br/>
            <a:r>
              <a:t>Quotation Optimization</a:t>
            </a:r>
            <a:br/>
            <a:r>
              <a:t>[SLA + Price]</a:t>
            </a:r>
          </a:p>
        </p:txBody>
      </p:sp>
      <p:sp>
        <p:nvSpPr>
          <p:cNvPr id="7" name="Rounded Rectangle 6"/>
          <p:cNvSpPr/>
          <p:nvPr/>
        </p:nvSpPr>
        <p:spPr>
          <a:xfrm>
            <a:off x="8961120" y="1828800"/>
            <a:ext cx="2560320" cy="2286000"/>
          </a:xfrm>
          <a:prstGeom prst="roundRect">
            <a:avLst/>
          </a:prstGeom>
          <a:solidFill>
            <a:srgbClr val="121C30"/>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274320"/>
          <a:lstStyle/>
          <a:p>
            <a:pPr algn="ctr">
              <a:defRPr sz="1300" b="1">
                <a:solidFill>
                  <a:srgbClr val="FFFFFF"/>
                </a:solidFill>
              </a:defRPr>
            </a:pPr>
            <a:r>
              <a:t>SEARCH</a:t>
            </a:r>
            <a:br/>
            <a:r>
              <a:t>LESS</a:t>
            </a:r>
            <a:br/>
            <a:br/>
            <a:r>
              <a:t>Productivity Recovery</a:t>
            </a:r>
            <a:br/>
            <a:r>
              <a:t>[Review Time Saved]</a:t>
            </a:r>
          </a:p>
        </p:txBody>
      </p:sp>
      <p:sp>
        <p:nvSpPr>
          <p:cNvPr id="8" name="Rounded Rectangle 7"/>
          <p:cNvSpPr/>
          <p:nvPr/>
        </p:nvSpPr>
        <p:spPr>
          <a:xfrm>
            <a:off x="731520" y="4389120"/>
            <a:ext cx="10728655" cy="1463040"/>
          </a:xfrm>
          <a:prstGeom prst="roundRect">
            <a:avLst/>
          </a:prstGeom>
          <a:solidFill>
            <a:srgbClr val="062C22"/>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800" b="1">
                <a:solidFill>
                  <a:srgbClr val="FFFFFF"/>
                </a:solidFill>
              </a:defRPr>
            </a:pPr>
            <a:r>
              <a:t>MEASURABLE VALUE CREATED  −  SYSTEM OPERATING COST  =  TRUE ROI</a:t>
            </a:r>
          </a:p>
          <a:p>
            <a:pPr algn="ctr">
              <a:spcBef>
                <a:spcPts val="600"/>
              </a:spcBef>
              <a:defRPr sz="1200">
                <a:solidFill>
                  <a:srgbClr val="ECFDF5"/>
                </a:solidFill>
              </a:defRPr>
            </a:pPr>
            <a:r>
              <a:t>Demonstrated Prototype Scenario: $1,250 stock avoided + $840 duplicate spend prevented on first 5 PRs.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828800" cy="54864"/>
          </a:xfrm>
          <a:prstGeom prst="rect">
            <a:avLst/>
          </a:prstGeom>
          <a:solidFill>
            <a:srgbClr val="00A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280160"/>
            <a:ext cx="10698480" cy="2743200"/>
          </a:xfrm>
          <a:prstGeom prst="rect">
            <a:avLst/>
          </a:prstGeom>
          <a:noFill/>
        </p:spPr>
        <p:txBody>
          <a:bodyPr wrap="none">
            <a:spAutoFit/>
          </a:bodyPr>
          <a:lstStyle/>
          <a:p>
            <a:pPr algn="ctr">
              <a:defRPr sz="3800" b="1">
                <a:solidFill>
                  <a:srgbClr val="FFFFFF"/>
                </a:solidFill>
              </a:defRPr>
            </a:pPr>
            <a:r>
              <a:t>"We Didn't Automate a Purchase Request."</a:t>
            </a:r>
          </a:p>
          <a:p>
            <a:pPr algn="ctr">
              <a:spcBef>
                <a:spcPts val="1400"/>
              </a:spcBef>
              <a:defRPr sz="3000" b="1">
                <a:solidFill>
                  <a:srgbClr val="00A3E0"/>
                </a:solidFill>
              </a:defRPr>
            </a:pPr>
            <a:r>
              <a:t>We Made Every Decision Around It More Intelligent.</a:t>
            </a:r>
          </a:p>
          <a:p>
            <a:pPr algn="ctr">
              <a:spcBef>
                <a:spcPts val="1800"/>
              </a:spcBef>
              <a:defRPr sz="1800">
                <a:solidFill>
                  <a:srgbClr val="94A3B8"/>
                </a:solidFill>
              </a:defRPr>
            </a:pPr>
            <a:r>
              <a:t>From Processing Procurement to Understanding Procurement.</a:t>
            </a:r>
          </a:p>
        </p:txBody>
      </p:sp>
      <p:sp>
        <p:nvSpPr>
          <p:cNvPr id="5" name="Rounded Rectangle 4"/>
          <p:cNvSpPr/>
          <p:nvPr/>
        </p:nvSpPr>
        <p:spPr>
          <a:xfrm>
            <a:off x="3291840" y="4663440"/>
            <a:ext cx="5577840" cy="1280160"/>
          </a:xfrm>
          <a:prstGeom prst="roundRect">
            <a:avLst/>
          </a:prstGeom>
          <a:solidFill>
            <a:srgbClr val="0072CE"/>
          </a:solidFill>
          <a:ln w="15240">
            <a:solidFill>
              <a:srgbClr val="00A3E0"/>
            </a:solidFill>
          </a:ln>
        </p:spPr>
        <p:style>
          <a:lnRef idx="1">
            <a:schemeClr val="accent1"/>
          </a:lnRef>
          <a:fillRef idx="3">
            <a:schemeClr val="accent1"/>
          </a:fillRef>
          <a:effectRef idx="2">
            <a:schemeClr val="accent1"/>
          </a:effectRef>
          <a:fontRef idx="minor">
            <a:schemeClr val="lt1"/>
          </a:fontRef>
        </p:style>
        <p:txBody>
          <a:bodyPr rtlCol="0" anchor="ctr" tIns="182880"/>
          <a:lstStyle/>
          <a:p>
            <a:pPr algn="ctr">
              <a:defRPr sz="1800" b="1">
                <a:solidFill>
                  <a:srgbClr val="FFFFFF"/>
                </a:solidFill>
              </a:defRPr>
            </a:pPr>
            <a:r>
              <a:t>LIVE SYSTEM DEMONSTRATION</a:t>
            </a:r>
          </a:p>
          <a:p>
            <a:pPr algn="ctr">
              <a:spcBef>
                <a:spcPts val="400"/>
              </a:spcBef>
              <a:defRPr sz="1300">
                <a:solidFill>
                  <a:srgbClr val="E0F2FE"/>
                </a:solidFill>
              </a:defRPr>
            </a:pPr>
            <a:r>
              <a:t>http://localhost:3000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