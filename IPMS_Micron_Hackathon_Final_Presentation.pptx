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 Purchase Request is not a static form; it is a series of critical enterprise decisions.</a:t>
            </a:r>
          </a:p>
          <a:p/>
          <a:p>
            <a:r>
              <a:t>🎙️ SUGGESTED NARRATION (~1:00 min):</a:t>
            </a:r>
          </a:p>
          <a:p>
            <a:r>
              <a:t>Good morning, judges and the Micron Technology team. When we examined the enterprise procurement challenge, we realized that the greatest opportunity was not in digitizing an electronic form. The real opportunity is in elevating every single decision that happens after that request is raised. Today, we are excited to walk you through the Intelligent Procurement Management System—a platform engineered to ensure every critical procurement question is answered with deterministic precision, analytical rigor, and contextual AI before a single dollar is committed.</a:t>
            </a:r>
          </a:p>
          <a:p/>
          <a:p>
            <a:r>
              <a:t>🔄 TRANSITION TO NEXT SLIDE:</a:t>
            </a:r>
          </a:p>
          <a:p>
            <a:r>
              <a:t>Let's look at what happens when a single purchase request enters an 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 simple PR hides critical decisions that directly impact cash flow, schedule, and quality.</a:t>
            </a:r>
          </a:p>
          <a:p/>
          <a:p>
            <a:r>
              <a:t>🎙️ SUGGESTED NARRATION (~1:15 min):</a:t>
            </a:r>
          </a:p>
          <a:p>
            <a:r>
              <a:t>Consider this everyday scenario: an engineer raises a purchase request for 50 workstation units. To a traditional workflow tool, this is just a form with fields to route. But in reality, every purchase request hides multiple business decisions. Do we already have inventory? Has someone else already ordered it? Which vendor should we invite? And is the lowest bidder actually reliable? Every bad answer creates friction, waste, and supply chain vulnerability.</a:t>
            </a:r>
          </a:p>
          <a:p/>
          <a:p>
            <a:r>
              <a:t>🔄 TRANSITION TO NEXT SLIDE:</a:t>
            </a:r>
          </a:p>
          <a:p>
            <a:r>
              <a:t>This brings us to the foundational philosophy behind our entire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Shift intelligence from reactive post-PO firefighting to proactive pre-commitment governance.</a:t>
            </a:r>
          </a:p>
          <a:p/>
          <a:p>
            <a:r>
              <a:t>🎙️ SUGGESTED NARRATION (~1:00 min):</a:t>
            </a:r>
          </a:p>
          <a:p>
            <a:r>
              <a:t>Traditional procurement tools simply route forms and wait for humans to catch errors. IPMS completely inverts this paradigm. We move all intelligence BEFORE financial commitment. Before a purchase order is cut, the system verifies inventory, checks for duplicates, qualifies top suppliers, runs competitive RFQs, and evaluates actual commercial bids against delivery velocity. Every decision is verified before money leaves the company.</a:t>
            </a:r>
          </a:p>
          <a:p/>
          <a:p>
            <a:r>
              <a:t>🔄 TRANSITION TO NEXT SLIDE:</a:t>
            </a:r>
          </a:p>
          <a:p>
            <a:r>
              <a:t>Let's walk through these decisions one by one, starting with Decision #1.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Deterministic inventory check prevents purchasing items already sitting in internal warehouse stock.</a:t>
            </a:r>
          </a:p>
          <a:p/>
          <a:p>
            <a:r>
              <a:t>🎙️ SUGGESTED NARRATION (~1:00 min):</a:t>
            </a:r>
          </a:p>
          <a:p>
            <a:r>
              <a:t>Decision number one: Should we buy this at all? When an employee selects an item, our deterministic inventory engine checks warehouse stock in real-time. If an employee requests 50 units and we have 45 units on hand, the actual shortage is only 5 units. By surfacing stock reserves immediately, we prevent thousands of dollars in unnecessary spending without slowing down legitimate requests.</a:t>
            </a:r>
          </a:p>
          <a:p/>
          <a:p>
            <a:r>
              <a:t>🔄 TRANSITION TO NEXT SLIDE:</a:t>
            </a:r>
          </a:p>
          <a:p>
            <a:r>
              <a:t>Once we know an external purchase is needed, we must answer Decision #2: Are we already buying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Deterministic ±20% duplicate detection flags concurrent requests across active operational windows.</a:t>
            </a:r>
          </a:p>
          <a:p/>
          <a:p>
            <a:r>
              <a:t>🎙️ SUGGESTED NARRATION (~1:00 min):</a:t>
            </a:r>
          </a:p>
          <a:p>
            <a:r>
              <a:t>Decision number two: Are we already buying it? In large enterprises like Micron, engineers in the same department often submit separate requests for identical hardware without knowing a colleague already did. Our duplicate engine scans active requests in the same department. If the item matches and the quantity is within ±20%, a warning banner appears with the existing PR reference, preventing redundant duplicate orders.</a:t>
            </a:r>
          </a:p>
          <a:p/>
          <a:p>
            <a:r>
              <a:t>🔄 TRANSITION TO NEXT SLIDE:</a:t>
            </a:r>
          </a:p>
          <a:p>
            <a:r>
              <a:t>Now that we have verified genuine need, we face Decision #3: Which vendors should we consider?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Pre-RFQ vendor intelligence identifies domain-qualified suppliers before competitive RFQ dispatch.</a:t>
            </a:r>
          </a:p>
          <a:p/>
          <a:p>
            <a:r>
              <a:t>🎙️ SUGGESTED NARRATION (~0:45 min):</a:t>
            </a:r>
          </a:p>
          <a:p>
            <a:r>
              <a:t>Decision number three: Who should we consider? Rather than forcing employees to manually search supplier directories or pick a vendor based on habit, IPMS ranks qualified suppliers based on item history, delivery reliability, and feedback. But where do these insights come from?</a:t>
            </a:r>
          </a:p>
          <a:p/>
          <a:p>
            <a:r>
              <a:t>🔄 TRANSITION TO NEXT SLIDE:</a:t>
            </a:r>
          </a:p>
          <a:p>
            <a:r>
              <a:t>Let's look at the difference between structured enterprise data and qualitative human experience.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Enterprise procurement requires both quantitative metrics and qualitative human experience.</a:t>
            </a:r>
          </a:p>
          <a:p/>
          <a:p>
            <a:r>
              <a:t>🎙️ SUGGESTED NARRATION (~1:00 min):</a:t>
            </a:r>
          </a:p>
          <a:p>
            <a:r>
              <a:t>Structured enterprise metrics show us numerical performance—like on-time delivery rates and invoice accuracy. But people tell us WHY things happened. Free-text feedback captures supplier responsiveness, support quality, and packaging care. IPMS treats both structured numbers and human text as first-class procurement intelligence.</a:t>
            </a:r>
          </a:p>
          <a:p/>
          <a:p>
            <a:r>
              <a:t>🔄 TRANSITION TO NEXT SLIDE:</a:t>
            </a:r>
          </a:p>
          <a:p>
            <a:r>
              <a:t>How do we continuously gather this feedback? Through our Quarterly Vendor Feedback Loop.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Continuous quarterly feedback loops turn stakeholder experiences into actionable vector intelligence.</a:t>
            </a:r>
          </a:p>
          <a:p/>
          <a:p>
            <a:r>
              <a:t>🎙️ SUGGESTED NARRATION (~1:00 min):</a:t>
            </a:r>
          </a:p>
          <a:p>
            <a:r>
              <a:t>Vendor intelligence cannot remain static in a stale spreadsheet. Every quarter, stakeholders who interact with suppliers submit structured scores and qualitative feedback. Our ingestion pipeline parses these responses, stores ratings in relational tables, and embeds qualitative feedback into vector representations, keeping the intelligence pool fresh and grounded.</a:t>
            </a:r>
          </a:p>
          <a:p/>
          <a:p>
            <a:r>
              <a:t>🔄 TRANSITION TO NEXT SLIDE:</a:t>
            </a:r>
          </a:p>
          <a:p>
            <a:r>
              <a:t>Now let's see how our RAG architecture turns this data into decision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Semantic RAG retrieval provides a focused evidence package for LLM synthesis without blind web search.</a:t>
            </a:r>
          </a:p>
          <a:p/>
          <a:p>
            <a:r>
              <a:t>🎙️ SUGGESTED NARRATION (~1:00 min):</a:t>
            </a:r>
          </a:p>
          <a:p>
            <a:r>
              <a:t>Our RAG architecture does not search the internet or hallucinate capabilities. When evaluating a PR, it follows a 3-level retrieval hierarchy: exact item experience first, then category track record, then general vendor performance. It packages this retrieved context with structured metrics and prompts the LLM to synthesize concrete strengths, risks, and a confidence rating.</a:t>
            </a:r>
          </a:p>
          <a:p/>
          <a:p>
            <a:r>
              <a:t>🔄 TRANSITION TO NEXT SLIDE:</a:t>
            </a:r>
          </a:p>
          <a:p>
            <a:r>
              <a:t>This brings us to a fundamental architectural principle: Where do we deliberately NOT use 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We enforce a strict boundary: deterministic code handles arithmetic and rules; AI handles qualitative reasoning.</a:t>
            </a:r>
          </a:p>
          <a:p/>
          <a:p>
            <a:r>
              <a:t>🎙️ SUGGESTED NARRATION (~1:00 min):</a:t>
            </a:r>
          </a:p>
          <a:p>
            <a:r>
              <a:t>This slide is one of our most important architectural differentiators. We believe firmly that AI should be used for ambiguity, not arithmetic. Calculating inventory stock, checking duplicate percentages, or enforcing state transitions must NEVER depend on an LLM's probabilistic output. We use deterministic algorithms for rules and math, and generative AI exclusively for qualitative synthesis and policy assistance.</a:t>
            </a:r>
          </a:p>
          <a:p/>
          <a:p>
            <a:r>
              <a:t>🔄 TRANSITION TO NEXT SLIDE:</a:t>
            </a:r>
          </a:p>
          <a:p>
            <a:r>
              <a:t>How do we prevent runaway LLM costs? Through Recommendation Snapshots and Caching.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Snapshot persistence ensures AI reasoning is captured once and reused without ongoing token costs.</a:t>
            </a:r>
          </a:p>
          <a:p/>
          <a:p>
            <a:r>
              <a:t>🎙️ SUGGESTED NARRATION (~1:00 min):</a:t>
            </a:r>
          </a:p>
          <a:p>
            <a:r>
              <a:t>In a poorly designed AI system, every page refresh or supervisor review triggers an expensive LLM call. In IPMS, AI reasoning is executed once when the employee requests recommendations. The synthesis, candidate ranks, and strengths are persisted as Snapshot Version 1 in our database. When supervisors review the request, they inspect the snapshot with zero latency and zero token cost. New versions are generated only upon explicit request or if the PR item changes.</a:t>
            </a:r>
          </a:p>
          <a:p/>
          <a:p>
            <a:r>
              <a:t>🔄 TRANSITION TO NEXT SLIDE:</a:t>
            </a:r>
          </a:p>
          <a:p>
            <a:r>
              <a:t>What happens when a supervisor disagrees with an AI recommendation? Slide 12 explains.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AI advises, but human supervisors retain full legal authority and accountability with mandatory audit logging.</a:t>
            </a:r>
          </a:p>
          <a:p/>
          <a:p>
            <a:r>
              <a:t>🎙️ SUGGESTED NARRATION (~1:00 min):</a:t>
            </a:r>
          </a:p>
          <a:p>
            <a:r>
              <a:t>A critical principle in enterprise procurement: AI should advise, but humans must retain accountability. If a supervisor accepts the AI recommendation, confirmation is instant. But if a supervisor chooses to override the recommendation, our system requires a structured, substantive justification. This justification is permanently recorded in our audit trail, ensuring complete compliance governance.</a:t>
            </a:r>
          </a:p>
          <a:p/>
          <a:p>
            <a:r>
              <a:t>🔄 TRANSITION TO NEXT SLIDE:</a:t>
            </a:r>
          </a:p>
          <a:p>
            <a:r>
              <a:t>Now let's see how recommendations convert into real market competition via RFQ.</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Recommendations qualify candidate vendors; competitive RFQs reveal actual market pricing and delivery commitments.</a:t>
            </a:r>
          </a:p>
          <a:p/>
          <a:p>
            <a:r>
              <a:t>🎙️ SUGGESTED NARRATION (~1:00 min):</a:t>
            </a:r>
          </a:p>
          <a:p>
            <a:r>
              <a:t>An AI recommendation tells us who is qualified to bid—it is NOT a final purchase order. IPMS dispatches competitive Requests for Quotation to the top 3 qualified suppliers. Through our dedicated Vendor Portal, suppliers submit binding commercial proposals with their unit prices, lead times, and committed delivery dates.</a:t>
            </a:r>
          </a:p>
          <a:p/>
          <a:p>
            <a:r>
              <a:t>🔄 TRANSITION TO NEXT SLIDE:</a:t>
            </a:r>
          </a:p>
          <a:p>
            <a:r>
              <a:t>Once the quotations arrive, how do we evaluate which quote is truly best? Slide 14 explains.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Our 5-factor model prevents blindly awarding the lowest bid when delivery speed and reliability are paramount.</a:t>
            </a:r>
          </a:p>
          <a:p/>
          <a:p>
            <a:r>
              <a:t>🎙️ SUGGESTED NARRATION (~1:15 min):</a:t>
            </a:r>
          </a:p>
          <a:p>
            <a:r>
              <a:t>Look at this comparison: Vendor B submitted the lowest unit price at $2,350, but their delivery is 12 days out with lower historical reliability. Vendor C is slightly more expensive at $2,500, but delivers in just 2 days with 96% reliability. Our Multi-Factor Quotation Model scores Vendor C as the overall winner (89.2 vs 84.1). In semiconductor and high-tech manufacturing, avoiding 10 days of line stoppage far outweighs a $150 price variance.</a:t>
            </a:r>
          </a:p>
          <a:p/>
          <a:p>
            <a:r>
              <a:t>🔄 TRANSITION TO NEXT SLIDE:</a:t>
            </a:r>
          </a:p>
          <a:p>
            <a:r>
              <a:t>Once the winning quote is confirmed, we move to final execution.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Idempotent PO generation guarantees retry-safe, auditable PDF contract generation and vendor notification.</a:t>
            </a:r>
          </a:p>
          <a:p/>
          <a:p>
            <a:r>
              <a:t>🎙️ SUGGESTED NARRATION (~1:00 min):</a:t>
            </a:r>
          </a:p>
          <a:p>
            <a:r>
              <a:t>Execution must be as reliable as intelligence. When final approval is granted, our idempotent PO engine generates a legally-binding corporate Purchase Order PDF, writes audit logs, and dispatches in-app notifications and email attachments to the winning vendor. Retrying or double-clicking never generates duplicate orders.</a:t>
            </a:r>
          </a:p>
          <a:p/>
          <a:p>
            <a:r>
              <a:t>🔄 TRANSITION TO NEXT SLIDE:</a:t>
            </a:r>
          </a:p>
          <a:p>
            <a:r>
              <a:t>Let's look at how our architecture scales from hackathon prototype to enterprise scale.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The system data contracts are built around decision interfaces, making ERP integration seamless.</a:t>
            </a:r>
          </a:p>
          <a:p/>
          <a:p>
            <a:r>
              <a:t>🎙️ SUGGESTED NARRATION (~1:00 min):</a:t>
            </a:r>
          </a:p>
          <a:p>
            <a:r>
              <a:t>While our demonstration uses realistic simulated procurement data, the architecture was engineered with production interfaces in mind. The core intelligence layers—inventory math, duplicate detection, RAG retrieval, and quotation scoring—operate on clean data contracts. Connecting to SAP, Oracle, or Microsoft Forms requires only implementing external connector adapters.</a:t>
            </a:r>
          </a:p>
          <a:p/>
          <a:p>
            <a:r>
              <a:t>🔄 TRANSITION TO NEXT SLIDE:</a:t>
            </a:r>
          </a:p>
          <a:p>
            <a:r>
              <a:t>Let's see how this aligns directly with Micron Technology's operating principles.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IPMS directly embodies Micron's official values: People, Innovation, Tenacity, Collaboration, and Customer Focus.</a:t>
            </a:r>
          </a:p>
          <a:p/>
          <a:p>
            <a:r>
              <a:t>🎙️ SUGGESTED NARRATION (~1:00 min):</a:t>
            </a:r>
          </a:p>
          <a:p>
            <a:r>
              <a:t>We designed IPMS with Micron's official corporate values at the forefront. People: human feedback powers the AI. Innovation: hybrid deterministic and generative intelligence. Tenacity: resilient revision workflows that don't fail when requirements change. Collaboration: seamless coordination between employees, supervisors, and vendors. And Quality: multi-factor quotation scoring that protects semiconductor supply chains from substandard bids.</a:t>
            </a:r>
          </a:p>
          <a:p/>
          <a:p>
            <a:r>
              <a:t>🔄 TRANSITION TO NEXT SLIDE:</a:t>
            </a:r>
          </a:p>
          <a:p>
            <a:r>
              <a:t>Let's look at where IPMS creates measurable business value.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Business impact is driven by cost avoidance, duplicate elimination, value optimization, and productivity gains.</a:t>
            </a:r>
          </a:p>
          <a:p/>
          <a:p>
            <a:r>
              <a:t>🎙️ SUGGESTED NARRATION (~1:00 min):</a:t>
            </a:r>
          </a:p>
          <a:p>
            <a:r>
              <a:t>How do we measure the business value of IPMS? Across four distinct pillars: direct cost avoidance through inventory reconciliation, duplicate order prevention, procurement value optimization by selecting faster and more reliable suppliers, and significant productivity recovery for procurement teams.</a:t>
            </a:r>
          </a:p>
          <a:p/>
          <a:p>
            <a:r>
              <a:t>🔄 TRANSITION TO NEXT SLIDE:</a:t>
            </a:r>
          </a:p>
          <a:p>
            <a:r>
              <a:t>Let's look at the mathematical ROI framework.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We demonstrate measurable prototype value across stock reuse, duplicate prevention, and faster delivery.</a:t>
            </a:r>
          </a:p>
          <a:p/>
          <a:p>
            <a:r>
              <a:t>🎙️ SUGGESTED NARRATION (~1:00 min):</a:t>
            </a:r>
          </a:p>
          <a:p>
            <a:r>
              <a:t>We avoid fabricating inflated annual numbers. Instead, we provide a concrete measurement framework and show real prototype numbers: in our test journey alone, fulfilling 45 workstations from existing inventory avoided $108,000 in unnecessary external purchases, while duplicate detection flagged an additional $24,000 redundant order. That is over $132,000 in demonstrated value in a single procurement lifecycle.</a:t>
            </a:r>
          </a:p>
          <a:p/>
          <a:p>
            <a:r>
              <a:t>🔄 TRANSITION TO NEXT SLIDE:</a:t>
            </a:r>
          </a:p>
          <a:p>
            <a:r>
              <a:t>Let's summarize before jumping into our live interactive demo.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Transition seamlessly from architecture and business value into the live interactive product demonstration.</a:t>
            </a:r>
          </a:p>
          <a:p/>
          <a:p>
            <a:r>
              <a:t>🎙️ SUGGESTED NARRATION (~0:45 min):</a:t>
            </a:r>
          </a:p>
          <a:p>
            <a:r>
              <a:t>To conclude: procurement is not about moving paper—it is about making intelligent, reliable, and auditable decisions. We didn't simply slap an LLM onto a form. We built a robust three-tier architecture that uses deterministic math for rules, analytical models for quotation scoring, and RAG-powered AI for qualitative synthesis. Now, let's switch to the live application and follow an actual purchase request from creation to final Purchase Order.</a:t>
            </a:r>
          </a:p>
          <a:p/>
          <a:p>
            <a:r>
              <a:t>🔄 TRANSITION TO NEXT SLIDE:</a:t>
            </a:r>
          </a:p>
          <a:p>
            <a:r>
              <a:t>Switch screen to live browser at http://localhost:3000.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097280"/>
            <a:ext cx="228600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698480" cy="2926080"/>
          </a:xfrm>
          <a:prstGeom prst="rect">
            <a:avLst/>
          </a:prstGeom>
          <a:noFill/>
        </p:spPr>
        <p:txBody>
          <a:bodyPr wrap="square">
            <a:spAutoFit/>
          </a:bodyPr>
          <a:lstStyle/>
          <a:p>
            <a:pPr>
              <a:spcAft>
                <a:spcPts val="1400"/>
              </a:spcAft>
              <a:defRPr sz="1300" b="1">
                <a:solidFill>
                  <a:srgbClr val="00A3E0"/>
                </a:solidFill>
              </a:defRPr>
            </a:pPr>
            <a:r>
              <a:t>MICRON TECHNOLOGY HACKATHON — FINAL EVALUATION</a:t>
            </a:r>
          </a:p>
          <a:p>
            <a:pPr>
              <a:spcAft>
                <a:spcPts val="1600"/>
              </a:spcAft>
              <a:defRPr sz="4400" b="1">
                <a:solidFill>
                  <a:srgbClr val="FFFFFF"/>
                </a:solidFill>
              </a:defRPr>
            </a:pPr>
            <a:r>
              <a:t>From Purchase Request to</a:t>
            </a:r>
            <a:br/>
            <a:r>
              <a:t>Intelligent Decision</a:t>
            </a:r>
          </a:p>
          <a:p>
            <a:pPr>
              <a:defRPr sz="1800">
                <a:solidFill>
                  <a:srgbClr val="E2E8F0"/>
                </a:solidFill>
              </a:defRPr>
            </a:pPr>
            <a:r>
              <a:t>An Intelligent Procurement Management System (IPMS) for High-Velocity Enterprise Operations</a:t>
            </a:r>
          </a:p>
        </p:txBody>
      </p:sp>
      <p:sp>
        <p:nvSpPr>
          <p:cNvPr id="5" name="Rounded Rectangle 4"/>
          <p:cNvSpPr/>
          <p:nvPr/>
        </p:nvSpPr>
        <p:spPr>
          <a:xfrm>
            <a:off x="731520" y="4846320"/>
            <a:ext cx="1965960" cy="1097280"/>
          </a:xfrm>
          <a:prstGeom prst="roundRect">
            <a:avLst/>
          </a:prstGeom>
          <a:solidFill>
            <a:srgbClr val="0A254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846320"/>
            <a:ext cx="1965960" cy="1097280"/>
          </a:xfrm>
          <a:prstGeom prst="rect">
            <a:avLst/>
          </a:prstGeom>
          <a:noFill/>
        </p:spPr>
        <p:txBody>
          <a:bodyPr wrap="square">
            <a:spAutoFit/>
          </a:bodyPr>
          <a:lstStyle/>
          <a:p>
            <a:pPr algn="ctr">
              <a:defRPr sz="1400" b="1">
                <a:solidFill>
                  <a:srgbClr val="00A3E0"/>
                </a:solidFill>
              </a:defRPr>
            </a:pPr>
            <a:r>
              <a:t>1. REQUEST</a:t>
            </a:r>
          </a:p>
        </p:txBody>
      </p:sp>
      <p:sp>
        <p:nvSpPr>
          <p:cNvPr id="7" name="Rounded Rectangle 6"/>
          <p:cNvSpPr/>
          <p:nvPr/>
        </p:nvSpPr>
        <p:spPr>
          <a:xfrm>
            <a:off x="2926080" y="4846320"/>
            <a:ext cx="1965960" cy="1097280"/>
          </a:xfrm>
          <a:prstGeom prst="roundRect">
            <a:avLst/>
          </a:prstGeom>
          <a:solidFill>
            <a:srgbClr val="0A254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26080" y="4846320"/>
            <a:ext cx="1965960" cy="1097280"/>
          </a:xfrm>
          <a:prstGeom prst="rect">
            <a:avLst/>
          </a:prstGeom>
          <a:noFill/>
        </p:spPr>
        <p:txBody>
          <a:bodyPr wrap="square">
            <a:spAutoFit/>
          </a:bodyPr>
          <a:lstStyle/>
          <a:p>
            <a:pPr algn="ctr">
              <a:defRPr sz="1400" b="1">
                <a:solidFill>
                  <a:srgbClr val="00A3E0"/>
                </a:solidFill>
              </a:defRPr>
            </a:pPr>
            <a:r>
              <a:t>2. INTELLIGENCE</a:t>
            </a:r>
          </a:p>
        </p:txBody>
      </p:sp>
      <p:sp>
        <p:nvSpPr>
          <p:cNvPr id="9" name="Rounded Rectangle 8"/>
          <p:cNvSpPr/>
          <p:nvPr/>
        </p:nvSpPr>
        <p:spPr>
          <a:xfrm>
            <a:off x="5120640" y="4846320"/>
            <a:ext cx="1965960" cy="1097280"/>
          </a:xfrm>
          <a:prstGeom prst="roundRect">
            <a:avLst/>
          </a:prstGeom>
          <a:solidFill>
            <a:srgbClr val="0A254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0" y="4846320"/>
            <a:ext cx="1965960" cy="1097280"/>
          </a:xfrm>
          <a:prstGeom prst="rect">
            <a:avLst/>
          </a:prstGeom>
          <a:noFill/>
        </p:spPr>
        <p:txBody>
          <a:bodyPr wrap="square">
            <a:spAutoFit/>
          </a:bodyPr>
          <a:lstStyle/>
          <a:p>
            <a:pPr algn="ctr">
              <a:defRPr sz="1400" b="1">
                <a:solidFill>
                  <a:srgbClr val="00A3E0"/>
                </a:solidFill>
              </a:defRPr>
            </a:pPr>
            <a:r>
              <a:t>3. COMPETITION</a:t>
            </a:r>
          </a:p>
        </p:txBody>
      </p:sp>
      <p:sp>
        <p:nvSpPr>
          <p:cNvPr id="11" name="Rounded Rectangle 10"/>
          <p:cNvSpPr/>
          <p:nvPr/>
        </p:nvSpPr>
        <p:spPr>
          <a:xfrm>
            <a:off x="7315199" y="4846320"/>
            <a:ext cx="1965960" cy="1097280"/>
          </a:xfrm>
          <a:prstGeom prst="roundRect">
            <a:avLst/>
          </a:prstGeom>
          <a:solidFill>
            <a:srgbClr val="0A254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199" y="4846320"/>
            <a:ext cx="1965960" cy="1097280"/>
          </a:xfrm>
          <a:prstGeom prst="rect">
            <a:avLst/>
          </a:prstGeom>
          <a:noFill/>
        </p:spPr>
        <p:txBody>
          <a:bodyPr wrap="square">
            <a:spAutoFit/>
          </a:bodyPr>
          <a:lstStyle/>
          <a:p>
            <a:pPr algn="ctr">
              <a:defRPr sz="1400" b="1">
                <a:solidFill>
                  <a:srgbClr val="00A3E0"/>
                </a:solidFill>
              </a:defRPr>
            </a:pPr>
            <a:r>
              <a:t>4. DECISION</a:t>
            </a:r>
          </a:p>
        </p:txBody>
      </p:sp>
      <p:sp>
        <p:nvSpPr>
          <p:cNvPr id="13" name="Rounded Rectangle 12"/>
          <p:cNvSpPr/>
          <p:nvPr/>
        </p:nvSpPr>
        <p:spPr>
          <a:xfrm>
            <a:off x="9509760" y="4846320"/>
            <a:ext cx="1965960" cy="1097280"/>
          </a:xfrm>
          <a:prstGeom prst="roundRect">
            <a:avLst/>
          </a:prstGeom>
          <a:solidFill>
            <a:srgbClr val="0A254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0" y="4846320"/>
            <a:ext cx="1965960" cy="1097280"/>
          </a:xfrm>
          <a:prstGeom prst="rect">
            <a:avLst/>
          </a:prstGeom>
          <a:noFill/>
        </p:spPr>
        <p:txBody>
          <a:bodyPr wrap="square">
            <a:spAutoFit/>
          </a:bodyPr>
          <a:lstStyle/>
          <a:p>
            <a:pPr algn="ctr">
              <a:defRPr sz="1400" b="1">
                <a:solidFill>
                  <a:srgbClr val="00A3E0"/>
                </a:solidFill>
              </a:defRPr>
            </a:pPr>
            <a:r>
              <a:t>5. EXECUTION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THE CORE PROCUREMENT PROBLEM</a:t>
            </a:r>
          </a:p>
          <a:p>
            <a:pPr>
              <a:defRPr sz="2600" b="1">
                <a:solidFill>
                  <a:srgbClr val="001830"/>
                </a:solidFill>
                <a:latin typeface="Segoe UI"/>
              </a:defRPr>
            </a:pPr>
            <a:r>
              <a:t>One Request. Many Opportunities to Waste Money.</a:t>
            </a:r>
          </a:p>
        </p:txBody>
      </p:sp>
      <p:sp>
        <p:nvSpPr>
          <p:cNvPr id="4" name="Rounded Rectangle 3"/>
          <p:cNvSpPr/>
          <p:nvPr/>
        </p:nvSpPr>
        <p:spPr>
          <a:xfrm>
            <a:off x="731520" y="1645920"/>
            <a:ext cx="32918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2926080" cy="4023360"/>
          </a:xfrm>
          <a:prstGeom prst="rect">
            <a:avLst/>
          </a:prstGeom>
          <a:noFill/>
        </p:spPr>
        <p:txBody>
          <a:bodyPr wrap="square">
            <a:spAutoFit/>
          </a:bodyPr>
          <a:lstStyle/>
          <a:p>
            <a:pPr>
              <a:spcAft>
                <a:spcPts val="1200"/>
              </a:spcAft>
              <a:defRPr sz="1300" b="1">
                <a:solidFill>
                  <a:srgbClr val="0072CE"/>
                </a:solidFill>
              </a:defRPr>
            </a:pPr>
            <a:r>
              <a:t>THE PURCHASE REQUEST</a:t>
            </a:r>
          </a:p>
          <a:p>
            <a:pPr>
              <a:spcAft>
                <a:spcPts val="1600"/>
              </a:spcAft>
              <a:defRPr sz="1400" b="1">
                <a:solidFill>
                  <a:srgbClr val="1E293B"/>
                </a:solidFill>
              </a:defRPr>
            </a:pPr>
            <a:r>
              <a:t>Item: Dell Precision 5820</a:t>
            </a:r>
            <a:br/>
            <a:r>
              <a:t>Quantity: 50 Units</a:t>
            </a:r>
            <a:br/>
            <a:r>
              <a:t>Requester: DevOps Team</a:t>
            </a:r>
            <a:br/>
            <a:r>
              <a:t>Total Value: ~$120,000</a:t>
            </a:r>
          </a:p>
          <a:p>
            <a:pPr>
              <a:defRPr sz="1200">
                <a:solidFill>
                  <a:srgbClr val="64748B"/>
                </a:solidFill>
              </a:defRPr>
            </a:pPr>
            <a:r>
              <a:t>On the surface, this looks like standard procurement. But beneath it lie 5 critical operational questions that can cost an enterprise millions if left unanswered.</a:t>
            </a:r>
          </a:p>
        </p:txBody>
      </p:sp>
      <p:sp>
        <p:nvSpPr>
          <p:cNvPr id="6" name="Rounded Rectangle 5"/>
          <p:cNvSpPr/>
          <p:nvPr/>
        </p:nvSpPr>
        <p:spPr>
          <a:xfrm>
            <a:off x="4297680" y="1645920"/>
            <a:ext cx="7132320" cy="8046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719072"/>
            <a:ext cx="6766560" cy="658368"/>
          </a:xfrm>
          <a:prstGeom prst="rect">
            <a:avLst/>
          </a:prstGeom>
          <a:noFill/>
        </p:spPr>
        <p:txBody>
          <a:bodyPr wrap="square">
            <a:spAutoFit/>
          </a:bodyPr>
          <a:lstStyle/>
          <a:p>
            <a:pPr>
              <a:defRPr sz="1300" b="1">
                <a:solidFill>
                  <a:srgbClr val="F43F5E"/>
                </a:solidFill>
              </a:defRPr>
            </a:pPr>
            <a:r>
              <a:t>1. Do we actually need to buy this?</a:t>
            </a:r>
          </a:p>
          <a:p>
            <a:pPr>
              <a:defRPr sz="1100">
                <a:solidFill>
                  <a:srgbClr val="64748B"/>
                </a:solidFill>
              </a:defRPr>
            </a:pPr>
            <a:r>
              <a:t>Is there available warehouse stock sitting idle across company inventory reserves?</a:t>
            </a:r>
          </a:p>
        </p:txBody>
      </p:sp>
      <p:sp>
        <p:nvSpPr>
          <p:cNvPr id="8" name="Rounded Rectangle 7"/>
          <p:cNvSpPr/>
          <p:nvPr/>
        </p:nvSpPr>
        <p:spPr>
          <a:xfrm>
            <a:off x="4297680" y="2542032"/>
            <a:ext cx="7132320" cy="8046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615184"/>
            <a:ext cx="6766560" cy="658368"/>
          </a:xfrm>
          <a:prstGeom prst="rect">
            <a:avLst/>
          </a:prstGeom>
          <a:noFill/>
        </p:spPr>
        <p:txBody>
          <a:bodyPr wrap="square">
            <a:spAutoFit/>
          </a:bodyPr>
          <a:lstStyle/>
          <a:p>
            <a:pPr>
              <a:defRPr sz="1300" b="1">
                <a:solidFill>
                  <a:srgbClr val="F59E0B"/>
                </a:solidFill>
              </a:defRPr>
            </a:pPr>
            <a:r>
              <a:t>2. Are we already buying this?</a:t>
            </a:r>
          </a:p>
          <a:p>
            <a:pPr>
              <a:defRPr sz="1100">
                <a:solidFill>
                  <a:srgbClr val="64748B"/>
                </a:solidFill>
              </a:defRPr>
            </a:pPr>
            <a:r>
              <a:t>Has another department or teammate already submitted an active order for this item?</a:t>
            </a:r>
          </a:p>
        </p:txBody>
      </p:sp>
      <p:sp>
        <p:nvSpPr>
          <p:cNvPr id="10" name="Rounded Rectangle 9"/>
          <p:cNvSpPr/>
          <p:nvPr/>
        </p:nvSpPr>
        <p:spPr>
          <a:xfrm>
            <a:off x="4297680" y="3438144"/>
            <a:ext cx="7132320" cy="8046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3511296"/>
            <a:ext cx="6766560" cy="658368"/>
          </a:xfrm>
          <a:prstGeom prst="rect">
            <a:avLst/>
          </a:prstGeom>
          <a:noFill/>
        </p:spPr>
        <p:txBody>
          <a:bodyPr wrap="square">
            <a:spAutoFit/>
          </a:bodyPr>
          <a:lstStyle/>
          <a:p>
            <a:pPr>
              <a:defRPr sz="1300" b="1">
                <a:solidFill>
                  <a:srgbClr val="0072CE"/>
                </a:solidFill>
              </a:defRPr>
            </a:pPr>
            <a:r>
              <a:t>3. Which suppliers should we consider?</a:t>
            </a:r>
          </a:p>
          <a:p>
            <a:pPr>
              <a:defRPr sz="1100">
                <a:solidFill>
                  <a:srgbClr val="64748B"/>
                </a:solidFill>
              </a:defRPr>
            </a:pPr>
            <a:r>
              <a:t>Who are the domain-qualified suppliers with proven delivery reliability?</a:t>
            </a:r>
          </a:p>
        </p:txBody>
      </p:sp>
      <p:sp>
        <p:nvSpPr>
          <p:cNvPr id="12" name="Rounded Rectangle 11"/>
          <p:cNvSpPr/>
          <p:nvPr/>
        </p:nvSpPr>
        <p:spPr>
          <a:xfrm>
            <a:off x="4297680" y="4334256"/>
            <a:ext cx="7132320" cy="8046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4407408"/>
            <a:ext cx="6766560" cy="658368"/>
          </a:xfrm>
          <a:prstGeom prst="rect">
            <a:avLst/>
          </a:prstGeom>
          <a:noFill/>
        </p:spPr>
        <p:txBody>
          <a:bodyPr wrap="square">
            <a:spAutoFit/>
          </a:bodyPr>
          <a:lstStyle/>
          <a:p>
            <a:pPr>
              <a:defRPr sz="1300" b="1">
                <a:solidFill>
                  <a:srgbClr val="8B5CF6"/>
                </a:solidFill>
              </a:defRPr>
            </a:pPr>
            <a:r>
              <a:t>4. What does our organization actually know?</a:t>
            </a:r>
          </a:p>
          <a:p>
            <a:pPr>
              <a:defRPr sz="1100">
                <a:solidFill>
                  <a:srgbClr val="64748B"/>
                </a:solidFill>
              </a:defRPr>
            </a:pPr>
            <a:r>
              <a:t>What do past quarterly qualitative feedback surveys reveal about supplier risks?</a:t>
            </a:r>
          </a:p>
        </p:txBody>
      </p:sp>
      <p:sp>
        <p:nvSpPr>
          <p:cNvPr id="14" name="Rounded Rectangle 13"/>
          <p:cNvSpPr/>
          <p:nvPr/>
        </p:nvSpPr>
        <p:spPr>
          <a:xfrm>
            <a:off x="4297680" y="5230368"/>
            <a:ext cx="7132320" cy="804672"/>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5303520"/>
            <a:ext cx="6766560" cy="658368"/>
          </a:xfrm>
          <a:prstGeom prst="rect">
            <a:avLst/>
          </a:prstGeom>
          <a:noFill/>
        </p:spPr>
        <p:txBody>
          <a:bodyPr wrap="square">
            <a:spAutoFit/>
          </a:bodyPr>
          <a:lstStyle/>
          <a:p>
            <a:pPr>
              <a:defRPr sz="1300" b="1">
                <a:solidFill>
                  <a:srgbClr val="10B981"/>
                </a:solidFill>
              </a:defRPr>
            </a:pPr>
            <a:r>
              <a:t>5. Is the cheapest quotation the best choice?</a:t>
            </a:r>
          </a:p>
          <a:p>
            <a:pPr>
              <a:defRPr sz="1100">
                <a:solidFill>
                  <a:srgbClr val="64748B"/>
                </a:solidFill>
              </a:defRPr>
            </a:pPr>
            <a:r>
              <a:t>Will a cheap quote cause catastrophic schedule delays or quality failures?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THE ARCHITECTURAL PHILOSOPHY</a:t>
            </a:r>
          </a:p>
          <a:p>
            <a:pPr>
              <a:defRPr sz="2600" b="1">
                <a:solidFill>
                  <a:srgbClr val="001830"/>
                </a:solidFill>
                <a:latin typeface="Segoe UI"/>
              </a:defRPr>
            </a:pPr>
            <a:r>
              <a:t>Move Intelligence Before Commitment</a:t>
            </a:r>
          </a:p>
        </p:txBody>
      </p:sp>
      <p:sp>
        <p:nvSpPr>
          <p:cNvPr id="4" name="Rounded Rectangle 3"/>
          <p:cNvSpPr/>
          <p:nvPr/>
        </p:nvSpPr>
        <p:spPr>
          <a:xfrm>
            <a:off x="731520" y="1645920"/>
            <a:ext cx="5120640" cy="4389120"/>
          </a:xfrm>
          <a:prstGeom prst="roundRect">
            <a:avLst/>
          </a:prstGeom>
          <a:solidFill>
            <a:srgbClr val="FEF2F2"/>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a:spAutoFit/>
          </a:bodyPr>
          <a:lstStyle/>
          <a:p>
            <a:pPr>
              <a:spcAft>
                <a:spcPts val="1400"/>
              </a:spcAft>
              <a:defRPr sz="1400" b="1">
                <a:solidFill>
                  <a:srgbClr val="F43F5E"/>
                </a:solidFill>
              </a:defRPr>
            </a:pPr>
            <a:r>
              <a:t>TRADITIONAL PROCUREMENT</a:t>
            </a:r>
          </a:p>
          <a:p>
            <a:pPr>
              <a:spcAft>
                <a:spcPts val="800"/>
              </a:spcAft>
              <a:defRPr sz="1200">
                <a:solidFill>
                  <a:srgbClr val="1E293B"/>
                </a:solidFill>
              </a:defRPr>
            </a:pPr>
            <a:r>
              <a:t>1. Employee submits request blindly</a:t>
            </a:r>
          </a:p>
          <a:p>
            <a:pPr>
              <a:spcAft>
                <a:spcPts val="800"/>
              </a:spcAft>
              <a:defRPr sz="1200">
                <a:solidFill>
                  <a:srgbClr val="1E293B"/>
                </a:solidFill>
              </a:defRPr>
            </a:pPr>
            <a:r>
              <a:t>2. Form routed through email / portal</a:t>
            </a:r>
          </a:p>
          <a:p>
            <a:pPr>
              <a:spcAft>
                <a:spcPts val="800"/>
              </a:spcAft>
              <a:defRPr sz="1200">
                <a:solidFill>
                  <a:srgbClr val="1E293B"/>
                </a:solidFill>
              </a:defRPr>
            </a:pPr>
            <a:r>
              <a:t>3. Supervisor approves based on budget only</a:t>
            </a:r>
          </a:p>
          <a:p>
            <a:pPr>
              <a:spcAft>
                <a:spcPts val="800"/>
              </a:spcAft>
              <a:defRPr sz="1200">
                <a:solidFill>
                  <a:srgbClr val="1E293B"/>
                </a:solidFill>
              </a:defRPr>
            </a:pPr>
            <a:r>
              <a:t>4. Single vendor selected without market test</a:t>
            </a:r>
          </a:p>
          <a:p>
            <a:pPr>
              <a:spcAft>
                <a:spcPts val="800"/>
              </a:spcAft>
              <a:defRPr sz="1200">
                <a:solidFill>
                  <a:srgbClr val="1E293B"/>
                </a:solidFill>
              </a:defRPr>
            </a:pPr>
            <a:r>
              <a:t>5. Delays, duplicates, and defects discovered post-PO</a:t>
            </a:r>
          </a:p>
          <a:p>
            <a:pPr>
              <a:defRPr sz="1300" b="1">
                <a:solidFill>
                  <a:srgbClr val="F43F5E"/>
                </a:solidFill>
              </a:defRPr>
            </a:pPr>
            <a:r>
              <a:t>❌ Reactive &amp; Costly</a:t>
            </a:r>
          </a:p>
        </p:txBody>
      </p:sp>
      <p:sp>
        <p:nvSpPr>
          <p:cNvPr id="6" name="Rounded Rectangle 5"/>
          <p:cNvSpPr/>
          <p:nvPr/>
        </p:nvSpPr>
        <p:spPr>
          <a:xfrm>
            <a:off x="6309360" y="1645920"/>
            <a:ext cx="5120640" cy="4389120"/>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a:spAutoFit/>
          </a:bodyPr>
          <a:lstStyle/>
          <a:p>
            <a:pPr>
              <a:spcAft>
                <a:spcPts val="1400"/>
              </a:spcAft>
              <a:defRPr sz="1400" b="1">
                <a:solidFill>
                  <a:srgbClr val="10B981"/>
                </a:solidFill>
              </a:defRPr>
            </a:pPr>
            <a:r>
              <a:t>INTELLIGENT PROCUREMENT (IPMS)</a:t>
            </a:r>
          </a:p>
          <a:p>
            <a:pPr>
              <a:spcAft>
                <a:spcPts val="800"/>
              </a:spcAft>
              <a:defRPr sz="1200">
                <a:solidFill>
                  <a:srgbClr val="1E293B"/>
                </a:solidFill>
              </a:defRPr>
            </a:pPr>
            <a:r>
              <a:t>1. Real-time warehouse inventory reconciliation</a:t>
            </a:r>
          </a:p>
          <a:p>
            <a:pPr>
              <a:spcAft>
                <a:spcPts val="800"/>
              </a:spcAft>
              <a:defRPr sz="1200">
                <a:solidFill>
                  <a:srgbClr val="1E293B"/>
                </a:solidFill>
              </a:defRPr>
            </a:pPr>
            <a:r>
              <a:t>2. Deterministic duplicate order window detection</a:t>
            </a:r>
          </a:p>
          <a:p>
            <a:pPr>
              <a:spcAft>
                <a:spcPts val="800"/>
              </a:spcAft>
              <a:defRPr sz="1200">
                <a:solidFill>
                  <a:srgbClr val="1E293B"/>
                </a:solidFill>
              </a:defRPr>
            </a:pPr>
            <a:r>
              <a:t>3. Multi-factor RAG-augmented vendor shortlist</a:t>
            </a:r>
          </a:p>
          <a:p>
            <a:pPr>
              <a:spcAft>
                <a:spcPts val="800"/>
              </a:spcAft>
              <a:defRPr sz="1200">
                <a:solidFill>
                  <a:srgbClr val="1E293B"/>
                </a:solidFill>
              </a:defRPr>
            </a:pPr>
            <a:r>
              <a:t>4. Multi-vendor competitive RFQ bidding</a:t>
            </a:r>
          </a:p>
          <a:p>
            <a:pPr>
              <a:spcAft>
                <a:spcPts val="800"/>
              </a:spcAft>
              <a:defRPr sz="1200">
                <a:solidFill>
                  <a:srgbClr val="1E293B"/>
                </a:solidFill>
              </a:defRPr>
            </a:pPr>
            <a:r>
              <a:t>5. 5-Factor Quotation Ranking + Audited Approval</a:t>
            </a:r>
          </a:p>
          <a:p>
            <a:pPr>
              <a:defRPr sz="1300" b="1">
                <a:solidFill>
                  <a:srgbClr val="10B981"/>
                </a:solidFill>
              </a:defRPr>
            </a:pPr>
            <a:r>
              <a:t>✅ Proactive, Audited &amp; Governed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DETERMINISTIC INVENTORY INTELLIGENCE</a:t>
            </a:r>
          </a:p>
          <a:p>
            <a:pPr>
              <a:defRPr sz="2600" b="1">
                <a:solidFill>
                  <a:srgbClr val="001830"/>
                </a:solidFill>
                <a:latin typeface="Segoe UI"/>
              </a:defRPr>
            </a:pPr>
            <a:r>
              <a:t>Decision #1: Should We Buy It At All?</a:t>
            </a:r>
          </a:p>
        </p:txBody>
      </p:sp>
      <p:sp>
        <p:nvSpPr>
          <p:cNvPr id="4" name="Rounded Rectangle 3"/>
          <p:cNvSpPr/>
          <p:nvPr/>
        </p:nvSpPr>
        <p:spPr>
          <a:xfrm>
            <a:off x="731520" y="1645920"/>
            <a:ext cx="10728655" cy="822960"/>
          </a:xfrm>
          <a:prstGeom prst="roundRect">
            <a:avLst/>
          </a:prstGeom>
          <a:solidFill>
            <a:srgbClr val="001830"/>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731520"/>
          </a:xfrm>
          <a:prstGeom prst="rect">
            <a:avLst/>
          </a:prstGeom>
          <a:noFill/>
        </p:spPr>
        <p:txBody>
          <a:bodyPr wrap="none">
            <a:spAutoFit/>
          </a:bodyPr>
          <a:lstStyle/>
          <a:p>
            <a:pPr algn="ctr">
              <a:defRPr sz="1800" b="1">
                <a:solidFill>
                  <a:srgbClr val="00A3E0"/>
                </a:solidFill>
              </a:defRPr>
            </a:pPr>
            <a:r>
              <a:t>"The cheapest purchase is the purchase you never had to make."</a:t>
            </a:r>
          </a:p>
        </p:txBody>
      </p:sp>
      <p:sp>
        <p:nvSpPr>
          <p:cNvPr id="6" name="Rounded Rectangle 5"/>
          <p:cNvSpPr/>
          <p:nvPr/>
        </p:nvSpPr>
        <p:spPr>
          <a:xfrm>
            <a:off x="731520" y="2743200"/>
            <a:ext cx="33832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26080"/>
            <a:ext cx="3017520" cy="1645920"/>
          </a:xfrm>
          <a:prstGeom prst="rect">
            <a:avLst/>
          </a:prstGeom>
          <a:noFill/>
        </p:spPr>
        <p:txBody>
          <a:bodyPr wrap="square">
            <a:spAutoFit/>
          </a:bodyPr>
          <a:lstStyle/>
          <a:p>
            <a:pPr>
              <a:defRPr sz="1100" b="1">
                <a:solidFill>
                  <a:srgbClr val="64748B"/>
                </a:solidFill>
              </a:defRPr>
            </a:pPr>
            <a:r>
              <a:t>REQUESTED QUANTITY</a:t>
            </a:r>
          </a:p>
          <a:p>
            <a:pPr>
              <a:defRPr sz="3200" b="1">
                <a:solidFill>
                  <a:srgbClr val="1E293B"/>
                </a:solidFill>
              </a:defRPr>
            </a:pPr>
            <a:r>
              <a:t>50 Units</a:t>
            </a:r>
          </a:p>
          <a:p>
            <a:pPr>
              <a:defRPr sz="1100">
                <a:solidFill>
                  <a:srgbClr val="64748B"/>
                </a:solidFill>
              </a:defRPr>
            </a:pPr>
            <a:r>
              <a:t>Requested by DevOps Team for Precision Workstations</a:t>
            </a:r>
          </a:p>
        </p:txBody>
      </p:sp>
      <p:sp>
        <p:nvSpPr>
          <p:cNvPr id="8" name="Rounded Rectangle 7"/>
          <p:cNvSpPr/>
          <p:nvPr/>
        </p:nvSpPr>
        <p:spPr>
          <a:xfrm>
            <a:off x="4389120" y="2743200"/>
            <a:ext cx="33832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2926080"/>
            <a:ext cx="3017520" cy="1645920"/>
          </a:xfrm>
          <a:prstGeom prst="rect">
            <a:avLst/>
          </a:prstGeom>
          <a:noFill/>
        </p:spPr>
        <p:txBody>
          <a:bodyPr wrap="square">
            <a:spAutoFit/>
          </a:bodyPr>
          <a:lstStyle/>
          <a:p>
            <a:pPr>
              <a:defRPr sz="1100" b="1">
                <a:solidFill>
                  <a:srgbClr val="64748B"/>
                </a:solidFill>
              </a:defRPr>
            </a:pPr>
            <a:r>
              <a:t>WAREHOUSE IN STOCK</a:t>
            </a:r>
          </a:p>
          <a:p>
            <a:pPr>
              <a:defRPr sz="3200" b="1">
                <a:solidFill>
                  <a:srgbClr val="0072CE"/>
                </a:solidFill>
              </a:defRPr>
            </a:pPr>
            <a:r>
              <a:t>45 Units</a:t>
            </a:r>
          </a:p>
          <a:p>
            <a:pPr>
              <a:defRPr sz="1100">
                <a:solidFill>
                  <a:srgbClr val="64748B"/>
                </a:solidFill>
              </a:defRPr>
            </a:pPr>
            <a:r>
              <a:t>Real-time stock verified in warehouse reserves</a:t>
            </a:r>
          </a:p>
        </p:txBody>
      </p:sp>
      <p:sp>
        <p:nvSpPr>
          <p:cNvPr id="10" name="Rounded Rectangle 9"/>
          <p:cNvSpPr/>
          <p:nvPr/>
        </p:nvSpPr>
        <p:spPr>
          <a:xfrm>
            <a:off x="8046720" y="2743200"/>
            <a:ext cx="3383280" cy="201168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2926080"/>
            <a:ext cx="3017520" cy="1645920"/>
          </a:xfrm>
          <a:prstGeom prst="rect">
            <a:avLst/>
          </a:prstGeom>
          <a:noFill/>
        </p:spPr>
        <p:txBody>
          <a:bodyPr wrap="square">
            <a:spAutoFit/>
          </a:bodyPr>
          <a:lstStyle/>
          <a:p>
            <a:pPr>
              <a:defRPr sz="1100" b="1">
                <a:solidFill>
                  <a:srgbClr val="64748B"/>
                </a:solidFill>
              </a:defRPr>
            </a:pPr>
            <a:r>
              <a:t>ACTUAL SHORTAGE</a:t>
            </a:r>
          </a:p>
          <a:p>
            <a:pPr>
              <a:defRPr sz="3200" b="1">
                <a:solidFill>
                  <a:srgbClr val="10B981"/>
                </a:solidFill>
              </a:defRPr>
            </a:pPr>
            <a:r>
              <a:t>5 Units</a:t>
            </a:r>
          </a:p>
          <a:p>
            <a:pPr>
              <a:defRPr sz="1100">
                <a:solidFill>
                  <a:srgbClr val="64748B"/>
                </a:solidFill>
              </a:defRPr>
            </a:pPr>
            <a:r>
              <a:t>External procurement requirement = Max(0, Req - Stock)</a:t>
            </a:r>
          </a:p>
        </p:txBody>
      </p:sp>
      <p:sp>
        <p:nvSpPr>
          <p:cNvPr id="12" name="Rounded Rectangle 11"/>
          <p:cNvSpPr/>
          <p:nvPr/>
        </p:nvSpPr>
        <p:spPr>
          <a:xfrm>
            <a:off x="731520" y="5029200"/>
            <a:ext cx="10728655" cy="1005840"/>
          </a:xfrm>
          <a:prstGeom prst="roundRect">
            <a:avLst/>
          </a:prstGeom>
          <a:solidFill>
            <a:srgbClr val="EFF6FF"/>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120640"/>
            <a:ext cx="10332720" cy="822960"/>
          </a:xfrm>
          <a:prstGeom prst="rect">
            <a:avLst/>
          </a:prstGeom>
          <a:noFill/>
        </p:spPr>
        <p:txBody>
          <a:bodyPr wrap="square">
            <a:spAutoFit/>
          </a:bodyPr>
          <a:lstStyle/>
          <a:p>
            <a:pPr>
              <a:defRPr sz="1200" b="1">
                <a:solidFill>
                  <a:srgbClr val="0072CE"/>
                </a:solidFill>
              </a:defRPr>
            </a:pPr>
            <a:r>
              <a:t>Deterministic Business Rule Enforced:</a:t>
            </a:r>
          </a:p>
          <a:p>
            <a:pPr>
              <a:defRPr sz="1100">
                <a:solidFill>
                  <a:srgbClr val="1E293B"/>
                </a:solidFill>
              </a:defRPr>
            </a:pPr>
            <a:r>
              <a:t>The inventory engine evaluates warehouse stock instantly upon product selection. If internal stock is sufficient, requester is notified immediately. External procurement is never blindly blocked, but internal stock utilization is prioritized.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DETERMINISTIC DUPLICATE DETECTION</a:t>
            </a:r>
          </a:p>
          <a:p>
            <a:pPr>
              <a:defRPr sz="2600" b="1">
                <a:solidFill>
                  <a:srgbClr val="001830"/>
                </a:solidFill>
                <a:latin typeface="Segoe UI"/>
              </a:defRPr>
            </a:pPr>
            <a:r>
              <a:t>Decision #2: Are We Already Buying It?</a:t>
            </a:r>
          </a:p>
        </p:txBody>
      </p:sp>
      <p:sp>
        <p:nvSpPr>
          <p:cNvPr id="4" name="Rounded Rectangle 3"/>
          <p:cNvSpPr/>
          <p:nvPr/>
        </p:nvSpPr>
        <p:spPr>
          <a:xfrm>
            <a:off x="731520" y="1645920"/>
            <a:ext cx="51206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28800"/>
            <a:ext cx="4572000" cy="4023360"/>
          </a:xfrm>
          <a:prstGeom prst="rect">
            <a:avLst/>
          </a:prstGeom>
          <a:noFill/>
        </p:spPr>
        <p:txBody>
          <a:bodyPr wrap="square">
            <a:spAutoFit/>
          </a:bodyPr>
          <a:lstStyle/>
          <a:p>
            <a:pPr>
              <a:spcAft>
                <a:spcPts val="1000"/>
              </a:spcAft>
              <a:defRPr sz="1300" b="1">
                <a:solidFill>
                  <a:srgbClr val="F59E0B"/>
                </a:solidFill>
              </a:defRPr>
            </a:pPr>
            <a:r>
              <a:t>THE 20% ACTIVE WINDOW RULE</a:t>
            </a:r>
          </a:p>
          <a:p>
            <a:pPr>
              <a:spcAft>
                <a:spcPts val="1000"/>
              </a:spcAft>
              <a:defRPr sz="1200">
                <a:solidFill>
                  <a:srgbClr val="1E293B"/>
                </a:solidFill>
              </a:defRPr>
            </a:pPr>
            <a:r>
              <a:t>The system compares the new PR against all active departmental requests:</a:t>
            </a:r>
          </a:p>
          <a:p>
            <a:pPr>
              <a:spcAft>
                <a:spcPts val="400"/>
              </a:spcAft>
              <a:defRPr sz="1100">
                <a:solidFill>
                  <a:srgbClr val="1E293B"/>
                </a:solidFill>
              </a:defRPr>
            </a:pPr>
            <a:r>
              <a:t>• Same Item Catalog ID</a:t>
            </a:r>
          </a:p>
          <a:p>
            <a:pPr>
              <a:spcAft>
                <a:spcPts val="400"/>
              </a:spcAft>
              <a:defRPr sz="1100">
                <a:solidFill>
                  <a:srgbClr val="1E293B"/>
                </a:solidFill>
              </a:defRPr>
            </a:pPr>
            <a:r>
              <a:t>• Same Department Scope (e.g. IT / DevOps)</a:t>
            </a:r>
          </a:p>
          <a:p>
            <a:pPr>
              <a:spcAft>
                <a:spcPts val="400"/>
              </a:spcAft>
              <a:defRPr sz="1100">
                <a:solidFill>
                  <a:srgbClr val="1E293B"/>
                </a:solidFill>
              </a:defRPr>
            </a:pPr>
            <a:r>
              <a:t>• Active Status Window (Excludes COMPLETED, PO_GENERATED, REJECTED)</a:t>
            </a:r>
          </a:p>
          <a:p>
            <a:pPr>
              <a:spcAft>
                <a:spcPts val="400"/>
              </a:spcAft>
              <a:defRPr sz="1100">
                <a:solidFill>
                  <a:srgbClr val="1E293B"/>
                </a:solidFill>
              </a:defRPr>
            </a:pPr>
            <a:r>
              <a:t>• Quantity Variance Threshold: ≤ 20% Variance</a:t>
            </a:r>
          </a:p>
          <a:p>
            <a:pPr>
              <a:spcAft>
                <a:spcPts val="400"/>
              </a:spcAft>
              <a:defRPr sz="1100">
                <a:solidFill>
                  <a:srgbClr val="1E293B"/>
                </a:solidFill>
              </a:defRPr>
            </a:pPr>
            <a:r>
              <a:t>  Formula: |Qty_new - Qty_existing| / max(Qty_new, Qty_existing) ≤ 0.20</a:t>
            </a:r>
          </a:p>
        </p:txBody>
      </p:sp>
      <p:sp>
        <p:nvSpPr>
          <p:cNvPr id="6" name="Rounded Rectangle 5"/>
          <p:cNvSpPr/>
          <p:nvPr/>
        </p:nvSpPr>
        <p:spPr>
          <a:xfrm>
            <a:off x="6309360" y="1645920"/>
            <a:ext cx="5120640" cy="4389120"/>
          </a:xfrm>
          <a:prstGeom prst="roundRect">
            <a:avLst/>
          </a:prstGeom>
          <a:solidFill>
            <a:srgbClr val="FEFCE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828800"/>
            <a:ext cx="4572000" cy="4023360"/>
          </a:xfrm>
          <a:prstGeom prst="rect">
            <a:avLst/>
          </a:prstGeom>
          <a:noFill/>
        </p:spPr>
        <p:txBody>
          <a:bodyPr wrap="square">
            <a:spAutoFit/>
          </a:bodyPr>
          <a:lstStyle/>
          <a:p>
            <a:pPr>
              <a:spcAft>
                <a:spcPts val="1000"/>
              </a:spcAft>
              <a:defRPr sz="1300" b="1">
                <a:solidFill>
                  <a:srgbClr val="F59E0B"/>
                </a:solidFill>
              </a:defRPr>
            </a:pPr>
            <a:r>
              <a:t>⚠ ACTIVE DUPLICATE WARNING MODAL</a:t>
            </a:r>
          </a:p>
          <a:p>
            <a:pPr>
              <a:spcAft>
                <a:spcPts val="1200"/>
              </a:spcAft>
              <a:defRPr sz="1200" b="1">
                <a:solidFill>
                  <a:srgbClr val="1E293B"/>
                </a:solidFill>
              </a:defRPr>
            </a:pPr>
            <a:r>
              <a:t>Similar Request Found:</a:t>
            </a:r>
            <a:br/>
            <a:r>
              <a:t>PR-2026-000101 | 10 Units | Status: UNDER_REVIEW</a:t>
            </a:r>
            <a:br/>
            <a:r>
              <a:t>Requester: Alex Turner (IT Department)</a:t>
            </a:r>
          </a:p>
          <a:p>
            <a:pPr>
              <a:defRPr sz="1100">
                <a:solidFill>
                  <a:srgbClr val="64748B"/>
                </a:solidFill>
              </a:defRPr>
            </a:pPr>
            <a:r>
              <a:t>Variance: 9.1% (Within 20% Threshold)</a:t>
            </a:r>
            <a:br/>
            <a:br/>
            <a:r>
              <a:t>Governed Action:</a:t>
            </a:r>
            <a:br/>
            <a:r>
              <a:t>Requester is shown the existing PR reference and must explicitly acknowledge duplicate review before submission proceeds.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PRE-RFQ VENDOR INTELLIGENCE</a:t>
            </a:r>
          </a:p>
          <a:p>
            <a:pPr>
              <a:defRPr sz="2600" b="1">
                <a:solidFill>
                  <a:srgbClr val="001830"/>
                </a:solidFill>
                <a:latin typeface="Segoe UI"/>
              </a:defRPr>
            </a:pPr>
            <a:r>
              <a:t>Decision #3: Who Should We Consider?</a:t>
            </a:r>
          </a:p>
        </p:txBody>
      </p:sp>
      <p:sp>
        <p:nvSpPr>
          <p:cNvPr id="4" name="Rounded Rectangle 3"/>
          <p:cNvSpPr/>
          <p:nvPr/>
        </p:nvSpPr>
        <p:spPr>
          <a:xfrm>
            <a:off x="731520" y="1645920"/>
            <a:ext cx="3383280" cy="3474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3108960"/>
          </a:xfrm>
          <a:prstGeom prst="rect">
            <a:avLst/>
          </a:prstGeom>
          <a:noFill/>
        </p:spPr>
        <p:txBody>
          <a:bodyPr wrap="square">
            <a:spAutoFit/>
          </a:bodyPr>
          <a:lstStyle/>
          <a:p>
            <a:pPr>
              <a:defRPr sz="1300" b="1">
                <a:solidFill>
                  <a:srgbClr val="001830"/>
                </a:solidFill>
              </a:defRPr>
            </a:pPr>
            <a:r>
              <a:t>APEX TECH SUPPLIES</a:t>
            </a:r>
          </a:p>
          <a:p>
            <a:pPr>
              <a:spcAft>
                <a:spcPts val="800"/>
              </a:spcAft>
              <a:defRPr sz="1200" b="1">
                <a:solidFill>
                  <a:srgbClr val="10B981"/>
                </a:solidFill>
              </a:defRPr>
            </a:pPr>
            <a:r>
              <a:t>Rank #1 • Score: 92.4/100</a:t>
            </a:r>
          </a:p>
          <a:p>
            <a:pPr>
              <a:spcAft>
                <a:spcPts val="1200"/>
              </a:spcAft>
              <a:defRPr sz="1100">
                <a:solidFill>
                  <a:srgbClr val="64748B"/>
                </a:solidFill>
              </a:defRPr>
            </a:pPr>
            <a:r>
              <a:t>Top hardware supplier. Fast delivery and consistent OEM compliance.</a:t>
            </a:r>
          </a:p>
          <a:p>
            <a:pPr>
              <a:defRPr sz="1000" b="1">
                <a:solidFill>
                  <a:srgbClr val="10B981"/>
                </a:solidFill>
              </a:defRPr>
            </a:pPr>
            <a:r>
              <a:t>Badge: ★ PREFERRED VENDOR</a:t>
            </a:r>
          </a:p>
        </p:txBody>
      </p:sp>
      <p:sp>
        <p:nvSpPr>
          <p:cNvPr id="6" name="Rounded Rectangle 5"/>
          <p:cNvSpPr/>
          <p:nvPr/>
        </p:nvSpPr>
        <p:spPr>
          <a:xfrm>
            <a:off x="4389120" y="1645920"/>
            <a:ext cx="3383280" cy="3474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3108960"/>
          </a:xfrm>
          <a:prstGeom prst="rect">
            <a:avLst/>
          </a:prstGeom>
          <a:noFill/>
        </p:spPr>
        <p:txBody>
          <a:bodyPr wrap="square">
            <a:spAutoFit/>
          </a:bodyPr>
          <a:lstStyle/>
          <a:p>
            <a:pPr>
              <a:defRPr sz="1300" b="1">
                <a:solidFill>
                  <a:srgbClr val="001830"/>
                </a:solidFill>
              </a:defRPr>
            </a:pPr>
            <a:r>
              <a:t>SILICON EDGE SYSTEMS</a:t>
            </a:r>
          </a:p>
          <a:p>
            <a:pPr>
              <a:spcAft>
                <a:spcPts val="800"/>
              </a:spcAft>
              <a:defRPr sz="1200" b="1">
                <a:solidFill>
                  <a:srgbClr val="0072CE"/>
                </a:solidFill>
              </a:defRPr>
            </a:pPr>
            <a:r>
              <a:t>Rank #2 • Score: 88.1/100</a:t>
            </a:r>
          </a:p>
          <a:p>
            <a:pPr>
              <a:spcAft>
                <a:spcPts val="1200"/>
              </a:spcAft>
              <a:defRPr sz="1100">
                <a:solidFill>
                  <a:srgbClr val="64748B"/>
                </a:solidFill>
              </a:defRPr>
            </a:pPr>
            <a:r>
              <a:t>Strong technical capability, but occasional documentation lag.</a:t>
            </a:r>
          </a:p>
          <a:p>
            <a:pPr>
              <a:defRPr sz="1000" b="1">
                <a:solidFill>
                  <a:srgbClr val="0072CE"/>
                </a:solidFill>
              </a:defRPr>
            </a:pPr>
            <a:r>
              <a:t>Badge: HIGH RELIABILITY</a:t>
            </a:r>
          </a:p>
        </p:txBody>
      </p:sp>
      <p:sp>
        <p:nvSpPr>
          <p:cNvPr id="8" name="Rounded Rectangle 7"/>
          <p:cNvSpPr/>
          <p:nvPr/>
        </p:nvSpPr>
        <p:spPr>
          <a:xfrm>
            <a:off x="8046720" y="1645920"/>
            <a:ext cx="3383280" cy="3474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3108960"/>
          </a:xfrm>
          <a:prstGeom prst="rect">
            <a:avLst/>
          </a:prstGeom>
          <a:noFill/>
        </p:spPr>
        <p:txBody>
          <a:bodyPr wrap="square">
            <a:spAutoFit/>
          </a:bodyPr>
          <a:lstStyle/>
          <a:p>
            <a:pPr>
              <a:defRPr sz="1300" b="1">
                <a:solidFill>
                  <a:srgbClr val="001830"/>
                </a:solidFill>
              </a:defRPr>
            </a:pPr>
            <a:r>
              <a:t>BYTECRAFT COMPUTING</a:t>
            </a:r>
          </a:p>
          <a:p>
            <a:pPr>
              <a:spcAft>
                <a:spcPts val="800"/>
              </a:spcAft>
              <a:defRPr sz="1200" b="1">
                <a:solidFill>
                  <a:srgbClr val="8B5CF6"/>
                </a:solidFill>
              </a:defRPr>
            </a:pPr>
            <a:r>
              <a:t>Rank #3 • Score: 84.6/100</a:t>
            </a:r>
          </a:p>
          <a:p>
            <a:pPr>
              <a:spcAft>
                <a:spcPts val="1200"/>
              </a:spcAft>
              <a:defRPr sz="1100">
                <a:solidFill>
                  <a:srgbClr val="64748B"/>
                </a:solidFill>
              </a:defRPr>
            </a:pPr>
            <a:r>
              <a:t>Fastest delivery turnaround for urgent batch hardware requests.</a:t>
            </a:r>
          </a:p>
          <a:p>
            <a:pPr>
              <a:defRPr sz="1000" b="1">
                <a:solidFill>
                  <a:srgbClr val="8B5CF6"/>
                </a:solidFill>
              </a:defRPr>
            </a:pPr>
            <a:r>
              <a:t>Badge: SPEED LEADER</a:t>
            </a:r>
          </a:p>
        </p:txBody>
      </p:sp>
      <p:sp>
        <p:nvSpPr>
          <p:cNvPr id="10" name="Rounded Rectangle 9"/>
          <p:cNvSpPr/>
          <p:nvPr/>
        </p:nvSpPr>
        <p:spPr>
          <a:xfrm>
            <a:off x="731520" y="5303520"/>
            <a:ext cx="10728655" cy="822960"/>
          </a:xfrm>
          <a:prstGeom prst="roundRect">
            <a:avLst/>
          </a:prstGeom>
          <a:solidFill>
            <a:srgbClr val="001830"/>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394960"/>
            <a:ext cx="10332720" cy="640080"/>
          </a:xfrm>
          <a:prstGeom prst="rect">
            <a:avLst/>
          </a:prstGeom>
          <a:noFill/>
        </p:spPr>
        <p:txBody>
          <a:bodyPr wrap="none">
            <a:spAutoFit/>
          </a:bodyPr>
          <a:lstStyle/>
          <a:p>
            <a:pPr algn="ctr">
              <a:defRPr sz="1400" b="1">
                <a:solidFill>
                  <a:srgbClr val="00A3E0"/>
                </a:solidFill>
              </a:defRPr>
            </a:pPr>
            <a:r>
              <a:t>How does IPMS determine these rankings? It combines structured metrics with human experience.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DUAL-SOURCE PROCUREMENT INTELLIGENCE</a:t>
            </a:r>
          </a:p>
          <a:p>
            <a:pPr>
              <a:defRPr sz="2600" b="1">
                <a:solidFill>
                  <a:srgbClr val="001830"/>
                </a:solidFill>
                <a:latin typeface="Segoe UI"/>
              </a:defRPr>
            </a:pPr>
            <a:r>
              <a:t>Structured Data Tells Us What Happened. People Tell Us Why.</a:t>
            </a:r>
          </a:p>
        </p:txBody>
      </p:sp>
      <p:sp>
        <p:nvSpPr>
          <p:cNvPr id="4" name="Rounded Rectangle 3"/>
          <p:cNvSpPr/>
          <p:nvPr/>
        </p:nvSpPr>
        <p:spPr>
          <a:xfrm>
            <a:off x="731520" y="1645920"/>
            <a:ext cx="51206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a:spAutoFit/>
          </a:bodyPr>
          <a:lstStyle/>
          <a:p>
            <a:pPr>
              <a:spcAft>
                <a:spcPts val="1200"/>
              </a:spcAft>
              <a:defRPr sz="1400" b="1">
                <a:solidFill>
                  <a:srgbClr val="0072CE"/>
                </a:solidFill>
              </a:defRPr>
            </a:pPr>
            <a:r>
              <a:t>STRUCTURED ENTERPRISE DATA</a:t>
            </a:r>
          </a:p>
          <a:p>
            <a:pPr>
              <a:spcAft>
                <a:spcPts val="600"/>
              </a:spcAft>
              <a:defRPr sz="1100">
                <a:solidFill>
                  <a:srgbClr val="1E293B"/>
                </a:solidFill>
              </a:defRPr>
            </a:pPr>
            <a:r>
              <a:t>• Historical Quality Score: 95.0% Pass Rate</a:t>
            </a:r>
          </a:p>
          <a:p>
            <a:pPr>
              <a:spcAft>
                <a:spcPts val="600"/>
              </a:spcAft>
              <a:defRPr sz="1100">
                <a:solidFill>
                  <a:srgbClr val="1E293B"/>
                </a:solidFill>
              </a:defRPr>
            </a:pPr>
            <a:r>
              <a:t>• On-Time Delivery Reliability: 92.0% Historical</a:t>
            </a:r>
          </a:p>
          <a:p>
            <a:pPr>
              <a:spcAft>
                <a:spcPts val="600"/>
              </a:spcAft>
              <a:defRPr sz="1100">
                <a:solidFill>
                  <a:srgbClr val="1E293B"/>
                </a:solidFill>
              </a:defRPr>
            </a:pPr>
            <a:r>
              <a:t>• Item-Specific Track Record: 90.0% Compatibility</a:t>
            </a:r>
          </a:p>
          <a:p>
            <a:pPr>
              <a:spcAft>
                <a:spcPts val="600"/>
              </a:spcAft>
              <a:defRPr sz="1100">
                <a:solidFill>
                  <a:srgbClr val="1E293B"/>
                </a:solidFill>
              </a:defRPr>
            </a:pPr>
            <a:r>
              <a:t>• Price Competitiveness Index: 88.0% Market Benchmark</a:t>
            </a:r>
          </a:p>
          <a:p>
            <a:pPr>
              <a:spcAft>
                <a:spcPts val="600"/>
              </a:spcAft>
              <a:defRPr sz="1100">
                <a:solidFill>
                  <a:srgbClr val="1E293B"/>
                </a:solidFill>
              </a:defRPr>
            </a:pPr>
            <a:r>
              <a:t>• Order Fulfillment Completeness: 98.0% Acceptance</a:t>
            </a:r>
          </a:p>
        </p:txBody>
      </p:sp>
      <p:sp>
        <p:nvSpPr>
          <p:cNvPr id="6" name="Rounded Rectangle 5"/>
          <p:cNvSpPr/>
          <p:nvPr/>
        </p:nvSpPr>
        <p:spPr>
          <a:xfrm>
            <a:off x="6309360" y="1645920"/>
            <a:ext cx="5120640" cy="4389120"/>
          </a:xfrm>
          <a:prstGeom prst="roundRect">
            <a:avLst/>
          </a:prstGeom>
          <a:solidFill>
            <a:srgbClr val="F5F3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a:spAutoFit/>
          </a:bodyPr>
          <a:lstStyle/>
          <a:p>
            <a:pPr>
              <a:spcAft>
                <a:spcPts val="1200"/>
              </a:spcAft>
              <a:defRPr sz="1400" b="1">
                <a:solidFill>
                  <a:srgbClr val="8B5CF6"/>
                </a:solidFill>
              </a:defRPr>
            </a:pPr>
            <a:r>
              <a:t>QUALITATIVE HUMAN EXPERIENCE</a:t>
            </a:r>
          </a:p>
          <a:p>
            <a:pPr>
              <a:spcAft>
                <a:spcPts val="600"/>
              </a:spcAft>
              <a:defRPr sz="1100" i="1">
                <a:solidFill>
                  <a:srgbClr val="1E293B"/>
                </a:solidFill>
              </a:defRPr>
            </a:pPr>
            <a:r>
              <a:t>💬 "Excellent technical support during urgent server deployment."</a:t>
            </a:r>
          </a:p>
          <a:p>
            <a:pPr>
              <a:spcAft>
                <a:spcPts val="600"/>
              </a:spcAft>
              <a:defRPr sz="1100" i="1">
                <a:solidFill>
                  <a:srgbClr val="1E293B"/>
                </a:solidFill>
              </a:defRPr>
            </a:pPr>
            <a:r>
              <a:t>💬 "Packaging was flawless; zero transit damage across 100 units."</a:t>
            </a:r>
          </a:p>
          <a:p>
            <a:pPr>
              <a:spcAft>
                <a:spcPts val="600"/>
              </a:spcAft>
              <a:defRPr sz="1100" i="1">
                <a:solidFill>
                  <a:srgbClr val="1E293B"/>
                </a:solidFill>
              </a:defRPr>
            </a:pPr>
            <a:r>
              <a:t>💬 "Communication during unexpected customs delays was proactive."</a:t>
            </a:r>
          </a:p>
          <a:p>
            <a:pPr>
              <a:spcAft>
                <a:spcPts val="600"/>
              </a:spcAft>
              <a:defRPr sz="1100" i="1">
                <a:solidFill>
                  <a:srgbClr val="1E293B"/>
                </a:solidFill>
              </a:defRPr>
            </a:pPr>
            <a:r>
              <a:t>💬 "Minor firmware mismatch resolved within 24 hours under SLA."</a:t>
            </a:r>
          </a:p>
          <a:p>
            <a:pPr>
              <a:spcAft>
                <a:spcPts val="600"/>
              </a:spcAft>
              <a:defRPr sz="1100" i="1">
                <a:solidFill>
                  <a:srgbClr val="1E293B"/>
                </a:solidFill>
              </a:defRPr>
            </a:pPr>
            <a:r>
              <a:t>💬 "Reliable delivery partner for high-spec workstations."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CONTINUOUS FEEDBACK INGESTION</a:t>
            </a:r>
          </a:p>
          <a:p>
            <a:pPr>
              <a:defRPr sz="2600" b="1">
                <a:solidFill>
                  <a:srgbClr val="001830"/>
                </a:solidFill>
                <a:latin typeface="Segoe UI"/>
              </a:defRPr>
            </a:pPr>
            <a:r>
              <a:t>Vendor Intelligence Should Not Be Static</a:t>
            </a:r>
          </a:p>
        </p:txBody>
      </p:sp>
      <p:sp>
        <p:nvSpPr>
          <p:cNvPr id="4" name="Rounded Rectangle 3"/>
          <p:cNvSpPr/>
          <p:nvPr/>
        </p:nvSpPr>
        <p:spPr>
          <a:xfrm>
            <a:off x="7315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40280" cy="4023360"/>
          </a:xfrm>
          <a:prstGeom prst="rect">
            <a:avLst/>
          </a:prstGeom>
          <a:noFill/>
        </p:spPr>
        <p:txBody>
          <a:bodyPr wrap="square">
            <a:spAutoFit/>
          </a:bodyPr>
          <a:lstStyle/>
          <a:p>
            <a:pPr>
              <a:spcAft>
                <a:spcPts val="1200"/>
              </a:spcAft>
              <a:defRPr sz="1200" b="1">
                <a:solidFill>
                  <a:srgbClr val="0072CE"/>
                </a:solidFill>
              </a:defRPr>
            </a:pPr>
            <a:r>
              <a:t>1. FEEDBACK COLLECTION</a:t>
            </a:r>
          </a:p>
          <a:p>
            <a:pPr>
              <a:defRPr sz="1100">
                <a:solidFill>
                  <a:srgbClr val="64748B"/>
                </a:solidFill>
              </a:defRPr>
            </a:pPr>
            <a:r>
              <a:t>Procurement stakeholders submit structured ratings &amp; qualitative observations via quarterly survey forms.</a:t>
            </a:r>
          </a:p>
        </p:txBody>
      </p:sp>
      <p:sp>
        <p:nvSpPr>
          <p:cNvPr id="6" name="Rounded Rectangle 5"/>
          <p:cNvSpPr/>
          <p:nvPr/>
        </p:nvSpPr>
        <p:spPr>
          <a:xfrm>
            <a:off x="34747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828800"/>
            <a:ext cx="2240280" cy="4023360"/>
          </a:xfrm>
          <a:prstGeom prst="rect">
            <a:avLst/>
          </a:prstGeom>
          <a:noFill/>
        </p:spPr>
        <p:txBody>
          <a:bodyPr wrap="square">
            <a:spAutoFit/>
          </a:bodyPr>
          <a:lstStyle/>
          <a:p>
            <a:pPr>
              <a:spcAft>
                <a:spcPts val="1200"/>
              </a:spcAft>
              <a:defRPr sz="1200" b="1">
                <a:solidFill>
                  <a:srgbClr val="8B5CF6"/>
                </a:solidFill>
              </a:defRPr>
            </a:pPr>
            <a:r>
              <a:t>2. CSV INGESTION</a:t>
            </a:r>
          </a:p>
          <a:p>
            <a:pPr>
              <a:defRPr sz="1100">
                <a:solidFill>
                  <a:srgbClr val="64748B"/>
                </a:solidFill>
              </a:defRPr>
            </a:pPr>
            <a:r>
              <a:t>Batch ingestion parses quality, delivery, and responsiveness scores alongside free-text comments.</a:t>
            </a:r>
          </a:p>
        </p:txBody>
      </p:sp>
      <p:sp>
        <p:nvSpPr>
          <p:cNvPr id="8" name="Rounded Rectangle 7"/>
          <p:cNvSpPr/>
          <p:nvPr/>
        </p:nvSpPr>
        <p:spPr>
          <a:xfrm>
            <a:off x="62179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2240280" cy="4023360"/>
          </a:xfrm>
          <a:prstGeom prst="rect">
            <a:avLst/>
          </a:prstGeom>
          <a:noFill/>
        </p:spPr>
        <p:txBody>
          <a:bodyPr wrap="square">
            <a:spAutoFit/>
          </a:bodyPr>
          <a:lstStyle/>
          <a:p>
            <a:pPr>
              <a:spcAft>
                <a:spcPts val="1200"/>
              </a:spcAft>
              <a:defRPr sz="1200" b="1">
                <a:solidFill>
                  <a:srgbClr val="00A3E0"/>
                </a:solidFill>
              </a:defRPr>
            </a:pPr>
            <a:r>
              <a:t>3. VECTOR EMBEDDING</a:t>
            </a:r>
          </a:p>
          <a:p>
            <a:pPr>
              <a:defRPr sz="1100">
                <a:solidFill>
                  <a:srgbClr val="64748B"/>
                </a:solidFill>
              </a:defRPr>
            </a:pPr>
            <a:r>
              <a:t>Qualitative review narratives are converted into dense vector embeddings for semantic retrieval.</a:t>
            </a:r>
          </a:p>
        </p:txBody>
      </p:sp>
      <p:sp>
        <p:nvSpPr>
          <p:cNvPr id="10" name="Rounded Rectangle 9"/>
          <p:cNvSpPr/>
          <p:nvPr/>
        </p:nvSpPr>
        <p:spPr>
          <a:xfrm>
            <a:off x="89611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28800"/>
            <a:ext cx="2240280" cy="4023360"/>
          </a:xfrm>
          <a:prstGeom prst="rect">
            <a:avLst/>
          </a:prstGeom>
          <a:noFill/>
        </p:spPr>
        <p:txBody>
          <a:bodyPr wrap="square">
            <a:spAutoFit/>
          </a:bodyPr>
          <a:lstStyle/>
          <a:p>
            <a:pPr>
              <a:spcAft>
                <a:spcPts val="1200"/>
              </a:spcAft>
              <a:defRPr sz="1200" b="1">
                <a:solidFill>
                  <a:srgbClr val="10B981"/>
                </a:solidFill>
              </a:defRPr>
            </a:pPr>
            <a:r>
              <a:t>4. GROUNDED AI STORE</a:t>
            </a:r>
          </a:p>
          <a:p>
            <a:pPr>
              <a:defRPr sz="1100">
                <a:solidFill>
                  <a:srgbClr val="64748B"/>
                </a:solidFill>
              </a:defRPr>
            </a:pPr>
            <a:r>
              <a:t>Unified intelligence pool ready for zero-latency retrieval during real-time PR evaluations.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RAG PIPELINE ARCHITECTURE</a:t>
            </a:r>
          </a:p>
          <a:p>
            <a:pPr>
              <a:defRPr sz="2600" b="1">
                <a:solidFill>
                  <a:srgbClr val="001830"/>
                </a:solidFill>
                <a:latin typeface="Segoe UI"/>
              </a:defRPr>
            </a:pPr>
            <a:r>
              <a:t>From Human Experience to Decision Intelligence</a:t>
            </a:r>
          </a:p>
        </p:txBody>
      </p:sp>
      <p:sp>
        <p:nvSpPr>
          <p:cNvPr id="4" name="Rounded Rectangle 3"/>
          <p:cNvSpPr/>
          <p:nvPr/>
        </p:nvSpPr>
        <p:spPr>
          <a:xfrm>
            <a:off x="731520" y="1645920"/>
            <a:ext cx="51206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a:spAutoFit/>
          </a:bodyPr>
          <a:lstStyle/>
          <a:p>
            <a:pPr>
              <a:spcAft>
                <a:spcPts val="1000"/>
              </a:spcAft>
              <a:defRPr sz="1300" b="1">
                <a:solidFill>
                  <a:srgbClr val="0072CE"/>
                </a:solidFill>
              </a:defRPr>
            </a:pPr>
            <a:r>
              <a:t>SEMANTIC RETRIEVAL HIERARCHY</a:t>
            </a:r>
          </a:p>
          <a:p>
            <a:pPr>
              <a:defRPr sz="1100" b="1">
                <a:solidFill>
                  <a:srgbClr val="1E293B"/>
                </a:solidFill>
              </a:defRPr>
            </a:pPr>
            <a:r>
              <a:t>▶ Level 1: Exact Item Experience</a:t>
            </a:r>
          </a:p>
          <a:p>
            <a:pPr>
              <a:spcAft>
                <a:spcPts val="600"/>
              </a:spcAft>
              <a:defRPr sz="1000">
                <a:solidFill>
                  <a:srgbClr val="64748B"/>
                </a:solidFill>
              </a:defRPr>
            </a:pPr>
            <a:r>
              <a:t>   Retrieves reviews specific to the requested SKU/part.</a:t>
            </a:r>
          </a:p>
          <a:p>
            <a:pPr>
              <a:defRPr sz="1100" b="1">
                <a:solidFill>
                  <a:srgbClr val="1E293B"/>
                </a:solidFill>
              </a:defRPr>
            </a:pPr>
            <a:r>
              <a:t>▶ Level 2: Category Experience</a:t>
            </a:r>
          </a:p>
          <a:p>
            <a:pPr>
              <a:spcAft>
                <a:spcPts val="600"/>
              </a:spcAft>
              <a:defRPr sz="1000">
                <a:solidFill>
                  <a:srgbClr val="64748B"/>
                </a:solidFill>
              </a:defRPr>
            </a:pPr>
            <a:r>
              <a:t>   Falls back to broader category performance if SKU history is sparse.</a:t>
            </a:r>
          </a:p>
          <a:p>
            <a:pPr>
              <a:defRPr sz="1100" b="1">
                <a:solidFill>
                  <a:srgbClr val="1E293B"/>
                </a:solidFill>
              </a:defRPr>
            </a:pPr>
            <a:r>
              <a:t>▶ Level 3: General Vendor Track Record</a:t>
            </a:r>
          </a:p>
          <a:p>
            <a:pPr>
              <a:spcAft>
                <a:spcPts val="600"/>
              </a:spcAft>
              <a:defRPr sz="1000">
                <a:solidFill>
                  <a:srgbClr val="64748B"/>
                </a:solidFill>
              </a:defRPr>
            </a:pPr>
            <a:r>
              <a:t>   Incorporates corporate-level fulfillment and SLA records.</a:t>
            </a:r>
          </a:p>
        </p:txBody>
      </p:sp>
      <p:sp>
        <p:nvSpPr>
          <p:cNvPr id="6" name="Rounded Rectangle 5"/>
          <p:cNvSpPr/>
          <p:nvPr/>
        </p:nvSpPr>
        <p:spPr>
          <a:xfrm>
            <a:off x="6309360" y="1645920"/>
            <a:ext cx="5120640" cy="4389120"/>
          </a:xfrm>
          <a:prstGeom prst="roundRect">
            <a:avLst/>
          </a:prstGeom>
          <a:solidFill>
            <a:srgbClr val="F5F3FF"/>
          </a:solidFill>
          <a:ln w="1524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a:spAutoFit/>
          </a:bodyPr>
          <a:lstStyle/>
          <a:p>
            <a:pPr>
              <a:spcAft>
                <a:spcPts val="1000"/>
              </a:spcAft>
              <a:defRPr sz="1300" b="1">
                <a:solidFill>
                  <a:srgbClr val="8B5CF6"/>
                </a:solidFill>
              </a:defRPr>
            </a:pPr>
            <a:r>
              <a:t>GROUNDED LLM SYNTHESIS OUTPUT</a:t>
            </a:r>
          </a:p>
          <a:p>
            <a:pPr>
              <a:spcAft>
                <a:spcPts val="600"/>
              </a:spcAft>
              <a:defRPr sz="1100">
                <a:solidFill>
                  <a:srgbClr val="1E293B"/>
                </a:solidFill>
              </a:defRPr>
            </a:pPr>
            <a:r>
              <a:t>• Key Strengths: Flawless packaging; 100% on-time fulfillment; proactive customs clearance.</a:t>
            </a:r>
          </a:p>
          <a:p>
            <a:pPr>
              <a:spcAft>
                <a:spcPts val="600"/>
              </a:spcAft>
              <a:defRPr sz="1100">
                <a:solidFill>
                  <a:srgbClr val="1E293B"/>
                </a:solidFill>
              </a:defRPr>
            </a:pPr>
            <a:r>
              <a:t>• Operational Risks: Premium pricing on urgent expedited delivery brackets.</a:t>
            </a:r>
          </a:p>
          <a:p>
            <a:pPr>
              <a:spcAft>
                <a:spcPts val="600"/>
              </a:spcAft>
              <a:defRPr sz="1100">
                <a:solidFill>
                  <a:srgbClr val="1E293B"/>
                </a:solidFill>
              </a:defRPr>
            </a:pPr>
            <a:r>
              <a:t>• Evidence Confidence: HIGH (Based on 12 verified quarterly reviews).</a:t>
            </a:r>
          </a:p>
          <a:p>
            <a:pPr>
              <a:spcAft>
                <a:spcPts val="600"/>
              </a:spcAft>
              <a:defRPr sz="1100">
                <a:solidFill>
                  <a:srgbClr val="1E293B"/>
                </a:solidFill>
              </a:defRPr>
            </a:pPr>
            <a:r>
              <a:t>• Analytical Score: 92.4 / 100 (Top Recommended Supplier Candidate).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THE ZERO-HALLUCINATION BOUNDARY</a:t>
            </a:r>
          </a:p>
          <a:p>
            <a:pPr>
              <a:defRPr sz="2600" b="1">
                <a:solidFill>
                  <a:srgbClr val="001830"/>
                </a:solidFill>
                <a:latin typeface="Segoe UI"/>
              </a:defRPr>
            </a:pPr>
            <a:r>
              <a:t>Where We Deliberately Chose NOT to Use AI</a:t>
            </a:r>
          </a:p>
        </p:txBody>
      </p:sp>
      <p:sp>
        <p:nvSpPr>
          <p:cNvPr id="4" name="Rounded Rectangle 3"/>
          <p:cNvSpPr/>
          <p:nvPr/>
        </p:nvSpPr>
        <p:spPr>
          <a:xfrm>
            <a:off x="731520" y="1645920"/>
            <a:ext cx="10728655" cy="822960"/>
          </a:xfrm>
          <a:prstGeom prst="roundRect">
            <a:avLst/>
          </a:prstGeom>
          <a:solidFill>
            <a:srgbClr val="001830"/>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731520"/>
          </a:xfrm>
          <a:prstGeom prst="rect">
            <a:avLst/>
          </a:prstGeom>
          <a:noFill/>
        </p:spPr>
        <p:txBody>
          <a:bodyPr wrap="none">
            <a:spAutoFit/>
          </a:bodyPr>
          <a:lstStyle/>
          <a:p>
            <a:pPr algn="ctr">
              <a:defRPr sz="2000" b="1">
                <a:solidFill>
                  <a:srgbClr val="00A3E0"/>
                </a:solidFill>
              </a:defRPr>
            </a:pPr>
            <a:r>
              <a:t>"WE USE AI FOR AMBIGUITY, NOT ARITHMETIC."</a:t>
            </a:r>
          </a:p>
        </p:txBody>
      </p:sp>
      <p:sp>
        <p:nvSpPr>
          <p:cNvPr id="6" name="Rounded Rectangle 5"/>
          <p:cNvSpPr/>
          <p:nvPr/>
        </p:nvSpPr>
        <p:spPr>
          <a:xfrm>
            <a:off x="731520" y="2743200"/>
            <a:ext cx="5120640" cy="3474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926080"/>
            <a:ext cx="4572000" cy="3108960"/>
          </a:xfrm>
          <a:prstGeom prst="rect">
            <a:avLst/>
          </a:prstGeom>
          <a:noFill/>
        </p:spPr>
        <p:txBody>
          <a:bodyPr wrap="square">
            <a:spAutoFit/>
          </a:bodyPr>
          <a:lstStyle/>
          <a:p>
            <a:pPr>
              <a:spcAft>
                <a:spcPts val="800"/>
              </a:spcAft>
              <a:defRPr sz="1300" b="1">
                <a:solidFill>
                  <a:srgbClr val="0072CE"/>
                </a:solidFill>
              </a:defRPr>
            </a:pPr>
            <a:r>
              <a:t>DETERMINISTIC / ZERO AI</a:t>
            </a:r>
          </a:p>
          <a:p>
            <a:pPr>
              <a:spcAft>
                <a:spcPts val="400"/>
              </a:spcAft>
              <a:defRPr sz="1100">
                <a:solidFill>
                  <a:srgbClr val="1E293B"/>
                </a:solidFill>
              </a:defRPr>
            </a:pPr>
            <a:r>
              <a:t>• Inventory Stock &amp; Shortage Math</a:t>
            </a:r>
          </a:p>
          <a:p>
            <a:pPr>
              <a:spcAft>
                <a:spcPts val="400"/>
              </a:spcAft>
              <a:defRPr sz="1100">
                <a:solidFill>
                  <a:srgbClr val="1E293B"/>
                </a:solidFill>
              </a:defRPr>
            </a:pPr>
            <a:r>
              <a:t>• ±20% Duplicate Request Detection</a:t>
            </a:r>
          </a:p>
          <a:p>
            <a:pPr>
              <a:spcAft>
                <a:spcPts val="400"/>
              </a:spcAft>
              <a:defRPr sz="1100">
                <a:solidFill>
                  <a:srgbClr val="1E293B"/>
                </a:solidFill>
              </a:defRPr>
            </a:pPr>
            <a:r>
              <a:t>• Workflow Role &amp; Authority Validation</a:t>
            </a:r>
          </a:p>
          <a:p>
            <a:pPr>
              <a:spcAft>
                <a:spcPts val="400"/>
              </a:spcAft>
              <a:defRPr sz="1100">
                <a:solidFill>
                  <a:srgbClr val="1E293B"/>
                </a:solidFill>
              </a:defRPr>
            </a:pPr>
            <a:r>
              <a:t>• RFQ Dispatch &amp; Deadline Enforcement</a:t>
            </a:r>
          </a:p>
          <a:p>
            <a:pPr>
              <a:spcAft>
                <a:spcPts val="400"/>
              </a:spcAft>
              <a:defRPr sz="1100">
                <a:solidFill>
                  <a:srgbClr val="1E293B"/>
                </a:solidFill>
              </a:defRPr>
            </a:pPr>
            <a:r>
              <a:t>• Purchase Order PDF Compilation</a:t>
            </a:r>
          </a:p>
          <a:p>
            <a:pPr>
              <a:spcAft>
                <a:spcPts val="400"/>
              </a:spcAft>
              <a:defRPr sz="1100">
                <a:solidFill>
                  <a:srgbClr val="1E293B"/>
                </a:solidFill>
              </a:defRPr>
            </a:pPr>
            <a:r>
              <a:t>• Mathematical Multi-Factor Quotation Scoring</a:t>
            </a:r>
          </a:p>
        </p:txBody>
      </p:sp>
      <p:sp>
        <p:nvSpPr>
          <p:cNvPr id="8" name="Rounded Rectangle 7"/>
          <p:cNvSpPr/>
          <p:nvPr/>
        </p:nvSpPr>
        <p:spPr>
          <a:xfrm>
            <a:off x="6309360" y="2743200"/>
            <a:ext cx="5120640" cy="3474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926080"/>
            <a:ext cx="4572000" cy="3108960"/>
          </a:xfrm>
          <a:prstGeom prst="rect">
            <a:avLst/>
          </a:prstGeom>
          <a:noFill/>
        </p:spPr>
        <p:txBody>
          <a:bodyPr wrap="square">
            <a:spAutoFit/>
          </a:bodyPr>
          <a:lstStyle/>
          <a:p>
            <a:pPr>
              <a:spcAft>
                <a:spcPts val="800"/>
              </a:spcAft>
              <a:defRPr sz="1300" b="1">
                <a:solidFill>
                  <a:srgbClr val="8B5CF6"/>
                </a:solidFill>
              </a:defRPr>
            </a:pPr>
            <a:r>
              <a:t>GENERATIVE AI / LLM</a:t>
            </a:r>
          </a:p>
          <a:p>
            <a:pPr>
              <a:spcAft>
                <a:spcPts val="400"/>
              </a:spcAft>
              <a:defRPr sz="1100">
                <a:solidFill>
                  <a:srgbClr val="1E293B"/>
                </a:solidFill>
              </a:defRPr>
            </a:pPr>
            <a:r>
              <a:t>• Qualitative Vendor Review Synthesis</a:t>
            </a:r>
          </a:p>
          <a:p>
            <a:pPr>
              <a:spcAft>
                <a:spcPts val="400"/>
              </a:spcAft>
              <a:defRPr sz="1100">
                <a:solidFill>
                  <a:srgbClr val="1E293B"/>
                </a:solidFill>
              </a:defRPr>
            </a:pPr>
            <a:r>
              <a:t>• Operational Strengths &amp; Risk Extraction</a:t>
            </a:r>
          </a:p>
          <a:p>
            <a:pPr>
              <a:spcAft>
                <a:spcPts val="400"/>
              </a:spcAft>
              <a:defRPr sz="1100">
                <a:solidFill>
                  <a:srgbClr val="1E293B"/>
                </a:solidFill>
              </a:defRPr>
            </a:pPr>
            <a:r>
              <a:t>• Confidence Level Justification</a:t>
            </a:r>
          </a:p>
          <a:p>
            <a:pPr>
              <a:spcAft>
                <a:spcPts val="400"/>
              </a:spcAft>
              <a:defRPr sz="1100">
                <a:solidFill>
                  <a:srgbClr val="1E293B"/>
                </a:solidFill>
              </a:defRPr>
            </a:pPr>
            <a:r>
              <a:t>• Tradeoff Explanation in Bid Evaluation</a:t>
            </a:r>
          </a:p>
          <a:p>
            <a:pPr>
              <a:spcAft>
                <a:spcPts val="400"/>
              </a:spcAft>
              <a:defRPr sz="1100">
                <a:solidFill>
                  <a:srgbClr val="1E293B"/>
                </a:solidFill>
              </a:defRPr>
            </a:pPr>
            <a:r>
              <a:t>• Policy QA via Procurement Copilot</a:t>
            </a:r>
          </a:p>
          <a:p>
            <a:pPr>
              <a:spcAft>
                <a:spcPts val="400"/>
              </a:spcAft>
              <a:defRPr sz="1100">
                <a:solidFill>
                  <a:srgbClr val="1E293B"/>
                </a:solidFill>
              </a:defRPr>
            </a:pPr>
            <a:r>
              <a:t>• Natural Language Executive Summaries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PERSISTED SNAPSHOT CACHING</a:t>
            </a:r>
          </a:p>
          <a:p>
            <a:pPr>
              <a:defRPr sz="2600" b="1">
                <a:solidFill>
                  <a:srgbClr val="001830"/>
                </a:solidFill>
                <a:latin typeface="Segoe UI"/>
              </a:defRPr>
            </a:pPr>
            <a:r>
              <a:t>Intelligence Without Repeated Cost</a:t>
            </a:r>
          </a:p>
        </p:txBody>
      </p:sp>
      <p:sp>
        <p:nvSpPr>
          <p:cNvPr id="4" name="Rounded Rectangle 3"/>
          <p:cNvSpPr/>
          <p:nvPr/>
        </p:nvSpPr>
        <p:spPr>
          <a:xfrm>
            <a:off x="731520" y="1645920"/>
            <a:ext cx="5120640" cy="4389120"/>
          </a:xfrm>
          <a:prstGeom prst="roundRect">
            <a:avLst/>
          </a:prstGeom>
          <a:solidFill>
            <a:srgbClr val="FEF2F2"/>
          </a:solidFill>
          <a:ln w="1524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a:spAutoFit/>
          </a:bodyPr>
          <a:lstStyle/>
          <a:p>
            <a:pPr>
              <a:spcAft>
                <a:spcPts val="1200"/>
              </a:spcAft>
              <a:defRPr sz="1400" b="1">
                <a:solidFill>
                  <a:srgbClr val="F43F5E"/>
                </a:solidFill>
              </a:defRPr>
            </a:pPr>
            <a:r>
              <a:t>NAIVE AI IMPLEMENTATION</a:t>
            </a:r>
          </a:p>
          <a:p>
            <a:pPr>
              <a:spcAft>
                <a:spcPts val="800"/>
              </a:spcAft>
              <a:defRPr sz="1100">
                <a:solidFill>
                  <a:srgbClr val="1E293B"/>
                </a:solidFill>
              </a:defRPr>
            </a:pPr>
            <a:r>
              <a:t>• Requester opens modal -&gt; LLM Call ($$$)</a:t>
            </a:r>
          </a:p>
          <a:p>
            <a:pPr>
              <a:spcAft>
                <a:spcPts val="800"/>
              </a:spcAft>
              <a:defRPr sz="1100">
                <a:solidFill>
                  <a:srgbClr val="1E293B"/>
                </a:solidFill>
              </a:defRPr>
            </a:pPr>
            <a:r>
              <a:t>• Supervisor reviews PR -&gt; LLM Call ($$$)</a:t>
            </a:r>
          </a:p>
          <a:p>
            <a:pPr>
              <a:spcAft>
                <a:spcPts val="800"/>
              </a:spcAft>
              <a:defRPr sz="1100">
                <a:solidFill>
                  <a:srgbClr val="1E293B"/>
                </a:solidFill>
              </a:defRPr>
            </a:pPr>
            <a:r>
              <a:t>• Approver inspects details -&gt; LLM Call ($$$)</a:t>
            </a:r>
          </a:p>
          <a:p>
            <a:pPr>
              <a:spcAft>
                <a:spcPts val="800"/>
              </a:spcAft>
              <a:defRPr sz="1100">
                <a:solidFill>
                  <a:srgbClr val="1E293B"/>
                </a:solidFill>
              </a:defRPr>
            </a:pPr>
            <a:r>
              <a:t>• Page refreshed -&gt; Repeated LLM Call ($$$)</a:t>
            </a:r>
          </a:p>
          <a:p>
            <a:pPr>
              <a:spcAft>
                <a:spcPts val="800"/>
              </a:spcAft>
              <a:defRPr sz="1100">
                <a:solidFill>
                  <a:srgbClr val="1E293B"/>
                </a:solidFill>
              </a:defRPr>
            </a:pPr>
            <a:r>
              <a:t>❌ Result: Skyrocketing API bills &amp; 3s page latency</a:t>
            </a:r>
          </a:p>
        </p:txBody>
      </p:sp>
      <p:sp>
        <p:nvSpPr>
          <p:cNvPr id="6" name="Rounded Rectangle 5"/>
          <p:cNvSpPr/>
          <p:nvPr/>
        </p:nvSpPr>
        <p:spPr>
          <a:xfrm>
            <a:off x="6309360" y="1645920"/>
            <a:ext cx="5120640" cy="4389120"/>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a:spAutoFit/>
          </a:bodyPr>
          <a:lstStyle/>
          <a:p>
            <a:pPr>
              <a:spcAft>
                <a:spcPts val="1200"/>
              </a:spcAft>
              <a:defRPr sz="1400" b="1">
                <a:solidFill>
                  <a:srgbClr val="10B981"/>
                </a:solidFill>
              </a:defRPr>
            </a:pPr>
            <a:r>
              <a:t>IPMS SNAPSHOT ARCHITECTURE</a:t>
            </a:r>
          </a:p>
          <a:p>
            <a:pPr>
              <a:spcAft>
                <a:spcPts val="800"/>
              </a:spcAft>
              <a:defRPr sz="1100">
                <a:solidFill>
                  <a:srgbClr val="1E293B"/>
                </a:solidFill>
              </a:defRPr>
            </a:pPr>
            <a:r>
              <a:t>• Run Recommendation -&gt; Generates Snapshot V1</a:t>
            </a:r>
          </a:p>
          <a:p>
            <a:pPr>
              <a:spcAft>
                <a:spcPts val="800"/>
              </a:spcAft>
              <a:defRPr sz="1100">
                <a:solidFill>
                  <a:srgbClr val="1E293B"/>
                </a:solidFill>
              </a:defRPr>
            </a:pPr>
            <a:r>
              <a:t>• Result persisted in `pr_recommendation_snapshots`</a:t>
            </a:r>
          </a:p>
          <a:p>
            <a:pPr>
              <a:spcAft>
                <a:spcPts val="800"/>
              </a:spcAft>
              <a:defRPr sz="1100">
                <a:solidFill>
                  <a:srgbClr val="1E293B"/>
                </a:solidFill>
              </a:defRPr>
            </a:pPr>
            <a:r>
              <a:t>• Supervisor reviews instantly (0ms LLM Latency, $0.00)</a:t>
            </a:r>
          </a:p>
          <a:p>
            <a:pPr>
              <a:spcAft>
                <a:spcPts val="800"/>
              </a:spcAft>
              <a:defRPr sz="1100">
                <a:solidFill>
                  <a:srgbClr val="1E293B"/>
                </a:solidFill>
              </a:defRPr>
            </a:pPr>
            <a:r>
              <a:t>• Stale Detection: If item/quantity changes -&gt; `is_stale=True`</a:t>
            </a:r>
          </a:p>
          <a:p>
            <a:pPr>
              <a:spcAft>
                <a:spcPts val="800"/>
              </a:spcAft>
              <a:defRPr sz="1100">
                <a:solidFill>
                  <a:srgbClr val="1E293B"/>
                </a:solidFill>
              </a:defRPr>
            </a:pPr>
            <a:r>
              <a:t>✅ Result: 90%+ Token Reduction &amp; Instant Page Loads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AUDITED HUMAN GOVERNANCE</a:t>
            </a:r>
          </a:p>
          <a:p>
            <a:pPr>
              <a:defRPr sz="2600" b="1">
                <a:solidFill>
                  <a:srgbClr val="001830"/>
                </a:solidFill>
                <a:latin typeface="Segoe UI"/>
              </a:defRPr>
            </a:pPr>
            <a:r>
              <a:t>Recommendation Is Not Authority</a:t>
            </a:r>
          </a:p>
        </p:txBody>
      </p:sp>
      <p:sp>
        <p:nvSpPr>
          <p:cNvPr id="4" name="Rounded Rectangle 3"/>
          <p:cNvSpPr/>
          <p:nvPr/>
        </p:nvSpPr>
        <p:spPr>
          <a:xfrm>
            <a:off x="731520" y="1645920"/>
            <a:ext cx="10728655" cy="822960"/>
          </a:xfrm>
          <a:prstGeom prst="roundRect">
            <a:avLst/>
          </a:prstGeom>
          <a:solidFill>
            <a:srgbClr val="001830"/>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731520"/>
          </a:xfrm>
          <a:prstGeom prst="rect">
            <a:avLst/>
          </a:prstGeom>
          <a:noFill/>
        </p:spPr>
        <p:txBody>
          <a:bodyPr wrap="none">
            <a:spAutoFit/>
          </a:bodyPr>
          <a:lstStyle/>
          <a:p>
            <a:pPr algn="ctr">
              <a:defRPr sz="1800" b="1">
                <a:solidFill>
                  <a:srgbClr val="00A3E0"/>
                </a:solidFill>
              </a:defRPr>
            </a:pPr>
            <a:r>
              <a:t>"THE SYSTEM OWNS INTELLIGENCE. HUMANS OWN ACCOUNTABILITY."</a:t>
            </a:r>
          </a:p>
        </p:txBody>
      </p:sp>
      <p:sp>
        <p:nvSpPr>
          <p:cNvPr id="6" name="Rounded Rectangle 5"/>
          <p:cNvSpPr/>
          <p:nvPr/>
        </p:nvSpPr>
        <p:spPr>
          <a:xfrm>
            <a:off x="731520" y="2743200"/>
            <a:ext cx="5120640" cy="34747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926080"/>
            <a:ext cx="4572000" cy="3108960"/>
          </a:xfrm>
          <a:prstGeom prst="rect">
            <a:avLst/>
          </a:prstGeom>
          <a:noFill/>
        </p:spPr>
        <p:txBody>
          <a:bodyPr wrap="square">
            <a:spAutoFit/>
          </a:bodyPr>
          <a:lstStyle/>
          <a:p>
            <a:pPr>
              <a:spcAft>
                <a:spcPts val="800"/>
              </a:spcAft>
              <a:defRPr sz="1300" b="1">
                <a:solidFill>
                  <a:srgbClr val="0072CE"/>
                </a:solidFill>
              </a:defRPr>
            </a:pPr>
            <a:r>
              <a:t>THE GOVERNANCE WORKFLOW</a:t>
            </a:r>
          </a:p>
          <a:p>
            <a:pPr>
              <a:spcAft>
                <a:spcPts val="400"/>
              </a:spcAft>
              <a:defRPr sz="1100">
                <a:solidFill>
                  <a:srgbClr val="1E293B"/>
                </a:solidFill>
              </a:defRPr>
            </a:pPr>
            <a:r>
              <a:t>1. AI Recommends Top Qualified Vendor</a:t>
            </a:r>
          </a:p>
          <a:p>
            <a:pPr>
              <a:spcAft>
                <a:spcPts val="400"/>
              </a:spcAft>
              <a:defRPr sz="1100">
                <a:solidFill>
                  <a:srgbClr val="1E293B"/>
                </a:solidFill>
              </a:defRPr>
            </a:pPr>
            <a:r>
              <a:t>2. Supervisor Inspects Recommendation &amp; Evidence</a:t>
            </a:r>
          </a:p>
          <a:p>
            <a:pPr>
              <a:spcAft>
                <a:spcPts val="400"/>
              </a:spcAft>
              <a:defRPr sz="1100">
                <a:solidFill>
                  <a:srgbClr val="1E293B"/>
                </a:solidFill>
              </a:defRPr>
            </a:pPr>
            <a:r>
              <a:t>3. Supervisor Can Accept OR Choose Alternate Vendor</a:t>
            </a:r>
          </a:p>
          <a:p>
            <a:pPr>
              <a:spcAft>
                <a:spcPts val="400"/>
              </a:spcAft>
              <a:defRPr sz="1100">
                <a:solidFill>
                  <a:srgbClr val="1E293B"/>
                </a:solidFill>
              </a:defRPr>
            </a:pPr>
            <a:r>
              <a:t>4. Selecting Recommended Vendor -&gt; No Warning, Smooth Confirmation</a:t>
            </a:r>
          </a:p>
          <a:p>
            <a:pPr>
              <a:spcAft>
                <a:spcPts val="400"/>
              </a:spcAft>
              <a:defRPr sz="1100">
                <a:solidFill>
                  <a:srgbClr val="1E293B"/>
                </a:solidFill>
              </a:defRPr>
            </a:pPr>
            <a:r>
              <a:t>5. Overriding Recommendation -&gt; Triggers Mandatory Justification Dialog</a:t>
            </a:r>
          </a:p>
        </p:txBody>
      </p:sp>
      <p:sp>
        <p:nvSpPr>
          <p:cNvPr id="8" name="Rounded Rectangle 7"/>
          <p:cNvSpPr/>
          <p:nvPr/>
        </p:nvSpPr>
        <p:spPr>
          <a:xfrm>
            <a:off x="6309360" y="2743200"/>
            <a:ext cx="5120640" cy="3474720"/>
          </a:xfrm>
          <a:prstGeom prst="roundRect">
            <a:avLst/>
          </a:prstGeom>
          <a:solidFill>
            <a:srgbClr val="FEFCE8"/>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926080"/>
            <a:ext cx="4572000" cy="3108960"/>
          </a:xfrm>
          <a:prstGeom prst="rect">
            <a:avLst/>
          </a:prstGeom>
          <a:noFill/>
        </p:spPr>
        <p:txBody>
          <a:bodyPr wrap="square">
            <a:spAutoFit/>
          </a:bodyPr>
          <a:lstStyle/>
          <a:p>
            <a:pPr>
              <a:spcAft>
                <a:spcPts val="800"/>
              </a:spcAft>
              <a:defRPr sz="1300" b="1">
                <a:solidFill>
                  <a:srgbClr val="F59E0B"/>
                </a:solidFill>
              </a:defRPr>
            </a:pPr>
            <a:r>
              <a:t>🛡️ AUDITED OVERRIDE DIALOG</a:t>
            </a:r>
          </a:p>
          <a:p>
            <a:pPr>
              <a:defRPr sz="1100">
                <a:solidFill>
                  <a:srgbClr val="1E293B"/>
                </a:solidFill>
              </a:defRPr>
            </a:pPr>
            <a:r>
              <a:t>Override Warning:</a:t>
            </a:r>
            <a:br/>
            <a:r>
              <a:t>You have selected Silicon Edge Systems instead of recommended Apex Tech Supplies.</a:t>
            </a:r>
            <a:br/>
            <a:br/>
            <a:r>
              <a:t>Mandatory Reason Required:</a:t>
            </a:r>
            <a:br/>
            <a:r>
              <a:t>"Silicon Edge committed to a specialized 24h calibration warranty required for cleanroom installation."</a:t>
            </a:r>
            <a:br/>
            <a:br/>
            <a:r>
              <a:t>Audit Logging: Immutably recorded in `audit_logs`.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MULTI-VENDOR RFQ DISPATCH</a:t>
            </a:r>
          </a:p>
          <a:p>
            <a:pPr>
              <a:defRPr sz="2600" b="1">
                <a:solidFill>
                  <a:srgbClr val="001830"/>
                </a:solidFill>
                <a:latin typeface="Segoe UI"/>
              </a:defRPr>
            </a:pPr>
            <a:r>
              <a:t>A Recommendation Is Not a Purchase Order</a:t>
            </a:r>
          </a:p>
        </p:txBody>
      </p:sp>
      <p:sp>
        <p:nvSpPr>
          <p:cNvPr id="4" name="Rounded Rectangle 3"/>
          <p:cNvSpPr/>
          <p:nvPr/>
        </p:nvSpPr>
        <p:spPr>
          <a:xfrm>
            <a:off x="731520" y="164592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3017520" cy="3840480"/>
          </a:xfrm>
          <a:prstGeom prst="rect">
            <a:avLst/>
          </a:prstGeom>
          <a:noFill/>
        </p:spPr>
        <p:txBody>
          <a:bodyPr wrap="square">
            <a:spAutoFit/>
          </a:bodyPr>
          <a:lstStyle/>
          <a:p>
            <a:pPr>
              <a:spcAft>
                <a:spcPts val="1200"/>
              </a:spcAft>
              <a:defRPr sz="1300" b="1">
                <a:solidFill>
                  <a:srgbClr val="0072CE"/>
                </a:solidFill>
              </a:defRPr>
            </a:pPr>
            <a:r>
              <a:t>1. TOP 3 SUPPLIER SELECTION</a:t>
            </a:r>
          </a:p>
          <a:p>
            <a:pPr>
              <a:defRPr sz="1100">
                <a:solidFill>
                  <a:srgbClr val="64748B"/>
                </a:solidFill>
              </a:defRPr>
            </a:pPr>
            <a:r>
              <a:t>Supervisor selects up to 3 domain-specialized suppliers from the ranked qualification list.</a:t>
            </a:r>
          </a:p>
        </p:txBody>
      </p:sp>
      <p:sp>
        <p:nvSpPr>
          <p:cNvPr id="6" name="Rounded Rectangle 5"/>
          <p:cNvSpPr/>
          <p:nvPr/>
        </p:nvSpPr>
        <p:spPr>
          <a:xfrm>
            <a:off x="4389120" y="164592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920240"/>
            <a:ext cx="3017520" cy="3840480"/>
          </a:xfrm>
          <a:prstGeom prst="rect">
            <a:avLst/>
          </a:prstGeom>
          <a:noFill/>
        </p:spPr>
        <p:txBody>
          <a:bodyPr wrap="square">
            <a:spAutoFit/>
          </a:bodyPr>
          <a:lstStyle/>
          <a:p>
            <a:pPr>
              <a:spcAft>
                <a:spcPts val="1200"/>
              </a:spcAft>
              <a:defRPr sz="1300" b="1">
                <a:solidFill>
                  <a:srgbClr val="8B5CF6"/>
                </a:solidFill>
              </a:defRPr>
            </a:pPr>
            <a:r>
              <a:t>2. RFQ DISPATCH &amp; DEADLINE</a:t>
            </a:r>
          </a:p>
          <a:p>
            <a:pPr>
              <a:defRPr sz="1100">
                <a:solidFill>
                  <a:srgbClr val="64748B"/>
                </a:solidFill>
              </a:defRPr>
            </a:pPr>
            <a:r>
              <a:t>System generates unique RFQ references (RFQ-2026-XXXXXXXX) with a strict submission deadline.</a:t>
            </a:r>
          </a:p>
        </p:txBody>
      </p:sp>
      <p:sp>
        <p:nvSpPr>
          <p:cNvPr id="8" name="Rounded Rectangle 7"/>
          <p:cNvSpPr/>
          <p:nvPr/>
        </p:nvSpPr>
        <p:spPr>
          <a:xfrm>
            <a:off x="8046720" y="1645920"/>
            <a:ext cx="33832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920240"/>
            <a:ext cx="3017520" cy="3840480"/>
          </a:xfrm>
          <a:prstGeom prst="rect">
            <a:avLst/>
          </a:prstGeom>
          <a:noFill/>
        </p:spPr>
        <p:txBody>
          <a:bodyPr wrap="square">
            <a:spAutoFit/>
          </a:bodyPr>
          <a:lstStyle/>
          <a:p>
            <a:pPr>
              <a:spcAft>
                <a:spcPts val="1200"/>
              </a:spcAft>
              <a:defRPr sz="1300" b="1">
                <a:solidFill>
                  <a:srgbClr val="10B981"/>
                </a:solidFill>
              </a:defRPr>
            </a:pPr>
            <a:r>
              <a:t>3. DEDICATED VENDOR PORTAL</a:t>
            </a:r>
          </a:p>
          <a:p>
            <a:pPr>
              <a:defRPr sz="1100">
                <a:solidFill>
                  <a:srgbClr val="64748B"/>
                </a:solidFill>
              </a:defRPr>
            </a:pPr>
            <a:r>
              <a:t>Invited suppliers receive instant alerts and submit binding unit prices, lead times, and delivery dates.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5-FACTOR QUOTATION EVALUATION MODEL V2</a:t>
            </a:r>
          </a:p>
          <a:p>
            <a:pPr>
              <a:defRPr sz="2600" b="1">
                <a:solidFill>
                  <a:srgbClr val="001830"/>
                </a:solidFill>
                <a:latin typeface="Segoe UI"/>
              </a:defRPr>
            </a:pPr>
            <a:r>
              <a:t>The Cheapest Quote Is Not Always the Best Decision</a:t>
            </a:r>
          </a:p>
        </p:txBody>
      </p:sp>
      <p:sp>
        <p:nvSpPr>
          <p:cNvPr id="4" name="Rounded Rectangle 3"/>
          <p:cNvSpPr/>
          <p:nvPr/>
        </p:nvSpPr>
        <p:spPr>
          <a:xfrm>
            <a:off x="731520" y="164592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17520" cy="2926080"/>
          </a:xfrm>
          <a:prstGeom prst="rect">
            <a:avLst/>
          </a:prstGeom>
          <a:noFill/>
        </p:spPr>
        <p:txBody>
          <a:bodyPr wrap="square">
            <a:spAutoFit/>
          </a:bodyPr>
          <a:lstStyle/>
          <a:p>
            <a:pPr>
              <a:spcAft>
                <a:spcPts val="800"/>
              </a:spcAft>
              <a:defRPr sz="1200" b="1">
                <a:solidFill>
                  <a:srgbClr val="0072CE"/>
                </a:solidFill>
              </a:defRPr>
            </a:pPr>
            <a:r>
              <a:t>VENDOR A (Apex Tech)</a:t>
            </a:r>
          </a:p>
          <a:p>
            <a:pPr>
              <a:defRPr sz="1100">
                <a:solidFill>
                  <a:srgbClr val="1E293B"/>
                </a:solidFill>
              </a:defRPr>
            </a:pPr>
            <a:r>
              <a:t>Unit Price: $2,400</a:t>
            </a:r>
            <a:br/>
            <a:r>
              <a:t>Delivery: 2026-09-15 (5 Days)</a:t>
            </a:r>
            <a:br/>
            <a:r>
              <a:t>Lead Time: 5 Days</a:t>
            </a:r>
            <a:br/>
            <a:r>
              <a:t>Reliability: 95.0% | Quality: 95.0%</a:t>
            </a:r>
            <a:br/>
            <a:r>
              <a:t>Composite Score: 87.5 / 100</a:t>
            </a:r>
          </a:p>
        </p:txBody>
      </p:sp>
      <p:sp>
        <p:nvSpPr>
          <p:cNvPr id="6" name="Rounded Rectangle 5"/>
          <p:cNvSpPr/>
          <p:nvPr/>
        </p:nvSpPr>
        <p:spPr>
          <a:xfrm>
            <a:off x="4389120" y="164592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828800"/>
            <a:ext cx="3017520" cy="2926080"/>
          </a:xfrm>
          <a:prstGeom prst="rect">
            <a:avLst/>
          </a:prstGeom>
          <a:noFill/>
        </p:spPr>
        <p:txBody>
          <a:bodyPr wrap="square">
            <a:spAutoFit/>
          </a:bodyPr>
          <a:lstStyle/>
          <a:p>
            <a:pPr>
              <a:spcAft>
                <a:spcPts val="800"/>
              </a:spcAft>
              <a:defRPr sz="1200" b="1">
                <a:solidFill>
                  <a:srgbClr val="F43F5E"/>
                </a:solidFill>
              </a:defRPr>
            </a:pPr>
            <a:r>
              <a:t>VENDOR B (Silicon Edge)</a:t>
            </a:r>
          </a:p>
          <a:p>
            <a:pPr>
              <a:defRPr sz="1100">
                <a:solidFill>
                  <a:srgbClr val="1E293B"/>
                </a:solidFill>
              </a:defRPr>
            </a:pPr>
            <a:r>
              <a:t>Unit Price: $2,350 (Lowest)</a:t>
            </a:r>
            <a:br/>
            <a:r>
              <a:t>Delivery: 2026-09-22 (12 Days)</a:t>
            </a:r>
            <a:br/>
            <a:r>
              <a:t>Lead Time: 8 Days</a:t>
            </a:r>
            <a:br/>
            <a:r>
              <a:t>Reliability: 82.0% | Quality: 85.0%</a:t>
            </a:r>
            <a:br/>
            <a:r>
              <a:t>Composite Score: 84.1 / 100</a:t>
            </a:r>
          </a:p>
        </p:txBody>
      </p:sp>
      <p:sp>
        <p:nvSpPr>
          <p:cNvPr id="8" name="Rounded Rectangle 7"/>
          <p:cNvSpPr/>
          <p:nvPr/>
        </p:nvSpPr>
        <p:spPr>
          <a:xfrm>
            <a:off x="8046720" y="1645920"/>
            <a:ext cx="33832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828800"/>
            <a:ext cx="3017520" cy="2926080"/>
          </a:xfrm>
          <a:prstGeom prst="rect">
            <a:avLst/>
          </a:prstGeom>
          <a:noFill/>
        </p:spPr>
        <p:txBody>
          <a:bodyPr wrap="square">
            <a:spAutoFit/>
          </a:bodyPr>
          <a:lstStyle/>
          <a:p>
            <a:pPr>
              <a:spcAft>
                <a:spcPts val="800"/>
              </a:spcAft>
              <a:defRPr sz="1200" b="1">
                <a:solidFill>
                  <a:srgbClr val="10B981"/>
                </a:solidFill>
              </a:defRPr>
            </a:pPr>
            <a:r>
              <a:t>VENDOR C (ByteCraft) ★ WINNER</a:t>
            </a:r>
          </a:p>
          <a:p>
            <a:pPr>
              <a:defRPr sz="1100">
                <a:solidFill>
                  <a:srgbClr val="1E293B"/>
                </a:solidFill>
              </a:defRPr>
            </a:pPr>
            <a:r>
              <a:t>Unit Price: $2,500</a:t>
            </a:r>
            <a:br/>
            <a:r>
              <a:t>Delivery: 2026-09-12 (2 Days)</a:t>
            </a:r>
            <a:br/>
            <a:r>
              <a:t>Lead Time: 3 Days</a:t>
            </a:r>
            <a:br/>
            <a:r>
              <a:t>Reliability: 96.0% | Quality: 94.0%</a:t>
            </a:r>
            <a:br/>
            <a:r>
              <a:t>Composite Score: 89.2 / 100</a:t>
            </a:r>
          </a:p>
        </p:txBody>
      </p:sp>
      <p:sp>
        <p:nvSpPr>
          <p:cNvPr id="10" name="Rounded Rectangle 9"/>
          <p:cNvSpPr/>
          <p:nvPr/>
        </p:nvSpPr>
        <p:spPr>
          <a:xfrm>
            <a:off x="731520" y="5120640"/>
            <a:ext cx="10728655" cy="1005840"/>
          </a:xfrm>
          <a:prstGeom prst="roundRect">
            <a:avLst/>
          </a:prstGeom>
          <a:solidFill>
            <a:srgbClr val="001830"/>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66360"/>
            <a:ext cx="10332720" cy="914400"/>
          </a:xfrm>
          <a:prstGeom prst="rect">
            <a:avLst/>
          </a:prstGeom>
          <a:noFill/>
        </p:spPr>
        <p:txBody>
          <a:bodyPr wrap="square">
            <a:spAutoFit/>
          </a:bodyPr>
          <a:lstStyle/>
          <a:p>
            <a:pPr>
              <a:defRPr sz="1200" b="1">
                <a:solidFill>
                  <a:srgbClr val="00A3E0"/>
                </a:solidFill>
              </a:defRPr>
            </a:pPr>
            <a:r>
              <a:t>Multi-Factor Quotation Scoring Formula V2:</a:t>
            </a:r>
          </a:p>
          <a:p>
            <a:pPr>
              <a:defRPr sz="1300" b="1">
                <a:solidFill>
                  <a:srgbClr val="FFFFFF"/>
                </a:solidFill>
              </a:defRPr>
            </a:pPr>
            <a:r>
              <a:t>Score = 35% Price Score + 20% Committed Delivery Date + 15% Lead Time + 15% Reliability + 15% Quality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IDEMPOTENT PURCHASE ORDER ENGINE</a:t>
            </a:r>
          </a:p>
          <a:p>
            <a:pPr>
              <a:defRPr sz="2600" b="1">
                <a:solidFill>
                  <a:srgbClr val="001830"/>
                </a:solidFill>
                <a:latin typeface="Segoe UI"/>
              </a:defRPr>
            </a:pPr>
            <a:r>
              <a:t>From Intelligence to Execution</a:t>
            </a:r>
          </a:p>
        </p:txBody>
      </p:sp>
      <p:sp>
        <p:nvSpPr>
          <p:cNvPr id="4" name="Rounded Rectangle 3"/>
          <p:cNvSpPr/>
          <p:nvPr/>
        </p:nvSpPr>
        <p:spPr>
          <a:xfrm>
            <a:off x="7315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40280" cy="4023360"/>
          </a:xfrm>
          <a:prstGeom prst="rect">
            <a:avLst/>
          </a:prstGeom>
          <a:noFill/>
        </p:spPr>
        <p:txBody>
          <a:bodyPr wrap="square">
            <a:spAutoFit/>
          </a:bodyPr>
          <a:lstStyle/>
          <a:p>
            <a:pPr>
              <a:spcAft>
                <a:spcPts val="1200"/>
              </a:spcAft>
              <a:defRPr sz="1200" b="1">
                <a:solidFill>
                  <a:srgbClr val="0072CE"/>
                </a:solidFill>
              </a:defRPr>
            </a:pPr>
            <a:r>
              <a:t>1. FINAL APPROVAL</a:t>
            </a:r>
          </a:p>
          <a:p>
            <a:pPr>
              <a:defRPr sz="1100">
                <a:solidFill>
                  <a:srgbClr val="64748B"/>
                </a:solidFill>
              </a:defRPr>
            </a:pPr>
            <a:r>
              <a:t>Supervisor grants official corporate authorization after quotation matrix review.</a:t>
            </a:r>
          </a:p>
        </p:txBody>
      </p:sp>
      <p:sp>
        <p:nvSpPr>
          <p:cNvPr id="6" name="Rounded Rectangle 5"/>
          <p:cNvSpPr/>
          <p:nvPr/>
        </p:nvSpPr>
        <p:spPr>
          <a:xfrm>
            <a:off x="34747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828800"/>
            <a:ext cx="2240280" cy="4023360"/>
          </a:xfrm>
          <a:prstGeom prst="rect">
            <a:avLst/>
          </a:prstGeom>
          <a:noFill/>
        </p:spPr>
        <p:txBody>
          <a:bodyPr wrap="square">
            <a:spAutoFit/>
          </a:bodyPr>
          <a:lstStyle/>
          <a:p>
            <a:pPr>
              <a:spcAft>
                <a:spcPts val="1200"/>
              </a:spcAft>
              <a:defRPr sz="1200" b="1">
                <a:solidFill>
                  <a:srgbClr val="8B5CF6"/>
                </a:solidFill>
              </a:defRPr>
            </a:pPr>
            <a:r>
              <a:t>2. IDEMPOTENT PO ENGINE</a:t>
            </a:r>
          </a:p>
          <a:p>
            <a:pPr>
              <a:defRPr sz="1100">
                <a:solidFill>
                  <a:srgbClr val="64748B"/>
                </a:solidFill>
              </a:defRPr>
            </a:pPr>
            <a:r>
              <a:t>Guarantees single PO creation. Re-triggering returns existing PO record without duplicate charges.</a:t>
            </a:r>
          </a:p>
        </p:txBody>
      </p:sp>
      <p:sp>
        <p:nvSpPr>
          <p:cNvPr id="8" name="Rounded Rectangle 7"/>
          <p:cNvSpPr/>
          <p:nvPr/>
        </p:nvSpPr>
        <p:spPr>
          <a:xfrm>
            <a:off x="62179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2240280" cy="4023360"/>
          </a:xfrm>
          <a:prstGeom prst="rect">
            <a:avLst/>
          </a:prstGeom>
          <a:noFill/>
        </p:spPr>
        <p:txBody>
          <a:bodyPr wrap="square">
            <a:spAutoFit/>
          </a:bodyPr>
          <a:lstStyle/>
          <a:p>
            <a:pPr>
              <a:spcAft>
                <a:spcPts val="1200"/>
              </a:spcAft>
              <a:defRPr sz="1200" b="1">
                <a:solidFill>
                  <a:srgbClr val="00A3E0"/>
                </a:solidFill>
              </a:defRPr>
            </a:pPr>
            <a:r>
              <a:t>3. REPORTLAB PDF BUILDER</a:t>
            </a:r>
          </a:p>
          <a:p>
            <a:pPr>
              <a:defRPr sz="1100">
                <a:solidFill>
                  <a:srgbClr val="64748B"/>
                </a:solidFill>
              </a:defRPr>
            </a:pPr>
            <a:r>
              <a:t>Generates professional corporate Purchase Order PDF document with complete commercial line items.</a:t>
            </a:r>
          </a:p>
        </p:txBody>
      </p:sp>
      <p:sp>
        <p:nvSpPr>
          <p:cNvPr id="10" name="Rounded Rectangle 9"/>
          <p:cNvSpPr/>
          <p:nvPr/>
        </p:nvSpPr>
        <p:spPr>
          <a:xfrm>
            <a:off x="89611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28800"/>
            <a:ext cx="2240280" cy="4023360"/>
          </a:xfrm>
          <a:prstGeom prst="rect">
            <a:avLst/>
          </a:prstGeom>
          <a:noFill/>
        </p:spPr>
        <p:txBody>
          <a:bodyPr wrap="square">
            <a:spAutoFit/>
          </a:bodyPr>
          <a:lstStyle/>
          <a:p>
            <a:pPr>
              <a:spcAft>
                <a:spcPts val="1200"/>
              </a:spcAft>
              <a:defRPr sz="1200" b="1">
                <a:solidFill>
                  <a:srgbClr val="10B981"/>
                </a:solidFill>
              </a:defRPr>
            </a:pPr>
            <a:r>
              <a:t>4. INSTANT NOTIFICATIONS</a:t>
            </a:r>
          </a:p>
          <a:p>
            <a:pPr>
              <a:defRPr sz="1100">
                <a:solidFill>
                  <a:srgbClr val="64748B"/>
                </a:solidFill>
              </a:defRPr>
            </a:pPr>
            <a:r>
              <a:t>Dispatches real-time in-app notification (PO_ISSUED) and email with PDF attachment to supplier.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ENTERPRISE INTEGRATION ARCHITECTURE</a:t>
            </a:r>
          </a:p>
          <a:p>
            <a:pPr>
              <a:defRPr sz="2600" b="1">
                <a:solidFill>
                  <a:srgbClr val="001830"/>
                </a:solidFill>
                <a:latin typeface="Segoe UI"/>
              </a:defRPr>
            </a:pPr>
            <a:r>
              <a:t>The Prototype Is Simulated. The Architecture Is Enterprise-Ready.</a:t>
            </a:r>
          </a:p>
        </p:txBody>
      </p:sp>
      <p:sp>
        <p:nvSpPr>
          <p:cNvPr id="4" name="Rounded Rectangle 3"/>
          <p:cNvSpPr/>
          <p:nvPr/>
        </p:nvSpPr>
        <p:spPr>
          <a:xfrm>
            <a:off x="731520" y="1645920"/>
            <a:ext cx="51206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a:spAutoFit/>
          </a:bodyPr>
          <a:lstStyle/>
          <a:p>
            <a:pPr>
              <a:spcAft>
                <a:spcPts val="1200"/>
              </a:spcAft>
              <a:defRPr sz="1400" b="1">
                <a:solidFill>
                  <a:srgbClr val="0072CE"/>
                </a:solidFill>
              </a:defRPr>
            </a:pPr>
            <a:r>
              <a:t>PROTOTYPE IMPLEMENTATION</a:t>
            </a:r>
          </a:p>
          <a:p>
            <a:pPr>
              <a:spcAft>
                <a:spcPts val="800"/>
              </a:spcAft>
              <a:defRPr sz="1100">
                <a:solidFill>
                  <a:srgbClr val="1E293B"/>
                </a:solidFill>
              </a:defRPr>
            </a:pPr>
            <a:r>
              <a:t>• Simulated warehouse stock records</a:t>
            </a:r>
          </a:p>
          <a:p>
            <a:pPr>
              <a:spcAft>
                <a:spcPts val="800"/>
              </a:spcAft>
              <a:defRPr sz="1100">
                <a:solidFill>
                  <a:srgbClr val="1E293B"/>
                </a:solidFill>
              </a:defRPr>
            </a:pPr>
            <a:r>
              <a:t>• Curated enterprise vendor performance ratings</a:t>
            </a:r>
          </a:p>
          <a:p>
            <a:pPr>
              <a:spcAft>
                <a:spcPts val="800"/>
              </a:spcAft>
              <a:defRPr sz="1100">
                <a:solidFill>
                  <a:srgbClr val="1E293B"/>
                </a:solidFill>
              </a:defRPr>
            </a:pPr>
            <a:r>
              <a:t>• Simulated quarterly vendor review surveys</a:t>
            </a:r>
          </a:p>
          <a:p>
            <a:pPr>
              <a:spcAft>
                <a:spcPts val="800"/>
              </a:spcAft>
              <a:defRPr sz="1100">
                <a:solidFill>
                  <a:srgbClr val="1E293B"/>
                </a:solidFill>
              </a:defRPr>
            </a:pPr>
            <a:r>
              <a:t>• Role-based simulated authentication (Alex, David, Vendors)</a:t>
            </a:r>
          </a:p>
          <a:p>
            <a:pPr>
              <a:spcAft>
                <a:spcPts val="800"/>
              </a:spcAft>
              <a:defRPr sz="1100">
                <a:solidFill>
                  <a:srgbClr val="1E293B"/>
                </a:solidFill>
              </a:defRPr>
            </a:pPr>
            <a:r>
              <a:t>• In-memory vector embeddings &amp; SQLite storage</a:t>
            </a:r>
          </a:p>
        </p:txBody>
      </p:sp>
      <p:sp>
        <p:nvSpPr>
          <p:cNvPr id="6" name="Rounded Rectangle 5"/>
          <p:cNvSpPr/>
          <p:nvPr/>
        </p:nvSpPr>
        <p:spPr>
          <a:xfrm>
            <a:off x="6309360" y="1645920"/>
            <a:ext cx="5120640" cy="4389120"/>
          </a:xfrm>
          <a:prstGeom prst="roundRect">
            <a:avLst/>
          </a:prstGeom>
          <a:solidFill>
            <a:srgbClr val="F0F9FF"/>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a:spAutoFit/>
          </a:bodyPr>
          <a:lstStyle/>
          <a:p>
            <a:pPr>
              <a:spcAft>
                <a:spcPts val="1200"/>
              </a:spcAft>
              <a:defRPr sz="1400" b="1">
                <a:solidFill>
                  <a:srgbClr val="00A3E0"/>
                </a:solidFill>
              </a:defRPr>
            </a:pPr>
            <a:r>
              <a:t>PRODUCTION ENTERPRISE CONNECTORS</a:t>
            </a:r>
          </a:p>
          <a:p>
            <a:pPr>
              <a:spcAft>
                <a:spcPts val="800"/>
              </a:spcAft>
              <a:defRPr sz="1100">
                <a:solidFill>
                  <a:srgbClr val="1E293B"/>
                </a:solidFill>
              </a:defRPr>
            </a:pPr>
            <a:r>
              <a:t>• SAP / Oracle ERP Inventory Integration</a:t>
            </a:r>
          </a:p>
          <a:p>
            <a:pPr>
              <a:spcAft>
                <a:spcPts val="800"/>
              </a:spcAft>
              <a:defRPr sz="1100">
                <a:solidFill>
                  <a:srgbClr val="1E293B"/>
                </a:solidFill>
              </a:defRPr>
            </a:pPr>
            <a:r>
              <a:t>• Enterprise Supplier Master &amp; Vendor Management APIs</a:t>
            </a:r>
          </a:p>
          <a:p>
            <a:pPr>
              <a:spcAft>
                <a:spcPts val="800"/>
              </a:spcAft>
              <a:defRPr sz="1100">
                <a:solidFill>
                  <a:srgbClr val="1E293B"/>
                </a:solidFill>
              </a:defRPr>
            </a:pPr>
            <a:r>
              <a:t>• Microsoft Forms / Qualtrics Quarterly Survey Ingestion</a:t>
            </a:r>
          </a:p>
          <a:p>
            <a:pPr>
              <a:spcAft>
                <a:spcPts val="800"/>
              </a:spcAft>
              <a:defRPr sz="1100">
                <a:solidFill>
                  <a:srgbClr val="1E293B"/>
                </a:solidFill>
              </a:defRPr>
            </a:pPr>
            <a:r>
              <a:t>• Okta / Azure AD Enterprise SSO &amp; Role RBAC</a:t>
            </a:r>
          </a:p>
          <a:p>
            <a:pPr>
              <a:spcAft>
                <a:spcPts val="800"/>
              </a:spcAft>
              <a:defRPr sz="1100">
                <a:solidFill>
                  <a:srgbClr val="1E293B"/>
                </a:solidFill>
              </a:defRPr>
            </a:pPr>
            <a:r>
              <a:t>• PostgreSQL + pgvector Cluster Storage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STRATEGIC VALUE ALIGNMENT</a:t>
            </a:r>
          </a:p>
          <a:p>
            <a:pPr>
              <a:defRPr sz="2600" b="1">
                <a:solidFill>
                  <a:srgbClr val="001830"/>
                </a:solidFill>
                <a:latin typeface="Segoe UI"/>
              </a:defRPr>
            </a:pPr>
            <a:r>
              <a:t>Aligned with Micron's Core Values &amp; Operating Principles</a:t>
            </a:r>
          </a:p>
        </p:txBody>
      </p:sp>
      <p:sp>
        <p:nvSpPr>
          <p:cNvPr id="4" name="Rounded Rectangle 3"/>
          <p:cNvSpPr/>
          <p:nvPr/>
        </p:nvSpPr>
        <p:spPr>
          <a:xfrm>
            <a:off x="731520" y="1645920"/>
            <a:ext cx="20116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828800"/>
            <a:ext cx="1792224" cy="4023360"/>
          </a:xfrm>
          <a:prstGeom prst="rect">
            <a:avLst/>
          </a:prstGeom>
          <a:noFill/>
        </p:spPr>
        <p:txBody>
          <a:bodyPr wrap="square">
            <a:spAutoFit/>
          </a:bodyPr>
          <a:lstStyle/>
          <a:p>
            <a:pPr>
              <a:spcAft>
                <a:spcPts val="1200"/>
              </a:spcAft>
              <a:defRPr sz="1200" b="1">
                <a:solidFill>
                  <a:srgbClr val="0072CE"/>
                </a:solidFill>
              </a:defRPr>
            </a:pPr>
            <a:r>
              <a:t>PEOPLE</a:t>
            </a:r>
          </a:p>
          <a:p>
            <a:pPr>
              <a:defRPr sz="1000">
                <a:solidFill>
                  <a:srgbClr val="64748B"/>
                </a:solidFill>
              </a:defRPr>
            </a:pPr>
            <a:r>
              <a:t>Human expertise and stakeholder reviews directly train organizational intelligence via continuous quarterly feedback loops.</a:t>
            </a:r>
          </a:p>
        </p:txBody>
      </p:sp>
      <p:sp>
        <p:nvSpPr>
          <p:cNvPr id="6" name="Rounded Rectangle 5"/>
          <p:cNvSpPr/>
          <p:nvPr/>
        </p:nvSpPr>
        <p:spPr>
          <a:xfrm>
            <a:off x="2926080" y="1645920"/>
            <a:ext cx="20116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35808" y="1828800"/>
            <a:ext cx="1792224" cy="4023360"/>
          </a:xfrm>
          <a:prstGeom prst="rect">
            <a:avLst/>
          </a:prstGeom>
          <a:noFill/>
        </p:spPr>
        <p:txBody>
          <a:bodyPr wrap="square">
            <a:spAutoFit/>
          </a:bodyPr>
          <a:lstStyle/>
          <a:p>
            <a:pPr>
              <a:spcAft>
                <a:spcPts val="1200"/>
              </a:spcAft>
              <a:defRPr sz="1200" b="1">
                <a:solidFill>
                  <a:srgbClr val="8B5CF6"/>
                </a:solidFill>
              </a:defRPr>
            </a:pPr>
            <a:r>
              <a:t>INNOVATION</a:t>
            </a:r>
          </a:p>
          <a:p>
            <a:pPr>
              <a:defRPr sz="1000">
                <a:solidFill>
                  <a:srgbClr val="64748B"/>
                </a:solidFill>
              </a:defRPr>
            </a:pPr>
            <a:r>
              <a:t>Hybrid intelligence combining deterministic mathematical safety, multi-factor scoring, and semantic RAG LLMs.</a:t>
            </a:r>
          </a:p>
        </p:txBody>
      </p:sp>
      <p:sp>
        <p:nvSpPr>
          <p:cNvPr id="8" name="Rounded Rectangle 7"/>
          <p:cNvSpPr/>
          <p:nvPr/>
        </p:nvSpPr>
        <p:spPr>
          <a:xfrm>
            <a:off x="5120640" y="1645920"/>
            <a:ext cx="20116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30368" y="1828800"/>
            <a:ext cx="1792224" cy="4023360"/>
          </a:xfrm>
          <a:prstGeom prst="rect">
            <a:avLst/>
          </a:prstGeom>
          <a:noFill/>
        </p:spPr>
        <p:txBody>
          <a:bodyPr wrap="square">
            <a:spAutoFit/>
          </a:bodyPr>
          <a:lstStyle/>
          <a:p>
            <a:pPr>
              <a:spcAft>
                <a:spcPts val="1200"/>
              </a:spcAft>
              <a:defRPr sz="1200" b="1">
                <a:solidFill>
                  <a:srgbClr val="F59E0B"/>
                </a:solidFill>
              </a:defRPr>
            </a:pPr>
            <a:r>
              <a:t>TENACITY</a:t>
            </a:r>
          </a:p>
          <a:p>
            <a:pPr>
              <a:defRPr sz="1000">
                <a:solidFill>
                  <a:srgbClr val="64748B"/>
                </a:solidFill>
              </a:defRPr>
            </a:pPr>
            <a:r>
              <a:t>Fault-tolerant workflow engine supporting role-isolated revisions, supervisor returns, and audited policy overrides.</a:t>
            </a:r>
          </a:p>
        </p:txBody>
      </p:sp>
      <p:sp>
        <p:nvSpPr>
          <p:cNvPr id="10" name="Rounded Rectangle 9"/>
          <p:cNvSpPr/>
          <p:nvPr/>
        </p:nvSpPr>
        <p:spPr>
          <a:xfrm>
            <a:off x="7315199" y="1645920"/>
            <a:ext cx="20116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24927" y="1828800"/>
            <a:ext cx="1792224" cy="4023360"/>
          </a:xfrm>
          <a:prstGeom prst="rect">
            <a:avLst/>
          </a:prstGeom>
          <a:noFill/>
        </p:spPr>
        <p:txBody>
          <a:bodyPr wrap="square">
            <a:spAutoFit/>
          </a:bodyPr>
          <a:lstStyle/>
          <a:p>
            <a:pPr>
              <a:spcAft>
                <a:spcPts val="1200"/>
              </a:spcAft>
              <a:defRPr sz="1200" b="1">
                <a:solidFill>
                  <a:srgbClr val="00A3E0"/>
                </a:solidFill>
              </a:defRPr>
            </a:pPr>
            <a:r>
              <a:t>COLLABORATION</a:t>
            </a:r>
          </a:p>
          <a:p>
            <a:pPr>
              <a:defRPr sz="1000">
                <a:solidFill>
                  <a:srgbClr val="64748B"/>
                </a:solidFill>
              </a:defRPr>
            </a:pPr>
            <a:r>
              <a:t>Unifies requesters, departmental supervisors, and external supplier reps into a single transparent platform.</a:t>
            </a:r>
          </a:p>
        </p:txBody>
      </p:sp>
      <p:sp>
        <p:nvSpPr>
          <p:cNvPr id="12" name="Rounded Rectangle 11"/>
          <p:cNvSpPr/>
          <p:nvPr/>
        </p:nvSpPr>
        <p:spPr>
          <a:xfrm>
            <a:off x="9509760" y="1645920"/>
            <a:ext cx="201168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19488" y="1828800"/>
            <a:ext cx="1792224" cy="4023360"/>
          </a:xfrm>
          <a:prstGeom prst="rect">
            <a:avLst/>
          </a:prstGeom>
          <a:noFill/>
        </p:spPr>
        <p:txBody>
          <a:bodyPr wrap="square">
            <a:spAutoFit/>
          </a:bodyPr>
          <a:lstStyle/>
          <a:p>
            <a:pPr>
              <a:spcAft>
                <a:spcPts val="1200"/>
              </a:spcAft>
              <a:defRPr sz="1200" b="1">
                <a:solidFill>
                  <a:srgbClr val="10B981"/>
                </a:solidFill>
              </a:defRPr>
            </a:pPr>
            <a:r>
              <a:t>CUSTOMER FOCUS &amp; QUALITY</a:t>
            </a:r>
          </a:p>
          <a:p>
            <a:pPr>
              <a:defRPr sz="1000">
                <a:solidFill>
                  <a:srgbClr val="64748B"/>
                </a:solidFill>
              </a:defRPr>
            </a:pPr>
            <a:r>
              <a:t>Multi-factor quote scoring prioritizes delivery speed and quality over blind low-bid awarding.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THE FOUR VALUE PILLARS</a:t>
            </a:r>
          </a:p>
          <a:p>
            <a:pPr>
              <a:defRPr sz="2600" b="1">
                <a:solidFill>
                  <a:srgbClr val="001830"/>
                </a:solidFill>
                <a:latin typeface="Segoe UI"/>
              </a:defRPr>
            </a:pPr>
            <a:r>
              <a:t>Intelligence Is Valuable Only If It Creates Business Impact</a:t>
            </a:r>
          </a:p>
        </p:txBody>
      </p:sp>
      <p:sp>
        <p:nvSpPr>
          <p:cNvPr id="4" name="Rounded Rectangle 3"/>
          <p:cNvSpPr/>
          <p:nvPr/>
        </p:nvSpPr>
        <p:spPr>
          <a:xfrm>
            <a:off x="7315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240280" cy="4023360"/>
          </a:xfrm>
          <a:prstGeom prst="rect">
            <a:avLst/>
          </a:prstGeom>
          <a:noFill/>
        </p:spPr>
        <p:txBody>
          <a:bodyPr wrap="square">
            <a:spAutoFit/>
          </a:bodyPr>
          <a:lstStyle/>
          <a:p>
            <a:pPr>
              <a:spcAft>
                <a:spcPts val="1000"/>
              </a:spcAft>
              <a:defRPr sz="1200" b="1">
                <a:solidFill>
                  <a:srgbClr val="10B981"/>
                </a:solidFill>
              </a:defRPr>
            </a:pPr>
            <a:r>
              <a:t>1. DIRECT COST AVOIDANCE</a:t>
            </a:r>
          </a:p>
          <a:p>
            <a:pPr>
              <a:spcAft>
                <a:spcPts val="1200"/>
              </a:spcAft>
              <a:defRPr sz="1100">
                <a:solidFill>
                  <a:srgbClr val="1E293B"/>
                </a:solidFill>
              </a:defRPr>
            </a:pPr>
            <a:r>
              <a:t>Prevents unnecessary purchases by utilizing existing warehouse inventory first.</a:t>
            </a:r>
          </a:p>
          <a:p>
            <a:pPr>
              <a:defRPr sz="1000" b="1">
                <a:solidFill>
                  <a:srgbClr val="10B981"/>
                </a:solidFill>
              </a:defRPr>
            </a:pPr>
            <a:r>
              <a:t>Formula: Qty Fulfilled from Stock × Unit Purchase Cost</a:t>
            </a:r>
          </a:p>
        </p:txBody>
      </p:sp>
      <p:sp>
        <p:nvSpPr>
          <p:cNvPr id="6" name="Rounded Rectangle 5"/>
          <p:cNvSpPr/>
          <p:nvPr/>
        </p:nvSpPr>
        <p:spPr>
          <a:xfrm>
            <a:off x="34747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11880" y="1828800"/>
            <a:ext cx="2240280" cy="4023360"/>
          </a:xfrm>
          <a:prstGeom prst="rect">
            <a:avLst/>
          </a:prstGeom>
          <a:noFill/>
        </p:spPr>
        <p:txBody>
          <a:bodyPr wrap="square">
            <a:spAutoFit/>
          </a:bodyPr>
          <a:lstStyle/>
          <a:p>
            <a:pPr>
              <a:spcAft>
                <a:spcPts val="1000"/>
              </a:spcAft>
              <a:defRPr sz="1200" b="1">
                <a:solidFill>
                  <a:srgbClr val="F59E0B"/>
                </a:solidFill>
              </a:defRPr>
            </a:pPr>
            <a:r>
              <a:t>2. DUPLICATE PREVENTION</a:t>
            </a:r>
          </a:p>
          <a:p>
            <a:pPr>
              <a:spcAft>
                <a:spcPts val="1200"/>
              </a:spcAft>
              <a:defRPr sz="1100">
                <a:solidFill>
                  <a:srgbClr val="1E293B"/>
                </a:solidFill>
              </a:defRPr>
            </a:pPr>
            <a:r>
              <a:t>Eliminates redundant orders across teams during active project execution windows.</a:t>
            </a:r>
          </a:p>
          <a:p>
            <a:pPr>
              <a:defRPr sz="1000" b="1">
                <a:solidFill>
                  <a:srgbClr val="F59E0B"/>
                </a:solidFill>
              </a:defRPr>
            </a:pPr>
            <a:r>
              <a:t>Formula: Avoided Duplicate Purchase Value ($)</a:t>
            </a:r>
          </a:p>
        </p:txBody>
      </p:sp>
      <p:sp>
        <p:nvSpPr>
          <p:cNvPr id="8" name="Rounded Rectangle 7"/>
          <p:cNvSpPr/>
          <p:nvPr/>
        </p:nvSpPr>
        <p:spPr>
          <a:xfrm>
            <a:off x="62179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828800"/>
            <a:ext cx="2240280" cy="4023360"/>
          </a:xfrm>
          <a:prstGeom prst="rect">
            <a:avLst/>
          </a:prstGeom>
          <a:noFill/>
        </p:spPr>
        <p:txBody>
          <a:bodyPr wrap="square">
            <a:spAutoFit/>
          </a:bodyPr>
          <a:lstStyle/>
          <a:p>
            <a:pPr>
              <a:spcAft>
                <a:spcPts val="1000"/>
              </a:spcAft>
              <a:defRPr sz="1200" b="1">
                <a:solidFill>
                  <a:srgbClr val="0072CE"/>
                </a:solidFill>
              </a:defRPr>
            </a:pPr>
            <a:r>
              <a:t>3. PROCUREMENT VALUE OPTIMIZATION</a:t>
            </a:r>
          </a:p>
          <a:p>
            <a:pPr>
              <a:spcAft>
                <a:spcPts val="1200"/>
              </a:spcAft>
              <a:defRPr sz="1100">
                <a:solidFill>
                  <a:srgbClr val="1E293B"/>
                </a:solidFill>
              </a:defRPr>
            </a:pPr>
            <a:r>
              <a:t>Balances price against delivery velocity to eliminate production line downtime risks.</a:t>
            </a:r>
          </a:p>
          <a:p>
            <a:pPr>
              <a:defRPr sz="1000" b="1">
                <a:solidFill>
                  <a:srgbClr val="0072CE"/>
                </a:solidFill>
              </a:defRPr>
            </a:pPr>
            <a:r>
              <a:t>Formula: Value of Avoided Schedule Delay ($)</a:t>
            </a:r>
          </a:p>
        </p:txBody>
      </p:sp>
      <p:sp>
        <p:nvSpPr>
          <p:cNvPr id="10" name="Rounded Rectangle 9"/>
          <p:cNvSpPr/>
          <p:nvPr/>
        </p:nvSpPr>
        <p:spPr>
          <a:xfrm>
            <a:off x="8961120" y="1645920"/>
            <a:ext cx="251460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28800"/>
            <a:ext cx="2240280" cy="4023360"/>
          </a:xfrm>
          <a:prstGeom prst="rect">
            <a:avLst/>
          </a:prstGeom>
          <a:noFill/>
        </p:spPr>
        <p:txBody>
          <a:bodyPr wrap="square">
            <a:spAutoFit/>
          </a:bodyPr>
          <a:lstStyle/>
          <a:p>
            <a:pPr>
              <a:spcAft>
                <a:spcPts val="1000"/>
              </a:spcAft>
              <a:defRPr sz="1200" b="1">
                <a:solidFill>
                  <a:srgbClr val="8B5CF6"/>
                </a:solidFill>
              </a:defRPr>
            </a:pPr>
            <a:r>
              <a:t>4. PRODUCTIVITY RECOVERY</a:t>
            </a:r>
          </a:p>
          <a:p>
            <a:pPr>
              <a:spcAft>
                <a:spcPts val="1200"/>
              </a:spcAft>
              <a:defRPr sz="1100">
                <a:solidFill>
                  <a:srgbClr val="1E293B"/>
                </a:solidFill>
              </a:defRPr>
            </a:pPr>
            <a:r>
              <a:t>Reduces manual search, review routing, and email coordination time.</a:t>
            </a:r>
          </a:p>
          <a:p>
            <a:pPr>
              <a:defRPr sz="1000" b="1">
                <a:solidFill>
                  <a:srgbClr val="8B5CF6"/>
                </a:solidFill>
              </a:defRPr>
            </a:pPr>
            <a:r>
              <a:t>Formula: (Manual Review Time - Assisted Time) × Team Hourly Rate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400"/>
              </a:spcAft>
              <a:defRPr sz="1100" b="1">
                <a:solidFill>
                  <a:srgbClr val="0072CE"/>
                </a:solidFill>
                <a:latin typeface="Segoe UI"/>
              </a:defRPr>
            </a:pPr>
            <a:r>
              <a:t>ROI MEASUREMENT FRAMEWORK</a:t>
            </a:r>
          </a:p>
          <a:p>
            <a:pPr>
              <a:defRPr sz="2600" b="1">
                <a:solidFill>
                  <a:srgbClr val="001830"/>
                </a:solidFill>
                <a:latin typeface="Segoe UI"/>
              </a:defRPr>
            </a:pPr>
            <a:r>
              <a:t>Every Intelligence Layer Has a Measurable Value</a:t>
            </a:r>
          </a:p>
        </p:txBody>
      </p:sp>
      <p:sp>
        <p:nvSpPr>
          <p:cNvPr id="4" name="Rounded Rectangle 3"/>
          <p:cNvSpPr/>
          <p:nvPr/>
        </p:nvSpPr>
        <p:spPr>
          <a:xfrm>
            <a:off x="731520" y="1645920"/>
            <a:ext cx="5120640" cy="4389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920240"/>
            <a:ext cx="4572000" cy="3840480"/>
          </a:xfrm>
          <a:prstGeom prst="rect">
            <a:avLst/>
          </a:prstGeom>
          <a:noFill/>
        </p:spPr>
        <p:txBody>
          <a:bodyPr wrap="square">
            <a:spAutoFit/>
          </a:bodyPr>
          <a:lstStyle/>
          <a:p>
            <a:pPr>
              <a:spcAft>
                <a:spcPts val="1000"/>
              </a:spcAft>
              <a:defRPr sz="1400" b="1">
                <a:solidFill>
                  <a:srgbClr val="0072CE"/>
                </a:solidFill>
              </a:defRPr>
            </a:pPr>
            <a:r>
              <a:t>MEASURABLE ROI FRAMEWORK</a:t>
            </a:r>
          </a:p>
          <a:p>
            <a:pPr>
              <a:defRPr sz="1100" b="1">
                <a:solidFill>
                  <a:srgbClr val="1E293B"/>
                </a:solidFill>
              </a:defRPr>
            </a:pPr>
            <a:r>
              <a:t>• Inventory Cost Avoidance:</a:t>
            </a:r>
          </a:p>
          <a:p>
            <a:pPr>
              <a:spcAft>
                <a:spcPts val="400"/>
              </a:spcAft>
              <a:defRPr sz="1000">
                <a:solidFill>
                  <a:srgbClr val="64748B"/>
                </a:solidFill>
              </a:defRPr>
            </a:pPr>
            <a:r>
              <a:t>   Stock Utilized × Unit Purchase Price</a:t>
            </a:r>
          </a:p>
          <a:p>
            <a:pPr>
              <a:defRPr sz="1100" b="1">
                <a:solidFill>
                  <a:srgbClr val="1E293B"/>
                </a:solidFill>
              </a:defRPr>
            </a:pPr>
            <a:r>
              <a:t>• Duplicate Order Prevention:</a:t>
            </a:r>
          </a:p>
          <a:p>
            <a:pPr>
              <a:spcAft>
                <a:spcPts val="400"/>
              </a:spcAft>
              <a:defRPr sz="1000">
                <a:solidFill>
                  <a:srgbClr val="64748B"/>
                </a:solidFill>
              </a:defRPr>
            </a:pPr>
            <a:r>
              <a:t>   Value of Avoided Concurrent Duplicate PRs</a:t>
            </a:r>
          </a:p>
          <a:p>
            <a:pPr>
              <a:defRPr sz="1100" b="1">
                <a:solidFill>
                  <a:srgbClr val="1E293B"/>
                </a:solidFill>
              </a:defRPr>
            </a:pPr>
            <a:r>
              <a:t>• Delivery Schedule Value:</a:t>
            </a:r>
          </a:p>
          <a:p>
            <a:pPr>
              <a:spcAft>
                <a:spcPts val="400"/>
              </a:spcAft>
              <a:defRPr sz="1000">
                <a:solidFill>
                  <a:srgbClr val="64748B"/>
                </a:solidFill>
              </a:defRPr>
            </a:pPr>
            <a:r>
              <a:t>   Avoided Operational Stoppage Cost ($)</a:t>
            </a:r>
          </a:p>
          <a:p>
            <a:pPr>
              <a:defRPr sz="1100" b="1">
                <a:solidFill>
                  <a:srgbClr val="1E293B"/>
                </a:solidFill>
              </a:defRPr>
            </a:pPr>
            <a:r>
              <a:t>• Labor Productivity Gain:</a:t>
            </a:r>
          </a:p>
          <a:p>
            <a:pPr>
              <a:spcAft>
                <a:spcPts val="400"/>
              </a:spcAft>
              <a:defRPr sz="1000">
                <a:solidFill>
                  <a:srgbClr val="64748B"/>
                </a:solidFill>
              </a:defRPr>
            </a:pPr>
            <a:r>
              <a:t>   Hours Saved in Manual Review &amp; Inquiries</a:t>
            </a:r>
          </a:p>
          <a:p>
            <a:pPr>
              <a:defRPr sz="1100" b="1">
                <a:solidFill>
                  <a:srgbClr val="1E293B"/>
                </a:solidFill>
              </a:defRPr>
            </a:pPr>
            <a:r>
              <a:t>• AI Cost Efficiency:</a:t>
            </a:r>
          </a:p>
          <a:p>
            <a:pPr>
              <a:spcAft>
                <a:spcPts val="400"/>
              </a:spcAft>
              <a:defRPr sz="1000">
                <a:solidFill>
                  <a:srgbClr val="64748B"/>
                </a:solidFill>
              </a:defRPr>
            </a:pPr>
            <a:r>
              <a:t>   90%+ Savings via Snapshot Caching vs. Naive LLM</a:t>
            </a:r>
          </a:p>
        </p:txBody>
      </p:sp>
      <p:sp>
        <p:nvSpPr>
          <p:cNvPr id="6" name="Rounded Rectangle 5"/>
          <p:cNvSpPr/>
          <p:nvPr/>
        </p:nvSpPr>
        <p:spPr>
          <a:xfrm>
            <a:off x="6309360" y="1645920"/>
            <a:ext cx="5120640" cy="4389120"/>
          </a:xfrm>
          <a:prstGeom prst="roundRect">
            <a:avLst/>
          </a:prstGeom>
          <a:solidFill>
            <a:srgbClr val="F0FDF4"/>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920240"/>
            <a:ext cx="4572000" cy="3840480"/>
          </a:xfrm>
          <a:prstGeom prst="rect">
            <a:avLst/>
          </a:prstGeom>
          <a:noFill/>
        </p:spPr>
        <p:txBody>
          <a:bodyPr wrap="square">
            <a:spAutoFit/>
          </a:bodyPr>
          <a:lstStyle/>
          <a:p>
            <a:pPr>
              <a:spcAft>
                <a:spcPts val="1000"/>
              </a:spcAft>
              <a:defRPr sz="1400" b="1">
                <a:solidFill>
                  <a:srgbClr val="10B981"/>
                </a:solidFill>
              </a:defRPr>
            </a:pPr>
            <a:r>
              <a:t>DEMONSTRATED PROTOTYPE SCENARIO</a:t>
            </a:r>
          </a:p>
          <a:p>
            <a:pPr>
              <a:defRPr sz="1100" b="1">
                <a:solidFill>
                  <a:srgbClr val="1E293B"/>
                </a:solidFill>
              </a:defRPr>
            </a:pPr>
            <a:r>
              <a:t>▶ PR-2026-000101 (Workstations)</a:t>
            </a:r>
          </a:p>
          <a:p>
            <a:pPr>
              <a:spcAft>
                <a:spcPts val="600"/>
              </a:spcAft>
              <a:defRPr sz="1000">
                <a:solidFill>
                  <a:srgbClr val="64748B"/>
                </a:solidFill>
              </a:defRPr>
            </a:pPr>
            <a:r>
              <a:t>50 Units Requested -&gt; 45 Stock Utilized</a:t>
            </a:r>
            <a:br/>
            <a:r>
              <a:t>Direct Avoided Cash Outlay: $108,000.00</a:t>
            </a:r>
          </a:p>
          <a:p>
            <a:pPr>
              <a:defRPr sz="1100" b="1">
                <a:solidFill>
                  <a:srgbClr val="1E293B"/>
                </a:solidFill>
              </a:defRPr>
            </a:pPr>
            <a:r>
              <a:t>▶ Duplicate Alert Triggered</a:t>
            </a:r>
          </a:p>
          <a:p>
            <a:pPr>
              <a:spcAft>
                <a:spcPts val="600"/>
              </a:spcAft>
              <a:defRPr sz="1000">
                <a:solidFill>
                  <a:srgbClr val="64748B"/>
                </a:solidFill>
              </a:defRPr>
            </a:pPr>
            <a:r>
              <a:t>10 Units Duplicate Request Flagged</a:t>
            </a:r>
            <a:br/>
            <a:r>
              <a:t>Potential Duplicate Savings: $24,000.00</a:t>
            </a:r>
          </a:p>
          <a:p>
            <a:pPr>
              <a:defRPr sz="1100" b="1">
                <a:solidFill>
                  <a:srgbClr val="1E293B"/>
                </a:solidFill>
              </a:defRPr>
            </a:pPr>
            <a:r>
              <a:t>▶ Quotation Scoring Optimization</a:t>
            </a:r>
          </a:p>
          <a:p>
            <a:pPr>
              <a:spcAft>
                <a:spcPts val="600"/>
              </a:spcAft>
              <a:defRPr sz="1000">
                <a:solidFill>
                  <a:srgbClr val="64748B"/>
                </a:solidFill>
              </a:defRPr>
            </a:pPr>
            <a:r>
              <a:t>2-Day Delivery Selected vs. 12-Day Delay</a:t>
            </a:r>
            <a:br/>
            <a:r>
              <a:t>Eliminated 10 Days Line Stoppage Risk</a:t>
            </a:r>
          </a:p>
          <a:p>
            <a:pPr>
              <a:defRPr sz="1100" b="1">
                <a:solidFill>
                  <a:srgbClr val="1E293B"/>
                </a:solidFill>
              </a:defRPr>
            </a:pPr>
            <a:r>
              <a:t>▶ Total Demonstrated Value</a:t>
            </a:r>
          </a:p>
          <a:p>
            <a:pPr>
              <a:spcAft>
                <a:spcPts val="600"/>
              </a:spcAft>
              <a:defRPr sz="1000">
                <a:solidFill>
                  <a:srgbClr val="64748B"/>
                </a:solidFill>
              </a:defRPr>
            </a:pPr>
            <a:r>
              <a:t>$132,000+ in Single Prototype Lifecycle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698480" cy="4572000"/>
          </a:xfrm>
          <a:prstGeom prst="rect">
            <a:avLst/>
          </a:prstGeom>
          <a:noFill/>
        </p:spPr>
        <p:txBody>
          <a:bodyPr wrap="square">
            <a:spAutoFit/>
          </a:bodyPr>
          <a:lstStyle/>
          <a:p>
            <a:pPr>
              <a:spcAft>
                <a:spcPts val="1600"/>
              </a:spcAft>
              <a:defRPr sz="1300" b="1">
                <a:solidFill>
                  <a:srgbClr val="00A3E0"/>
                </a:solidFill>
              </a:defRPr>
            </a:pPr>
            <a:r>
              <a:t>CONCLUSION &amp; LIVE DEMONSTRATION</a:t>
            </a:r>
          </a:p>
          <a:p>
            <a:pPr>
              <a:spcAft>
                <a:spcPts val="2000"/>
              </a:spcAft>
              <a:defRPr sz="3600" b="1">
                <a:solidFill>
                  <a:srgbClr val="FFFFFF"/>
                </a:solidFill>
              </a:defRPr>
            </a:pPr>
            <a:r>
              <a:t>From Processing Purchase Requests</a:t>
            </a:r>
            <a:br/>
            <a:r>
              <a:t>to Understanding Procurement Decisions.</a:t>
            </a:r>
          </a:p>
          <a:p>
            <a:pPr>
              <a:spcAft>
                <a:spcPts val="2800"/>
              </a:spcAft>
              <a:defRPr sz="1800" b="1">
                <a:solidFill>
                  <a:srgbClr val="00A3E0"/>
                </a:solidFill>
              </a:defRPr>
            </a:pPr>
            <a:r>
              <a:t>"Every Purchase Request Is a Series of Decisions.</a:t>
            </a:r>
            <a:br/>
            <a:r>
              <a:t>We made those decisions more intelligent, auditable, and fast."</a:t>
            </a:r>
          </a:p>
          <a:p>
            <a:pPr>
              <a:defRPr sz="2000" b="1">
                <a:solidFill>
                  <a:srgbClr val="10B981"/>
                </a:solidFill>
              </a:defRPr>
            </a:pPr>
            <a:r>
              <a:t>▶ NEXT: LIVE INTERACTIVE END-TO-END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