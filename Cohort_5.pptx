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4039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Procurement starts with a humble request, but real optimization happens in the decisions that follow.</a:t>
            </a:r>
          </a:p>
          <a:p>
            <a:endParaRPr/>
          </a:p>
          <a:p>
            <a:r>
              <a:t>🎙️ SUGGESTED NARRATION (~1.0 min):</a:t>
            </a:r>
          </a:p>
          <a:p>
            <a:r>
              <a:t>Good morning, members of the Micron evaluation panel. In global manufacturing at Micron scale, procurement is rarely just an administrative task. Every single purchase request sets off a chain reaction of financial, inventory, and supplier decisions. Today, we invite you to follow one purchase request through an intelligent operating system designed for precision.</a:t>
            </a:r>
          </a:p>
          <a:p>
            <a:endParaRPr/>
          </a:p>
          <a:p>
            <a:r>
              <a:t>🔄 TRANSITION TO NEXT SLIDE:</a:t>
            </a:r>
          </a:p>
          <a:p>
            <a:r>
              <a:t>Let us look at the enterprise scale challenge facing modern procurement.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High requisition volume creates invisible duplicate spend and supplier blind spots.</a:t>
            </a:r>
          </a:p>
          <a:p>
            <a:endParaRPr/>
          </a:p>
          <a:p>
            <a:r>
              <a:t>🎙️ SUGGESTED NARRATION (~1.0 min):</a:t>
            </a:r>
          </a:p>
          <a:p>
            <a:r>
              <a:t>When an enterprise processes thousands of PRs daily, human review chains break down. Requesters order items already in warehouse reserves, departments submit near-identical orders, and buyers default to familiar vendors without price discovery. Scale breaks the manual process.</a:t>
            </a:r>
          </a:p>
          <a:p>
            <a:endParaRPr/>
          </a:p>
          <a:p>
            <a:r>
              <a:t>🔄 TRANSITION TO NEXT SLIDE:</a:t>
            </a:r>
          </a:p>
          <a:p>
            <a:r>
              <a:t>Let us examine the hidden questions behind every single request.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A single PR hides 5 critical choices that directly govern cost, lead time, and supply risk.</a:t>
            </a:r>
          </a:p>
          <a:p>
            <a:endParaRPr/>
          </a:p>
          <a:p>
            <a:r>
              <a:t>🎙️ SUGGESTED NARRATION (~1.0 min):</a:t>
            </a:r>
          </a:p>
          <a:p>
            <a:r>
              <a:t>A purchase request looks simple. But behind it are five critical choices: Do we already own it? Has another team ordered it? Who is qualified? What is their true track record? And which quotation gives the best total value? Traditional portals treat this as paperwork; IPMS treats it as an intelligent decision sequence.</a:t>
            </a:r>
          </a:p>
          <a:p>
            <a:endParaRPr/>
          </a:p>
          <a:p>
            <a:r>
              <a:t>🔄 TRANSITION TO NEXT SLIDE:</a:t>
            </a:r>
          </a:p>
          <a:p>
            <a:r>
              <a:t>Here are the four strategic moves we built to solve this.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Four integrated mechanisms: de-duplication, inventory check, multi-factor sourcing, and RAG synthesis.</a:t>
            </a:r>
          </a:p>
          <a:p>
            <a:endParaRPr/>
          </a:p>
          <a:p>
            <a:r>
              <a:t>🎙️ SUGGESTED NARRATION (~1.0 min):</a:t>
            </a:r>
          </a:p>
          <a:p>
            <a:r>
              <a:t>Our approach closes the procurement gap in four strategic steps: de-duplication at submission, proactive inventory stock check, multi-factor supplier analysis, and RAG-powered qualitative feedback synthesis. Every step adds measurable decision intelligence.</a:t>
            </a:r>
          </a:p>
          <a:p>
            <a:endParaRPr/>
          </a:p>
          <a:p>
            <a:r>
              <a:t>🔄 TRANSITION TO NEXT SLIDE:</a:t>
            </a:r>
          </a:p>
          <a:p>
            <a:r>
              <a:t>Let us walk through the first decision: Should we buy it at all?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Deterministic inventory reconciliation isolates true shortage before initiating external procurement.</a:t>
            </a:r>
          </a:p>
          <a:p>
            <a:endParaRPr/>
          </a:p>
          <a:p>
            <a:r>
              <a:t>🎙️ SUGGESTED NARRATION (~1.0 min):</a:t>
            </a:r>
          </a:p>
          <a:p>
            <a:r>
              <a:t>When an engineer requests 100 units, IPMS deterministically checks warehouse reserves via Shortage = max(0, Requested - Available). With 70 in stock, the true external procurement need drops to 30. Zero AI hallucination, pure mathematical stock reconciliation.</a:t>
            </a:r>
          </a:p>
          <a:p>
            <a:endParaRPr/>
          </a:p>
          <a:p>
            <a:r>
              <a:t>🔄 TRANSITION TO NEXT SLIDE:</a:t>
            </a:r>
          </a:p>
          <a:p>
            <a:r>
              <a:t>Now that we know the requirement is 30, what if someone already ordered 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Duplicate windowing checks active department requests within a ±20% quantity variance.</a:t>
            </a:r>
          </a:p>
          <a:p>
            <a:endParaRPr/>
          </a:p>
          <a:p>
            <a:r>
              <a:t>🎙️ SUGGESTED NARRATION (~1.0 min):</a:t>
            </a:r>
          </a:p>
          <a:p>
            <a:r>
              <a:t>IPMS scans active non-terminal PRs in the same department for the same SKU. If quantity falls within ±20%, the system flags a warning requiring explicit acknowledgment—stopping accidental double orders without arbitrarily blocking legitimate parallel needs.</a:t>
            </a:r>
          </a:p>
          <a:p>
            <a:endParaRPr/>
          </a:p>
          <a:p>
            <a:r>
              <a:t>🔄 TRANSITION TO NEXT SLIDE:</a:t>
            </a:r>
          </a:p>
          <a:p>
            <a:r>
              <a:t>Let us see how our autonomous agentic flow orchestrates these decisions.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Upstream stock verification and duplicate interception prevent unnecessary external procurement before RFQ creation.</a:t>
            </a:r>
          </a:p>
          <a:p>
            <a:endParaRPr/>
          </a:p>
          <a:p>
            <a:r>
              <a:t>🎙️ SUGGESTED NARRATION (~1.0 min):</a:t>
            </a:r>
          </a:p>
          <a:p>
            <a:r>
              <a:t>Together, inventory intelligence and duplicate interception filter out avoidable purchases before any supplier engagement begins. By exhausting internal stock and preventing double orders, we protect company cash flow at zero marginal cost.</a:t>
            </a:r>
          </a:p>
          <a:p>
            <a:endParaRPr/>
          </a:p>
          <a:p>
            <a:r>
              <a:t>🔄 TRANSITION TO NEXT SLIDE:</a:t>
            </a:r>
          </a:p>
          <a:p>
            <a:r>
              <a:t>Let us examine our complete autonomous agentic workflow.</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Agentic tool orchestration combines duplicate checks and RAG vendor sourcing before human supervisor sign-off.</a:t>
            </a:r>
          </a:p>
          <a:p>
            <a:endParaRPr/>
          </a:p>
          <a:p>
            <a:r>
              <a:t>🎙️ SUGGESTED NARRATION (~1.5 min):</a:t>
            </a:r>
          </a:p>
          <a:p>
            <a:r>
              <a:t>This is our agentic architecture: The agent checks stock and duplicates via deterministic tools, runs RAG retrieval for qualitative supplier feedback, and produces one clear executive summary. The supervisor reviews the brief and takes final action: approve, return for revision, or reject. AI advises—humans decide.</a:t>
            </a:r>
          </a:p>
          <a:p>
            <a:endParaRPr/>
          </a:p>
          <a:p>
            <a:r>
              <a:t>🔄 TRANSITION TO NEXT SLIDE:</a:t>
            </a:r>
          </a:p>
          <a:p>
            <a:r>
              <a:t>Now, how do we evaluate candidate suppliers?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Vendor qualification filters the broader supplier database down to a high-confidence, context-aware shortlist.</a:t>
            </a:r>
          </a:p>
          <a:p>
            <a:endParaRPr/>
          </a:p>
          <a:p>
            <a:r>
              <a:t>🎙️ SUGGESTED NARRATION (~1.0 min):</a:t>
            </a:r>
          </a:p>
          <a:p>
            <a:r>
              <a:t>Once a genuine procurement need is verified, we move to supplier qualification. Instead of buyers picking suppliers from personal habit or memory, IPMS evaluates performance data to curate an intelligent shortlist.</a:t>
            </a:r>
          </a:p>
          <a:p>
            <a:endParaRPr/>
          </a:p>
          <a:p>
            <a:r>
              <a:t>🔄 TRANSITION TO NEXT SLIDE:</a:t>
            </a:r>
          </a:p>
          <a:p>
            <a:r>
              <a:t>How do we evaluate a vendor? Let us look at what typical vendor metrics tell us.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Quarterly feedback collection provides qualitative context that raw metrics miss.</a:t>
            </a:r>
          </a:p>
          <a:p>
            <a:endParaRPr/>
          </a:p>
          <a:p>
            <a:r>
              <a:t>🎙️ SUGGESTED NARRATION (~1.0 min):</a:t>
            </a:r>
          </a:p>
          <a:p>
            <a:r>
              <a:t>Every quarter, engineers and procurement stakeholders submit qualitative reviews. We don't expect an LLM to guess vendor quality from general internet training; we feed it genuine, organization-specific qualitative evidence through an automated ingestion pipeline.</a:t>
            </a:r>
          </a:p>
          <a:p>
            <a:endParaRPr/>
          </a:p>
          <a:p>
            <a:r>
              <a:t>🔄 TRANSITION TO NEXT SLIDE:</a:t>
            </a:r>
          </a:p>
          <a:p>
            <a:r>
              <a:t>How does that feedback become actionable intelligence?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Retrieval-Augmented Generation extracts relevant context to ground LLM reasoning.</a:t>
            </a:r>
          </a:p>
          <a:p>
            <a:endParaRPr/>
          </a:p>
          <a:p>
            <a:r>
              <a:t>🎙️ SUGGESTED NARRATION (~1.0 min):</a:t>
            </a:r>
          </a:p>
          <a:p>
            <a:r>
              <a:t>Our RAG pipeline performs dense vector search over stored feedback embeddings. It constructs a compact, relevant evidence packet that combines quantitative scores with historical reviews, prompting the LLM to output executive strengths, risks, and confidence ratings with zero speculation.</a:t>
            </a:r>
          </a:p>
          <a:p>
            <a:endParaRPr/>
          </a:p>
          <a:p>
            <a:r>
              <a:t>🔄 TRANSITION TO NEXT SLIDE:</a:t>
            </a:r>
          </a:p>
          <a:p>
            <a:r>
              <a:t>Where do we draw the line on using AI?</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Zero-hallucination guarantee: math and state transitions are deterministic; LLMs handle qualitative ambiguity.</a:t>
            </a:r>
          </a:p>
          <a:p>
            <a:endParaRPr/>
          </a:p>
          <a:p>
            <a:r>
              <a:t>🎙️ SUGGESTED NARRATION (~1.0 min):</a:t>
            </a:r>
          </a:p>
          <a:p>
            <a:r>
              <a:t>We never let an LLM do math, track budgets, or execute state transitions. Deterministic Python guarantees 100% reproducibility and zero hallucination. Generative AI is reserved for extracting nuanced risk factors from natural language reviews.</a:t>
            </a:r>
          </a:p>
          <a:p>
            <a:endParaRPr/>
          </a:p>
          <a:p>
            <a:r>
              <a:t>🔄 TRANSITION TO NEXT SLIDE:</a:t>
            </a:r>
          </a:p>
          <a:p>
            <a:r>
              <a:t>How do we prevent paying for the same AI intelligence repeatedly?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Recommendation snapshots eliminate redundant LLM token costs when reviewing requests.</a:t>
            </a:r>
          </a:p>
          <a:p>
            <a:endParaRPr/>
          </a:p>
          <a:p>
            <a:r>
              <a:t>🎙️ SUGGESTED NARRATION (~1.0 min):</a:t>
            </a:r>
          </a:p>
          <a:p>
            <a:r>
              <a:t>When an employee generates a recommendation, IPMS persists a versioned recommendation snapshot. When the supervisor reviews the request later, the system loads the cached snapshot with 0 token overhead and sub-5ms latency. AI runs on demand, not on every page reload.</a:t>
            </a:r>
          </a:p>
          <a:p>
            <a:endParaRPr/>
          </a:p>
          <a:p>
            <a:r>
              <a:t>🔄 TRANSITION TO NEXT SLIDE:</a:t>
            </a:r>
          </a:p>
          <a:p>
            <a:r>
              <a:t>When the AI recommends a vendor, who retains the final decision authority?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Supervisors retain absolute decision authority; overrides require mandatory auditable justification.</a:t>
            </a:r>
          </a:p>
          <a:p>
            <a:endParaRPr/>
          </a:p>
          <a:p>
            <a:r>
              <a:t>🎙️ SUGGESTED NARRATION (~1.0 min):</a:t>
            </a:r>
          </a:p>
          <a:p>
            <a:r>
              <a:t>In IPMS, the AI recommends, but the supervisor decides. If a supervisor overrides the system recommendation, a mandatory justification modal is triggered and logged in the immutable audit ledger. Intelligence assists—humans remain accountable.</a:t>
            </a:r>
          </a:p>
          <a:p>
            <a:endParaRPr/>
          </a:p>
          <a:p>
            <a:r>
              <a:t>🔄 TRANSITION TO NEXT SLIDE:</a:t>
            </a:r>
          </a:p>
          <a:p>
            <a:r>
              <a:t>How do recommendations become actual market competition?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IPMS converts recommendations into real competition by issuing RFQs to up to 3 suppliers via a dedicated portal.</a:t>
            </a:r>
          </a:p>
          <a:p>
            <a:endParaRPr/>
          </a:p>
          <a:p>
            <a:r>
              <a:t>🎙️ SUGGESTED NARRATION (~1.0 min):</a:t>
            </a:r>
          </a:p>
          <a:p>
            <a:r>
              <a:t>We never buy directly based on an AI recommendation. Instead, the supervisor issues an RFQ to the top 3 suppliers. Suppliers log into their dedicated Vendor Portal to submit binding quotes with unit rates, lead times, and committed delivery dates.</a:t>
            </a:r>
          </a:p>
          <a:p>
            <a:endParaRPr/>
          </a:p>
          <a:p>
            <a:r>
              <a:t>🔄 TRANSITION TO NEXT SLIDE:</a:t>
            </a:r>
          </a:p>
          <a:p>
            <a:r>
              <a:t>When quotes arrive, how do we evaluate trade-offs?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The 5-Factor Quotation Model V2 evaluates total cost of ownership against lead time velocity and defect rates.</a:t>
            </a:r>
          </a:p>
          <a:p>
            <a:endParaRPr/>
          </a:p>
          <a:p>
            <a:r>
              <a:t>🎙️ SUGGESTED NARRATION (~1.0 min):</a:t>
            </a:r>
          </a:p>
          <a:p>
            <a:r>
              <a:t>Vendor A is the cheapest at $42, but takes 7 days with higher defect risk. Vendor B is $48, but delivers in 2 days with 96% quality. Our deterministic 5-Factor Model V2 scores price at 35%, delivery date at 20%, lead time at 15%, reliability at 15%, and quality at 15%—safeguarding against lowball bids that fail SLAs.</a:t>
            </a:r>
          </a:p>
          <a:p>
            <a:endParaRPr/>
          </a:p>
          <a:p>
            <a:r>
              <a:t>🔄 TRANSITION TO NEXT SLIDE:</a:t>
            </a:r>
          </a:p>
          <a:p>
            <a:r>
              <a:t>Once confirmed, how does execution happen?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Idempotent PO generation guarantees single PDF creation and automated vendor alerts.</a:t>
            </a:r>
          </a:p>
          <a:p>
            <a:endParaRPr/>
          </a:p>
          <a:p>
            <a:r>
              <a:t>🎙️ SUGGESTED NARRATION (~1.0 min):</a:t>
            </a:r>
          </a:p>
          <a:p>
            <a:r>
              <a:t>Upon final approval, IPMS generates an official Purchase Order and compiles an immutable PDF via ReportLab. Our idempotent architecture ensures that network retries or repeated clicks never produce duplicate PO records or charges.</a:t>
            </a:r>
          </a:p>
          <a:p>
            <a:endParaRPr/>
          </a:p>
          <a:p>
            <a:r>
              <a:t>🔄 TRANSITION TO NEXT SLIDE:</a:t>
            </a:r>
          </a:p>
          <a:p>
            <a:r>
              <a:t>Let us examine the complete 4-tier system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Complete 4-tier architecture: actors, Next.js presentation, FastAPI backend with 3 intelligence tiers, and database persistence.</a:t>
            </a:r>
          </a:p>
          <a:p>
            <a:endParaRPr/>
          </a:p>
          <a:p>
            <a:r>
              <a:t>🎙️ SUGGESTED NARRATION (~1.5 min):</a:t>
            </a:r>
          </a:p>
          <a:p>
            <a:r>
              <a:t>Here is the complete system blueprint: Three distinct actor roles interact through Next.js 14. The FastAPI backend orchestrates core state machines alongside our Three-Tier Intelligence Engine: Deterministic for stock and duplicate rules, Analytical for 5-factor scoring, and Generative for RAG qualitative synthesis. All backed by ACID persistence and PDF storage.</a:t>
            </a:r>
          </a:p>
          <a:p>
            <a:endParaRPr/>
          </a:p>
          <a:p>
            <a:r>
              <a:t>🔄 TRANSITION TO NEXT SLIDE:</a:t>
            </a:r>
          </a:p>
          <a:p>
            <a:r>
              <a:t>Let us look at how the technology stack is structured.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Engineered for high maintainability, low operational complexity, and graceful offline fallback.</a:t>
            </a:r>
          </a:p>
          <a:p>
            <a:endParaRPr/>
          </a:p>
          <a:p>
            <a:r>
              <a:t>🎙️ SUGGESTED NARRATION (~1.0 min):</a:t>
            </a:r>
          </a:p>
          <a:p>
            <a:r>
              <a:t>We chose a modular monolith over microservice sprawl: Next.js 14 on the frontend, FastAPI and SQLAlchemy on the backend, JWT security, and pluggable AI providers with automatic fallback. If external AI APIs are unreachable, core procurement, inventory checks, and quotation scoring run 100% uninterrupted.</a:t>
            </a:r>
          </a:p>
          <a:p>
            <a:endParaRPr/>
          </a:p>
          <a:p>
            <a:r>
              <a:t>🔄 TRANSITION TO NEXT SLIDE:</a:t>
            </a:r>
          </a:p>
          <a:p>
            <a:r>
              <a:t>How does our engineering align with Micron Technology values?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Direct alignment with Micron core values: People, Innovation, Collaboration, Tenacity, and Quality.</a:t>
            </a:r>
          </a:p>
          <a:p>
            <a:endParaRPr/>
          </a:p>
          <a:p>
            <a:r>
              <a:t>🎙️ SUGGESTED NARRATION (~1.0 min):</a:t>
            </a:r>
          </a:p>
          <a:p>
            <a:r>
              <a:t>Micron leads global semiconductor innovation, where precision and quality are paramount. IPMS directly embodies Micron values: valuing human experience, pioneering hybrid AI architecture, uniting cross-functional teams, and upholding uncompromising governance.</a:t>
            </a:r>
          </a:p>
          <a:p>
            <a:endParaRPr/>
          </a:p>
          <a:p>
            <a:r>
              <a:t>🔄 TRANSITION TO NEXT SLIDE:</a:t>
            </a:r>
          </a:p>
          <a:p>
            <a:r>
              <a:t>Let us examine our measurable business impact.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Tangible ROI metrics: 97% reduction in turnaround time, proven cost avoidance on duplicates, and sub-cent AI operational cost.</a:t>
            </a:r>
          </a:p>
          <a:p>
            <a:endParaRPr/>
          </a:p>
          <a:p>
            <a:r>
              <a:t>🎙️ SUGGESTED NARRATION (~1.0 min):</a:t>
            </a:r>
          </a:p>
          <a:p>
            <a:r>
              <a:t>Here are the numbers that matter: We reduce PR-to-PO turnaround from 5-7 business days down to under 15 minutes—a 97% compression. Intercepting a single duplicate requisition avoided ₹39,500 in landed costs on our semiconductor test scenario. And because deterministic logic handles arithmetic, our AI token cost is less than a single penny per request.</a:t>
            </a:r>
          </a:p>
          <a:p>
            <a:endParaRPr/>
          </a:p>
          <a:p>
            <a:r>
              <a:t>🔄 TRANSITION TO NEXT SLIDE:</a:t>
            </a:r>
          </a:p>
          <a:p>
            <a:r>
              <a:t>Let us conclude and launch the live interactive demonstration.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MESSAGE:</a:t>
            </a:r>
          </a:p>
          <a:p>
            <a:r>
              <a:t>Transition into the live 8-10 minute end-to-end interactive demo across Employee, Supervisor, and Vendor roles.</a:t>
            </a:r>
          </a:p>
          <a:p>
            <a:endParaRPr/>
          </a:p>
          <a:p>
            <a:r>
              <a:t>🎙️ SUGGESTED NARRATION (~1.0 min):</a:t>
            </a:r>
          </a:p>
          <a:p>
            <a:r>
              <a:t>We have explained the decisions. Now let us follow an actual purchase request through the live application. We will switch to our live environment at localhost:3000 to demonstrate the employee request, stock check, duplicate detection, supervisor revision loop, vendor bidding portal, 5-factor quotation scoring, and instant PO generation in real time. Thank you.</a:t>
            </a:r>
          </a:p>
          <a:p>
            <a:endParaRPr/>
          </a:p>
          <a:p>
            <a:r>
              <a:t>🔄 TRANSITION TO NEXT SLIDE:</a:t>
            </a:r>
          </a:p>
          <a:p>
            <a:r>
              <a:t>Begin live demo.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822960"/>
            <a:ext cx="2011680" cy="54864"/>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051560"/>
            <a:ext cx="3474720" cy="365760"/>
          </a:xfrm>
          <a:prstGeom prst="roundRect">
            <a:avLst/>
          </a:prstGeom>
          <a:solidFill>
            <a:srgbClr val="002447"/>
          </a:solidFill>
          <a:ln w="12700">
            <a:solidFill>
              <a:srgbClr val="0072CE"/>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0C2FF"/>
                </a:solidFill>
                <a:latin typeface="Segoe UI"/>
              </a:defRPr>
            </a:pPr>
            <a:r>
              <a:t>MICRON TECHNOLOGY HACKATHON 2026</a:t>
            </a:r>
          </a:p>
        </p:txBody>
      </p:sp>
      <p:sp>
        <p:nvSpPr>
          <p:cNvPr id="5" name="TextBox 4"/>
          <p:cNvSpPr txBox="1"/>
          <p:nvPr/>
        </p:nvSpPr>
        <p:spPr>
          <a:xfrm>
            <a:off x="308187" y="1495044"/>
            <a:ext cx="10698480" cy="2103120"/>
          </a:xfrm>
          <a:prstGeom prst="rect">
            <a:avLst/>
          </a:prstGeom>
          <a:noFill/>
        </p:spPr>
        <p:txBody>
          <a:bodyPr wrap="none">
            <a:spAutoFit/>
          </a:bodyPr>
          <a:lstStyle/>
          <a:p>
            <a:pPr>
              <a:defRPr sz="4200" b="1">
                <a:solidFill>
                  <a:srgbClr val="FFFFFF"/>
                </a:solidFill>
                <a:latin typeface="Segoe UI"/>
              </a:defRPr>
            </a:pPr>
            <a:r>
              <a:rPr dirty="0"/>
              <a:t>From Purchase Request to Intelligent Decision</a:t>
            </a:r>
          </a:p>
          <a:p>
            <a:pPr>
              <a:spcBef>
                <a:spcPts val="800"/>
              </a:spcBef>
              <a:defRPr sz="2200" b="1">
                <a:solidFill>
                  <a:srgbClr val="00C2FF"/>
                </a:solidFill>
              </a:defRPr>
            </a:pPr>
            <a:r>
              <a:rPr dirty="0"/>
              <a:t>Intelligent Procurement Management System (IPMS)</a:t>
            </a:r>
          </a:p>
          <a:p>
            <a:pPr>
              <a:spcBef>
                <a:spcPts val="600"/>
              </a:spcBef>
              <a:defRPr sz="1400">
                <a:solidFill>
                  <a:srgbClr val="94A3B8"/>
                </a:solidFill>
              </a:defRPr>
            </a:pPr>
            <a:r>
              <a:rPr dirty="0"/>
              <a:t>Autonomous Orchestration, Multi-Factor Decision Intelligence &amp; Policy-Bound Governance</a:t>
            </a:r>
          </a:p>
        </p:txBody>
      </p:sp>
      <p:sp>
        <p:nvSpPr>
          <p:cNvPr id="6" name="Rounded Rectangle 5"/>
          <p:cNvSpPr/>
          <p:nvPr/>
        </p:nvSpPr>
        <p:spPr>
          <a:xfrm>
            <a:off x="731520" y="4389120"/>
            <a:ext cx="2011680" cy="1463040"/>
          </a:xfrm>
          <a:prstGeom prst="roundRect">
            <a:avLst/>
          </a:prstGeom>
          <a:solidFill>
            <a:srgbClr val="003060"/>
          </a:solidFill>
          <a:ln w="15240">
            <a:solidFill>
              <a:srgbClr val="00C2FF"/>
            </a:solidFill>
          </a:ln>
        </p:spPr>
        <p:style>
          <a:lnRef idx="1">
            <a:schemeClr val="accent1"/>
          </a:lnRef>
          <a:fillRef idx="3">
            <a:schemeClr val="accent1"/>
          </a:fillRef>
          <a:effectRef idx="2">
            <a:schemeClr val="accent1"/>
          </a:effectRef>
          <a:fontRef idx="minor">
            <a:schemeClr val="lt1"/>
          </a:fontRef>
        </p:style>
        <p:txBody>
          <a:bodyPr lIns="137160" tIns="274320" rIns="137160" rtlCol="0" anchor="ctr"/>
          <a:lstStyle/>
          <a:p>
            <a:pPr algn="ctr">
              <a:defRPr sz="1300" b="1">
                <a:solidFill>
                  <a:srgbClr val="00C2FF"/>
                </a:solidFill>
              </a:defRPr>
            </a:pPr>
            <a:r>
              <a:t>01 REQUEST</a:t>
            </a:r>
          </a:p>
          <a:p>
            <a:pPr algn="ctr">
              <a:spcBef>
                <a:spcPts val="600"/>
              </a:spcBef>
              <a:defRPr sz="1000">
                <a:solidFill>
                  <a:srgbClr val="94A3B8"/>
                </a:solidFill>
              </a:defRPr>
            </a:pPr>
            <a:r>
              <a:t>Natural Language Requisition</a:t>
            </a:r>
          </a:p>
        </p:txBody>
      </p:sp>
      <p:sp>
        <p:nvSpPr>
          <p:cNvPr id="7" name="Rounded Rectangle 6"/>
          <p:cNvSpPr/>
          <p:nvPr/>
        </p:nvSpPr>
        <p:spPr>
          <a:xfrm>
            <a:off x="2907792" y="4389120"/>
            <a:ext cx="2011680" cy="146304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lIns="137160" tIns="274320" rIns="137160" rtlCol="0" anchor="ctr"/>
          <a:lstStyle/>
          <a:p>
            <a:pPr algn="ctr">
              <a:defRPr sz="1300" b="1">
                <a:solidFill>
                  <a:srgbClr val="FFFFFF"/>
                </a:solidFill>
              </a:defRPr>
            </a:pPr>
            <a:r>
              <a:t>02 VERIFY</a:t>
            </a:r>
          </a:p>
          <a:p>
            <a:pPr algn="ctr">
              <a:spcBef>
                <a:spcPts val="600"/>
              </a:spcBef>
              <a:defRPr sz="1000">
                <a:solidFill>
                  <a:srgbClr val="94A3B8"/>
                </a:solidFill>
              </a:defRPr>
            </a:pPr>
            <a:r>
              <a:t>Deterministic Stock &amp; Duplicates</a:t>
            </a:r>
          </a:p>
        </p:txBody>
      </p:sp>
      <p:sp>
        <p:nvSpPr>
          <p:cNvPr id="8" name="Rounded Rectangle 7"/>
          <p:cNvSpPr/>
          <p:nvPr/>
        </p:nvSpPr>
        <p:spPr>
          <a:xfrm>
            <a:off x="5084064" y="4389120"/>
            <a:ext cx="2011680" cy="146304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lIns="137160" tIns="274320" rIns="137160" rtlCol="0" anchor="ctr"/>
          <a:lstStyle/>
          <a:p>
            <a:pPr algn="ctr">
              <a:defRPr sz="1300" b="1">
                <a:solidFill>
                  <a:srgbClr val="FFFFFF"/>
                </a:solidFill>
              </a:defRPr>
            </a:pPr>
            <a:r>
              <a:t>03 SOURCING</a:t>
            </a:r>
          </a:p>
          <a:p>
            <a:pPr algn="ctr">
              <a:spcBef>
                <a:spcPts val="600"/>
              </a:spcBef>
              <a:defRPr sz="1000">
                <a:solidFill>
                  <a:srgbClr val="94A3B8"/>
                </a:solidFill>
              </a:defRPr>
            </a:pPr>
            <a:r>
              <a:t>RAG Qualitative Synthesis</a:t>
            </a:r>
          </a:p>
        </p:txBody>
      </p:sp>
      <p:sp>
        <p:nvSpPr>
          <p:cNvPr id="9" name="Rounded Rectangle 8"/>
          <p:cNvSpPr/>
          <p:nvPr/>
        </p:nvSpPr>
        <p:spPr>
          <a:xfrm>
            <a:off x="7260336" y="4389120"/>
            <a:ext cx="2011680" cy="146304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lIns="137160" tIns="274320" rIns="137160" rtlCol="0" anchor="ctr"/>
          <a:lstStyle/>
          <a:p>
            <a:pPr algn="ctr">
              <a:defRPr sz="1300" b="1">
                <a:solidFill>
                  <a:srgbClr val="FFFFFF"/>
                </a:solidFill>
              </a:defRPr>
            </a:pPr>
            <a:r>
              <a:t>04 COMPETE</a:t>
            </a:r>
          </a:p>
          <a:p>
            <a:pPr algn="ctr">
              <a:spcBef>
                <a:spcPts val="600"/>
              </a:spcBef>
              <a:defRPr sz="1000">
                <a:solidFill>
                  <a:srgbClr val="94A3B8"/>
                </a:solidFill>
              </a:defRPr>
            </a:pPr>
            <a:r>
              <a:t>Multi-Factor Quotations</a:t>
            </a:r>
          </a:p>
        </p:txBody>
      </p:sp>
      <p:sp>
        <p:nvSpPr>
          <p:cNvPr id="10" name="Rounded Rectangle 9"/>
          <p:cNvSpPr/>
          <p:nvPr/>
        </p:nvSpPr>
        <p:spPr>
          <a:xfrm>
            <a:off x="9436608" y="4389120"/>
            <a:ext cx="2011680" cy="146304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lIns="137160" tIns="274320" rIns="137160" rtlCol="0" anchor="ctr"/>
          <a:lstStyle/>
          <a:p>
            <a:pPr algn="ctr">
              <a:defRPr sz="1300" b="1">
                <a:solidFill>
                  <a:srgbClr val="10B981"/>
                </a:solidFill>
              </a:defRPr>
            </a:pPr>
            <a:r>
              <a:t>05 EXECUTE</a:t>
            </a:r>
          </a:p>
          <a:p>
            <a:pPr algn="ctr">
              <a:spcBef>
                <a:spcPts val="600"/>
              </a:spcBef>
              <a:defRPr sz="1000">
                <a:solidFill>
                  <a:srgbClr val="94A3B8"/>
                </a:solidFill>
              </a:defRPr>
            </a:pPr>
            <a:r>
              <a:t>Idempotent PO Generation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1: THE PROBLEM  •  THE SCALE CRISIS</a:t>
            </a:r>
          </a:p>
          <a:p>
            <a:pPr>
              <a:defRPr sz="2600" b="1">
                <a:solidFill>
                  <a:srgbClr val="FFFFFF"/>
                </a:solidFill>
                <a:latin typeface="Segoe UI"/>
              </a:defRPr>
            </a:pPr>
            <a:r>
              <a:t>Procurement at scale breaks down under its own volume</a:t>
            </a:r>
          </a:p>
        </p:txBody>
      </p:sp>
      <p:sp>
        <p:nvSpPr>
          <p:cNvPr id="5" name="Rounded Rectangle 4"/>
          <p:cNvSpPr/>
          <p:nvPr/>
        </p:nvSpPr>
        <p:spPr>
          <a:xfrm>
            <a:off x="731520" y="1645920"/>
            <a:ext cx="6675120" cy="42976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lIns="457200" tIns="548640" rIns="457200" rtlCol="0" anchor="ctr"/>
          <a:lstStyle/>
          <a:p>
            <a:pPr algn="ctr">
              <a:defRPr sz="2200" b="1">
                <a:solidFill>
                  <a:srgbClr val="FFFFFF"/>
                </a:solidFill>
              </a:defRPr>
            </a:pPr>
            <a:r>
              <a:t>Large organizations generate thousands of purchase requisitions daily.</a:t>
            </a:r>
          </a:p>
          <a:p>
            <a:br/>
            <a:r>
              <a:t>This sheer volume drives massive operational inefficiency:</a:t>
            </a:r>
          </a:p>
          <a:p>
            <a:pPr>
              <a:spcBef>
                <a:spcPts val="800"/>
              </a:spcBef>
              <a:defRPr sz="1300">
                <a:solidFill>
                  <a:srgbClr val="94A3B8"/>
                </a:solidFill>
              </a:defRPr>
            </a:pPr>
            <a:r>
              <a:t>• Invisible Duplicate Spend: Parallel requests for identical SKUs across departments</a:t>
            </a:r>
          </a:p>
          <a:p>
            <a:pPr>
              <a:spcBef>
                <a:spcPts val="800"/>
              </a:spcBef>
              <a:defRPr sz="1300">
                <a:solidFill>
                  <a:srgbClr val="94A3B8"/>
                </a:solidFill>
              </a:defRPr>
            </a:pPr>
            <a:r>
              <a:t>• Inventory Blindness: Buying new parts while warehouse reserves sit unutilized</a:t>
            </a:r>
          </a:p>
          <a:p>
            <a:pPr>
              <a:spcBef>
                <a:spcPts val="800"/>
              </a:spcBef>
              <a:defRPr sz="1300">
                <a:solidFill>
                  <a:srgbClr val="94A3B8"/>
                </a:solidFill>
              </a:defRPr>
            </a:pPr>
            <a:r>
              <a:t>• Lowball Price Trap: Awarding contracts on unit price while ignoring delivery failure rates</a:t>
            </a:r>
          </a:p>
        </p:txBody>
      </p:sp>
      <p:sp>
        <p:nvSpPr>
          <p:cNvPr id="6" name="Rounded Rectangle 5"/>
          <p:cNvSpPr/>
          <p:nvPr/>
        </p:nvSpPr>
        <p:spPr>
          <a:xfrm>
            <a:off x="7680960" y="1645920"/>
            <a:ext cx="3749039" cy="4297680"/>
          </a:xfrm>
          <a:prstGeom prst="roundRect">
            <a:avLst/>
          </a:prstGeom>
          <a:solidFill>
            <a:srgbClr val="14253F"/>
          </a:solidFill>
          <a:ln w="22860">
            <a:solidFill>
              <a:srgbClr val="0072CE"/>
            </a:solidFill>
          </a:ln>
        </p:spPr>
        <p:style>
          <a:lnRef idx="1">
            <a:schemeClr val="accent1"/>
          </a:lnRef>
          <a:fillRef idx="3">
            <a:schemeClr val="accent1"/>
          </a:fillRef>
          <a:effectRef idx="2">
            <a:schemeClr val="accent1"/>
          </a:effectRef>
          <a:fontRef idx="minor">
            <a:schemeClr val="lt1"/>
          </a:fontRef>
        </p:style>
        <p:txBody>
          <a:bodyPr tIns="457200" rtlCol="0" anchor="ctr"/>
          <a:lstStyle/>
          <a:p>
            <a:pPr algn="ctr">
              <a:defRPr sz="1200" b="1">
                <a:solidFill>
                  <a:srgbClr val="00C2FF"/>
                </a:solidFill>
              </a:defRPr>
            </a:pPr>
            <a:r>
              <a:rPr dirty="0"/>
              <a:t>PRs SUBMITTED / DAY</a:t>
            </a:r>
            <a:endParaRPr lang="en-IN" dirty="0"/>
          </a:p>
          <a:p>
            <a:pPr algn="ctr">
              <a:spcBef>
                <a:spcPts val="1200"/>
              </a:spcBef>
              <a:defRPr sz="5600" b="1">
                <a:solidFill>
                  <a:srgbClr val="FFFFFF"/>
                </a:solidFill>
              </a:defRPr>
            </a:pPr>
            <a:r>
              <a:rPr lang="en-IN" dirty="0"/>
              <a:t>2,847</a:t>
            </a:r>
          </a:p>
          <a:p>
            <a:pPr algn="ctr">
              <a:spcBef>
                <a:spcPts val="1200"/>
              </a:spcBef>
              <a:defRPr sz="5600" b="1">
                <a:solidFill>
                  <a:srgbClr val="FFFFFF"/>
                </a:solidFill>
              </a:defRPr>
            </a:pPr>
            <a:endParaRPr lang="en-IN" dirty="0"/>
          </a:p>
          <a:p>
            <a:pPr algn="ctr">
              <a:spcBef>
                <a:spcPts val="800"/>
              </a:spcBef>
              <a:defRPr sz="1300" b="1">
                <a:solidFill>
                  <a:srgbClr val="F43F5E"/>
                </a:solidFill>
              </a:defRPr>
            </a:pPr>
            <a:r>
              <a:rPr dirty="0"/>
              <a:t>▲ High Volume Enterprise Benchmark</a:t>
            </a:r>
          </a:p>
        </p:txBody>
      </p:sp>
      <p:sp>
        <p:nvSpPr>
          <p:cNvPr id="7" name="Rounded Rectangle 6"/>
          <p:cNvSpPr/>
          <p:nvPr/>
        </p:nvSpPr>
        <p:spPr>
          <a:xfrm>
            <a:off x="8046720" y="4297680"/>
            <a:ext cx="3017520" cy="640080"/>
          </a:xfrm>
          <a:prstGeom prst="roundRect">
            <a:avLst/>
          </a:prstGeom>
          <a:solidFill>
            <a:srgbClr val="002447"/>
          </a:solidFill>
          <a:ln w="12700">
            <a:solidFill>
              <a:srgbClr val="1F365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E2E8F0"/>
                </a:solidFill>
                <a:latin typeface="Segoe UI"/>
              </a:defRPr>
            </a:pPr>
            <a:r>
              <a:t>Scale breaks manual review chains.</a:t>
            </a:r>
            <a:br/>
            <a:r>
              <a:t>Decision intelligence fixes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1: THE PROBLEM  •  DECISION INCEPTION</a:t>
            </a:r>
          </a:p>
          <a:p>
            <a:pPr>
              <a:defRPr sz="2600" b="1">
                <a:solidFill>
                  <a:srgbClr val="FFFFFF"/>
                </a:solidFill>
                <a:latin typeface="Segoe UI"/>
              </a:defRPr>
            </a:pPr>
            <a:r>
              <a:t>Until You Follow What Happens Next</a:t>
            </a:r>
          </a:p>
        </p:txBody>
      </p:sp>
      <p:sp>
        <p:nvSpPr>
          <p:cNvPr id="5" name="Rounded Rectangle 4"/>
          <p:cNvSpPr/>
          <p:nvPr/>
        </p:nvSpPr>
        <p:spPr>
          <a:xfrm>
            <a:off x="4663440" y="2651760"/>
            <a:ext cx="2834640" cy="1828800"/>
          </a:xfrm>
          <a:prstGeom prst="roundRect">
            <a:avLst/>
          </a:prstGeom>
          <a:solidFill>
            <a:srgbClr val="0072CE"/>
          </a:solidFill>
          <a:ln w="254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PURCHASE</a:t>
            </a:r>
            <a:br/>
            <a:r>
              <a:t>REQUEST</a:t>
            </a:r>
          </a:p>
          <a:p>
            <a:pPr algn="ctr">
              <a:spcBef>
                <a:spcPts val="600"/>
              </a:spcBef>
              <a:defRPr sz="1100">
                <a:solidFill>
                  <a:srgbClr val="E0F2FE"/>
                </a:solidFill>
              </a:defRPr>
            </a:pPr>
            <a:r>
              <a:t>Single PR Trigger</a:t>
            </a:r>
          </a:p>
        </p:txBody>
      </p:sp>
      <p:sp>
        <p:nvSpPr>
          <p:cNvPr id="6" name="Rounded Rectangle 5"/>
          <p:cNvSpPr/>
          <p:nvPr/>
        </p:nvSpPr>
        <p:spPr>
          <a:xfrm>
            <a:off x="731520" y="1828800"/>
            <a:ext cx="3474720"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64592" rtlCol="0" anchor="ctr"/>
          <a:lstStyle/>
          <a:p>
            <a:pPr algn="ctr">
              <a:defRPr sz="1300" b="1">
                <a:solidFill>
                  <a:srgbClr val="00C2FF"/>
                </a:solidFill>
              </a:defRPr>
            </a:pPr>
            <a:r>
              <a:t>DO WE NEED IT?</a:t>
            </a:r>
          </a:p>
          <a:p>
            <a:pPr algn="ctr">
              <a:defRPr sz="1000">
                <a:solidFill>
                  <a:srgbClr val="94A3B8"/>
                </a:solidFill>
              </a:defRPr>
            </a:pPr>
            <a:r>
              <a:t>Inventory Reserve Check</a:t>
            </a:r>
          </a:p>
        </p:txBody>
      </p:sp>
      <p:sp>
        <p:nvSpPr>
          <p:cNvPr id="7" name="Rounded Rectangle 6"/>
          <p:cNvSpPr/>
          <p:nvPr/>
        </p:nvSpPr>
        <p:spPr>
          <a:xfrm>
            <a:off x="731520" y="3931920"/>
            <a:ext cx="3474720"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64592" rtlCol="0" anchor="ctr"/>
          <a:lstStyle/>
          <a:p>
            <a:pPr algn="ctr">
              <a:defRPr sz="1300" b="1">
                <a:solidFill>
                  <a:srgbClr val="00C2FF"/>
                </a:solidFill>
              </a:defRPr>
            </a:pPr>
            <a:r>
              <a:t>ARE WE ALREADY BUYING IT?</a:t>
            </a:r>
          </a:p>
          <a:p>
            <a:pPr algn="ctr">
              <a:defRPr sz="1000">
                <a:solidFill>
                  <a:srgbClr val="94A3B8"/>
                </a:solidFill>
              </a:defRPr>
            </a:pPr>
            <a:r>
              <a:t>±20% Duplicate Window</a:t>
            </a:r>
          </a:p>
        </p:txBody>
      </p:sp>
      <p:sp>
        <p:nvSpPr>
          <p:cNvPr id="8" name="Rounded Rectangle 7"/>
          <p:cNvSpPr/>
          <p:nvPr/>
        </p:nvSpPr>
        <p:spPr>
          <a:xfrm>
            <a:off x="7955279" y="1828800"/>
            <a:ext cx="3474720"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64592" rtlCol="0" anchor="ctr"/>
          <a:lstStyle/>
          <a:p>
            <a:pPr algn="ctr">
              <a:defRPr sz="1300" b="1">
                <a:solidFill>
                  <a:srgbClr val="00C2FF"/>
                </a:solidFill>
              </a:defRPr>
            </a:pPr>
            <a:r>
              <a:t>WHO SHOULD SUPPLY IT?</a:t>
            </a:r>
          </a:p>
          <a:p>
            <a:pPr algn="ctr">
              <a:defRPr sz="1000">
                <a:solidFill>
                  <a:srgbClr val="94A3B8"/>
                </a:solidFill>
              </a:defRPr>
            </a:pPr>
            <a:r>
              <a:t>Supplier Qualification</a:t>
            </a:r>
          </a:p>
        </p:txBody>
      </p:sp>
      <p:sp>
        <p:nvSpPr>
          <p:cNvPr id="9" name="Rounded Rectangle 8"/>
          <p:cNvSpPr/>
          <p:nvPr/>
        </p:nvSpPr>
        <p:spPr>
          <a:xfrm>
            <a:off x="7955279" y="3931920"/>
            <a:ext cx="3474720"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64592" rtlCol="0" anchor="ctr"/>
          <a:lstStyle/>
          <a:p>
            <a:pPr algn="ctr">
              <a:defRPr sz="1300" b="1">
                <a:solidFill>
                  <a:srgbClr val="00C2FF"/>
                </a:solidFill>
              </a:defRPr>
            </a:pPr>
            <a:r>
              <a:t>WHAT DO WE KNOW ABOUT THEM?</a:t>
            </a:r>
          </a:p>
          <a:p>
            <a:pPr algn="ctr">
              <a:defRPr sz="1000">
                <a:solidFill>
                  <a:srgbClr val="94A3B8"/>
                </a:solidFill>
              </a:defRPr>
            </a:pPr>
            <a:r>
              <a:t>RAG Review Synthesis</a:t>
            </a:r>
          </a:p>
        </p:txBody>
      </p:sp>
      <p:sp>
        <p:nvSpPr>
          <p:cNvPr id="10" name="Rounded Rectangle 9"/>
          <p:cNvSpPr/>
          <p:nvPr/>
        </p:nvSpPr>
        <p:spPr>
          <a:xfrm>
            <a:off x="4334935" y="4937760"/>
            <a:ext cx="3474720"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64592" rtlCol="0" anchor="ctr"/>
          <a:lstStyle/>
          <a:p>
            <a:pPr algn="ctr">
              <a:defRPr sz="1300" b="1">
                <a:solidFill>
                  <a:srgbClr val="00C2FF"/>
                </a:solidFill>
              </a:defRPr>
            </a:pPr>
            <a:r>
              <a:t>WHICH OFFER IS REALLY BEST?</a:t>
            </a:r>
          </a:p>
          <a:p>
            <a:pPr algn="ctr">
              <a:defRPr sz="1000">
                <a:solidFill>
                  <a:srgbClr val="94A3B8"/>
                </a:solidFill>
              </a:defRPr>
            </a:pPr>
            <a:r>
              <a:t>5-Factor Scoring Model V2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1: THE STRATEGY  •  SYSTEMATIC OPTIMIZATION</a:t>
            </a:r>
          </a:p>
          <a:p>
            <a:pPr>
              <a:defRPr sz="2600" b="1">
                <a:solidFill>
                  <a:srgbClr val="FFFFFF"/>
                </a:solidFill>
                <a:latin typeface="Segoe UI"/>
              </a:defRPr>
            </a:pPr>
            <a:r>
              <a:t>Four moves that close the gap</a:t>
            </a:r>
          </a:p>
        </p:txBody>
      </p:sp>
      <p:sp>
        <p:nvSpPr>
          <p:cNvPr id="5" name="Rounded Rectangle 4"/>
          <p:cNvSpPr/>
          <p:nvPr/>
        </p:nvSpPr>
        <p:spPr>
          <a:xfrm>
            <a:off x="731520" y="1645920"/>
            <a:ext cx="10728655"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lIns="365760" tIns="164592" rtlCol="0" anchor="ctr"/>
          <a:lstStyle/>
          <a:p>
            <a:pPr algn="ctr">
              <a:defRPr sz="1500" b="1">
                <a:solidFill>
                  <a:srgbClr val="FFFFFF"/>
                </a:solidFill>
              </a:defRPr>
            </a:pPr>
            <a:r>
              <a:t>MOVE 01   •   Automated De-duplication &amp; Intelligent Routing</a:t>
            </a:r>
          </a:p>
          <a:p>
            <a:pPr>
              <a:spcBef>
                <a:spcPts val="200"/>
              </a:spcBef>
              <a:defRPr sz="1200">
                <a:solidFill>
                  <a:srgbClr val="94A3B8"/>
                </a:solidFill>
              </a:defRPr>
            </a:pPr>
            <a:r>
              <a:t>Runs the instant a PR is drafted — flags ±20% quantity matches in active operational window</a:t>
            </a:r>
          </a:p>
        </p:txBody>
      </p:sp>
      <p:sp>
        <p:nvSpPr>
          <p:cNvPr id="6" name="Rounded Rectangle 5"/>
          <p:cNvSpPr/>
          <p:nvPr/>
        </p:nvSpPr>
        <p:spPr>
          <a:xfrm>
            <a:off x="731520" y="1645920"/>
            <a:ext cx="109728" cy="1051560"/>
          </a:xfrm>
          <a:prstGeom prst="round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2834640"/>
            <a:ext cx="10728655"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lIns="365760" tIns="164592" rtlCol="0" anchor="ctr"/>
          <a:lstStyle/>
          <a:p>
            <a:pPr algn="ctr">
              <a:defRPr sz="1500" b="1">
                <a:solidFill>
                  <a:srgbClr val="FFFFFF"/>
                </a:solidFill>
              </a:defRPr>
            </a:pPr>
            <a:r>
              <a:t>MOVE 02   •   Proactive Inventory Verification &amp; Reallocation</a:t>
            </a:r>
          </a:p>
          <a:p>
            <a:pPr>
              <a:spcBef>
                <a:spcPts val="200"/>
              </a:spcBef>
              <a:defRPr sz="1200">
                <a:solidFill>
                  <a:srgbClr val="94A3B8"/>
                </a:solidFill>
              </a:defRPr>
            </a:pPr>
            <a:r>
              <a:t>Instantly checks warehouse reserves to fulfill from stock with zero external vendor expense</a:t>
            </a:r>
          </a:p>
        </p:txBody>
      </p:sp>
      <p:sp>
        <p:nvSpPr>
          <p:cNvPr id="8" name="Rounded Rectangle 7"/>
          <p:cNvSpPr/>
          <p:nvPr/>
        </p:nvSpPr>
        <p:spPr>
          <a:xfrm>
            <a:off x="731520" y="2834640"/>
            <a:ext cx="109728" cy="10515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4023360"/>
            <a:ext cx="10728655"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lIns="365760" tIns="164592" rtlCol="0" anchor="ctr"/>
          <a:lstStyle/>
          <a:p>
            <a:pPr algn="ctr">
              <a:defRPr sz="1500" b="1">
                <a:solidFill>
                  <a:srgbClr val="FFFFFF"/>
                </a:solidFill>
              </a:defRPr>
            </a:pPr>
            <a:r>
              <a:t>MOVE 03   •   Alternative Sourcing Analysis &amp; Vendor Comparison</a:t>
            </a:r>
          </a:p>
          <a:p>
            <a:pPr>
              <a:spcBef>
                <a:spcPts val="200"/>
              </a:spcBef>
              <a:defRPr sz="1200">
                <a:solidFill>
                  <a:srgbClr val="94A3B8"/>
                </a:solidFill>
              </a:defRPr>
            </a:pPr>
            <a:r>
              <a:t>Evaluates candidate suppliers on price benchmark, lead time velocity, quality history &amp; badges</a:t>
            </a:r>
          </a:p>
        </p:txBody>
      </p:sp>
      <p:sp>
        <p:nvSpPr>
          <p:cNvPr id="10" name="Rounded Rectangle 9"/>
          <p:cNvSpPr/>
          <p:nvPr/>
        </p:nvSpPr>
        <p:spPr>
          <a:xfrm>
            <a:off x="731520" y="4023360"/>
            <a:ext cx="109728" cy="1051560"/>
          </a:xfrm>
          <a:prstGeom prst="round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5212080"/>
            <a:ext cx="10728655"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lIns="365760" tIns="164592" rtlCol="0" anchor="ctr"/>
          <a:lstStyle/>
          <a:p>
            <a:pPr algn="ctr">
              <a:defRPr sz="1500" b="1">
                <a:solidFill>
                  <a:srgbClr val="FFFFFF"/>
                </a:solidFill>
              </a:defRPr>
            </a:pPr>
            <a:r>
              <a:t>MOVE 04   •   Grounded AI Recommendation Synthesis</a:t>
            </a:r>
          </a:p>
          <a:p>
            <a:pPr>
              <a:spcBef>
                <a:spcPts val="200"/>
              </a:spcBef>
              <a:defRPr sz="1200">
                <a:solidFill>
                  <a:srgbClr val="94A3B8"/>
                </a:solidFill>
              </a:defRPr>
            </a:pPr>
            <a:r>
              <a:t>Ingests quarterly qualitative reviews via RAG to surface actionable vendor strengths &amp; risks</a:t>
            </a:r>
          </a:p>
        </p:txBody>
      </p:sp>
      <p:sp>
        <p:nvSpPr>
          <p:cNvPr id="12" name="Rounded Rectangle 11"/>
          <p:cNvSpPr/>
          <p:nvPr/>
        </p:nvSpPr>
        <p:spPr>
          <a:xfrm>
            <a:off x="731520" y="5212080"/>
            <a:ext cx="109728" cy="105156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2: PRE-PURCHASE INTERCEPTION  •  DECISION #1: INVENTORY INTELLIGENCE</a:t>
            </a:r>
          </a:p>
          <a:p>
            <a:pPr>
              <a:defRPr sz="2600" b="1">
                <a:solidFill>
                  <a:srgbClr val="FFFFFF"/>
                </a:solidFill>
                <a:latin typeface="Segoe UI"/>
              </a:defRPr>
            </a:pPr>
            <a:r>
              <a:t>First: Don't Buy What You Already Have</a:t>
            </a:r>
          </a:p>
        </p:txBody>
      </p:sp>
      <p:sp>
        <p:nvSpPr>
          <p:cNvPr id="5" name="Rounded Rectangle 4"/>
          <p:cNvSpPr/>
          <p:nvPr/>
        </p:nvSpPr>
        <p:spPr>
          <a:xfrm>
            <a:off x="731520" y="1737360"/>
            <a:ext cx="3383280" cy="2743200"/>
          </a:xfrm>
          <a:prstGeom prst="roundRect">
            <a:avLst/>
          </a:prstGeom>
          <a:solidFill>
            <a:srgbClr val="0E1A2C"/>
          </a:solidFill>
          <a:ln w="19050">
            <a:solidFill>
              <a:srgbClr val="1F3658"/>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300" b="1">
                <a:solidFill>
                  <a:srgbClr val="94A3B8"/>
                </a:solidFill>
              </a:defRPr>
            </a:pPr>
            <a:r>
              <a:t>REQUESTED QUANTITY</a:t>
            </a:r>
          </a:p>
          <a:p>
            <a:pPr algn="ctr">
              <a:spcBef>
                <a:spcPts val="2200"/>
              </a:spcBef>
              <a:defRPr sz="3600" b="1">
                <a:solidFill>
                  <a:srgbClr val="FFFFFF"/>
                </a:solidFill>
              </a:defRPr>
            </a:pPr>
            <a:r>
              <a:t>100 UNITS</a:t>
            </a:r>
          </a:p>
          <a:p>
            <a:pPr algn="ctr">
              <a:spcBef>
                <a:spcPts val="1400"/>
              </a:spcBef>
              <a:defRPr sz="1100">
                <a:solidFill>
                  <a:srgbClr val="E2E8F0"/>
                </a:solidFill>
              </a:defRPr>
            </a:pPr>
            <a:r>
              <a:t>Gross requirement submitted</a:t>
            </a:r>
          </a:p>
        </p:txBody>
      </p:sp>
      <p:sp>
        <p:nvSpPr>
          <p:cNvPr id="6" name="Rounded Rectangle 5"/>
          <p:cNvSpPr/>
          <p:nvPr/>
        </p:nvSpPr>
        <p:spPr>
          <a:xfrm>
            <a:off x="4389120" y="1737360"/>
            <a:ext cx="3383280" cy="2743200"/>
          </a:xfrm>
          <a:prstGeom prst="roundRect">
            <a:avLst/>
          </a:prstGeom>
          <a:solidFill>
            <a:srgbClr val="062C2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300" b="1">
                <a:solidFill>
                  <a:srgbClr val="94A3B8"/>
                </a:solidFill>
              </a:defRPr>
            </a:pPr>
            <a:r>
              <a:t>WAREHOUSE STOCK</a:t>
            </a:r>
          </a:p>
          <a:p>
            <a:pPr algn="ctr">
              <a:spcBef>
                <a:spcPts val="2200"/>
              </a:spcBef>
              <a:defRPr sz="3600" b="1">
                <a:solidFill>
                  <a:srgbClr val="10B981"/>
                </a:solidFill>
              </a:defRPr>
            </a:pPr>
            <a:r>
              <a:t>70 UNITS</a:t>
            </a:r>
          </a:p>
          <a:p>
            <a:pPr algn="ctr">
              <a:spcBef>
                <a:spcPts val="1400"/>
              </a:spcBef>
              <a:defRPr sz="1100">
                <a:solidFill>
                  <a:srgbClr val="E2E8F0"/>
                </a:solidFill>
              </a:defRPr>
            </a:pPr>
            <a:r>
              <a:t>Available in stock reserves</a:t>
            </a:r>
          </a:p>
        </p:txBody>
      </p:sp>
      <p:sp>
        <p:nvSpPr>
          <p:cNvPr id="7" name="Rounded Rectangle 6"/>
          <p:cNvSpPr/>
          <p:nvPr/>
        </p:nvSpPr>
        <p:spPr>
          <a:xfrm>
            <a:off x="8046720" y="1737360"/>
            <a:ext cx="3383280" cy="2743200"/>
          </a:xfrm>
          <a:prstGeom prst="roundRect">
            <a:avLst/>
          </a:prstGeom>
          <a:solidFill>
            <a:srgbClr val="002447"/>
          </a:solidFill>
          <a:ln w="19050">
            <a:solidFill>
              <a:srgbClr val="00C2FF"/>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300" b="1">
                <a:solidFill>
                  <a:srgbClr val="94A3B8"/>
                </a:solidFill>
              </a:defRPr>
            </a:pPr>
            <a:r>
              <a:t>ACTUAL PROCURED</a:t>
            </a:r>
          </a:p>
          <a:p>
            <a:pPr algn="ctr">
              <a:spcBef>
                <a:spcPts val="2200"/>
              </a:spcBef>
              <a:defRPr sz="3600" b="1">
                <a:solidFill>
                  <a:srgbClr val="00C2FF"/>
                </a:solidFill>
              </a:defRPr>
            </a:pPr>
            <a:r>
              <a:t>30 UNITS</a:t>
            </a:r>
          </a:p>
          <a:p>
            <a:pPr algn="ctr">
              <a:spcBef>
                <a:spcPts val="1400"/>
              </a:spcBef>
              <a:defRPr sz="1100">
                <a:solidFill>
                  <a:srgbClr val="E2E8F0"/>
                </a:solidFill>
              </a:defRPr>
            </a:pPr>
            <a:r>
              <a:t>Net shortage requirement</a:t>
            </a:r>
          </a:p>
        </p:txBody>
      </p:sp>
      <p:sp>
        <p:nvSpPr>
          <p:cNvPr id="8" name="Rounded Rectangle 7"/>
          <p:cNvSpPr/>
          <p:nvPr/>
        </p:nvSpPr>
        <p:spPr>
          <a:xfrm>
            <a:off x="731520" y="4846320"/>
            <a:ext cx="10728655" cy="128016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82880" rtlCol="0" anchor="ctr"/>
          <a:lstStyle/>
          <a:p>
            <a:pPr algn="ctr">
              <a:defRPr sz="2000" b="1">
                <a:solidFill>
                  <a:srgbClr val="FFFFFF"/>
                </a:solidFill>
              </a:defRPr>
            </a:pPr>
            <a:r>
              <a:t>"The cheapest purchase is the purchase you never had to make."</a:t>
            </a:r>
          </a:p>
          <a:p>
            <a:pPr algn="ctr">
              <a:spcBef>
                <a:spcPts val="400"/>
              </a:spcBef>
              <a:defRPr sz="1200">
                <a:solidFill>
                  <a:srgbClr val="00C2FF"/>
                </a:solidFill>
              </a:defRPr>
            </a:pPr>
            <a:r>
              <a:t>Deterministic Shortage Math: Shortage = max(0, Requested − Available Stock). Zero AI hallucination.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2: PRE-PURCHASE INTERCEPTION  •  DECISION #2: DUPLICATE INTELLIGENCE</a:t>
            </a:r>
          </a:p>
          <a:p>
            <a:pPr>
              <a:defRPr sz="2600" b="1">
                <a:solidFill>
                  <a:srgbClr val="FFFFFF"/>
                </a:solidFill>
                <a:latin typeface="Segoe UI"/>
              </a:defRPr>
            </a:pPr>
            <a:r>
              <a:t>What If Someone Already Asked For Those 30?</a:t>
            </a:r>
          </a:p>
        </p:txBody>
      </p:sp>
      <p:sp>
        <p:nvSpPr>
          <p:cNvPr id="5" name="Rounded Rectangle 4"/>
          <p:cNvSpPr/>
          <p:nvPr/>
        </p:nvSpPr>
        <p:spPr>
          <a:xfrm>
            <a:off x="731520" y="1737360"/>
            <a:ext cx="3291840" cy="29260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365760" rtlCol="0" anchor="ctr"/>
          <a:lstStyle/>
          <a:p>
            <a:pPr algn="ctr">
              <a:defRPr sz="1600" b="1">
                <a:solidFill>
                  <a:srgbClr val="FFFFFF"/>
                </a:solidFill>
              </a:defRPr>
            </a:pPr>
            <a:r>
              <a:t>NEW PR DRAFT</a:t>
            </a:r>
            <a:br/>
            <a:br/>
            <a:r>
              <a:t>Thermal Paste</a:t>
            </a:r>
            <a:br/>
            <a:r>
              <a:t>30 Units</a:t>
            </a:r>
            <a:br/>
            <a:r>
              <a:t>Dept: Semiconductor Fab 7</a:t>
            </a:r>
          </a:p>
        </p:txBody>
      </p:sp>
      <p:sp>
        <p:nvSpPr>
          <p:cNvPr id="6" name="Rounded Rectangle 5"/>
          <p:cNvSpPr/>
          <p:nvPr/>
        </p:nvSpPr>
        <p:spPr>
          <a:xfrm>
            <a:off x="4389120" y="1737360"/>
            <a:ext cx="3383280" cy="2926080"/>
          </a:xfrm>
          <a:prstGeom prst="roundRect">
            <a:avLst/>
          </a:prstGeom>
          <a:solidFill>
            <a:srgbClr val="32230A"/>
          </a:solidFill>
          <a:ln w="20320">
            <a:solidFill>
              <a:srgbClr val="F59E0B"/>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500" b="1">
                <a:solidFill>
                  <a:srgbClr val="F59E0B"/>
                </a:solidFill>
              </a:defRPr>
            </a:pPr>
            <a:r>
              <a:t>⚠ POTENTIAL MATCH</a:t>
            </a:r>
            <a:br/>
            <a:br/>
            <a:r>
              <a:t>Same Item &amp; Department</a:t>
            </a:r>
            <a:br/>
            <a:r>
              <a:t>±20% Quantity Window</a:t>
            </a:r>
            <a:br/>
            <a:r>
              <a:t>Proactive Warning Modal</a:t>
            </a:r>
          </a:p>
        </p:txBody>
      </p:sp>
      <p:sp>
        <p:nvSpPr>
          <p:cNvPr id="7" name="Rounded Rectangle 6"/>
          <p:cNvSpPr/>
          <p:nvPr/>
        </p:nvSpPr>
        <p:spPr>
          <a:xfrm>
            <a:off x="8138160" y="1737360"/>
            <a:ext cx="3291840" cy="29260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365760" rtlCol="0" anchor="ctr"/>
          <a:lstStyle/>
          <a:p>
            <a:pPr algn="ctr">
              <a:defRPr sz="1600" b="1">
                <a:solidFill>
                  <a:srgbClr val="FFFFFF"/>
                </a:solidFill>
              </a:defRPr>
            </a:pPr>
            <a:r>
              <a:t>EXISTING ACTIVE PR</a:t>
            </a:r>
            <a:br/>
            <a:br/>
            <a:r>
              <a:t>PR-2026-0042</a:t>
            </a:r>
            <a:br/>
            <a:r>
              <a:t>28 Units (Under Review)</a:t>
            </a:r>
            <a:br/>
            <a:r>
              <a:t>Status: Active Window</a:t>
            </a:r>
          </a:p>
        </p:txBody>
      </p:sp>
      <p:sp>
        <p:nvSpPr>
          <p:cNvPr id="8" name="Rounded Rectangle 7"/>
          <p:cNvSpPr/>
          <p:nvPr/>
        </p:nvSpPr>
        <p:spPr>
          <a:xfrm>
            <a:off x="731520" y="5029200"/>
            <a:ext cx="10728655" cy="109728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82880" rtlCol="0" anchor="ctr"/>
          <a:lstStyle/>
          <a:p>
            <a:pPr algn="ctr">
              <a:defRPr sz="1800" b="1">
                <a:solidFill>
                  <a:srgbClr val="00C2FF"/>
                </a:solidFill>
              </a:defRPr>
            </a:pPr>
            <a:r>
              <a:t>Make potential waste visible before money leaves the organization.</a:t>
            </a:r>
          </a:p>
          <a:p>
            <a:pPr algn="ctr">
              <a:spcBef>
                <a:spcPts val="400"/>
              </a:spcBef>
              <a:defRPr sz="1200">
                <a:solidFill>
                  <a:srgbClr val="94A3B8"/>
                </a:solidFill>
              </a:defRPr>
            </a:pPr>
            <a:r>
              <a:t>Decision-Support Governance: Informs the requester with acknowledgment requirement without arbitrary rigid blocking.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2: PRE-PURCHASE INTERCEPTION  •  STRATEGIC SYNTHESIS</a:t>
            </a:r>
          </a:p>
          <a:p>
            <a:pPr>
              <a:defRPr sz="2600" b="1">
                <a:solidFill>
                  <a:srgbClr val="FFFFFF"/>
                </a:solidFill>
                <a:latin typeface="Segoe UI"/>
              </a:defRPr>
            </a:pPr>
            <a:r>
              <a:t>Two Checks. One Goal.</a:t>
            </a:r>
          </a:p>
        </p:txBody>
      </p:sp>
      <p:sp>
        <p:nvSpPr>
          <p:cNvPr id="5" name="Rounded Rectangle 4"/>
          <p:cNvSpPr/>
          <p:nvPr/>
        </p:nvSpPr>
        <p:spPr>
          <a:xfrm>
            <a:off x="914400" y="1828800"/>
            <a:ext cx="4114800" cy="2377440"/>
          </a:xfrm>
          <a:prstGeom prst="roundRect">
            <a:avLst/>
          </a:prstGeom>
          <a:solidFill>
            <a:srgbClr val="14253F"/>
          </a:solidFill>
          <a:ln w="20320">
            <a:solidFill>
              <a:srgbClr val="00C2FF"/>
            </a:solidFill>
          </a:ln>
        </p:spPr>
        <p:style>
          <a:lnRef idx="1">
            <a:schemeClr val="accent1"/>
          </a:lnRef>
          <a:fillRef idx="3">
            <a:schemeClr val="accent1"/>
          </a:fillRef>
          <a:effectRef idx="2">
            <a:schemeClr val="accent1"/>
          </a:effectRef>
          <a:fontRef idx="minor">
            <a:schemeClr val="lt1"/>
          </a:fontRef>
        </p:style>
        <p:txBody>
          <a:bodyPr tIns="457200" rtlCol="0" anchor="ctr"/>
          <a:lstStyle/>
          <a:p>
            <a:pPr algn="ctr">
              <a:defRPr sz="2400" b="1">
                <a:solidFill>
                  <a:srgbClr val="FFFFFF"/>
                </a:solidFill>
              </a:defRPr>
            </a:pPr>
            <a:r>
              <a:t>USE WHAT</a:t>
            </a:r>
            <a:br/>
            <a:r>
              <a:t>YOU HAVE</a:t>
            </a:r>
          </a:p>
          <a:p>
            <a:pPr algn="ctr">
              <a:spcBef>
                <a:spcPts val="1000"/>
              </a:spcBef>
              <a:defRPr sz="1200">
                <a:solidFill>
                  <a:srgbClr val="00C2FF"/>
                </a:solidFill>
              </a:defRPr>
            </a:pPr>
            <a:r>
              <a:t>Exhaust Warehouse Stock First</a:t>
            </a:r>
          </a:p>
        </p:txBody>
      </p:sp>
      <p:sp>
        <p:nvSpPr>
          <p:cNvPr id="6" name="TextBox 5"/>
          <p:cNvSpPr txBox="1"/>
          <p:nvPr/>
        </p:nvSpPr>
        <p:spPr>
          <a:xfrm>
            <a:off x="5394960" y="2377440"/>
            <a:ext cx="1371600" cy="1097280"/>
          </a:xfrm>
          <a:prstGeom prst="rect">
            <a:avLst/>
          </a:prstGeom>
          <a:noFill/>
        </p:spPr>
        <p:txBody>
          <a:bodyPr wrap="none">
            <a:spAutoFit/>
          </a:bodyPr>
          <a:lstStyle/>
          <a:p>
            <a:pPr algn="ctr">
              <a:defRPr sz="4400" b="1">
                <a:solidFill>
                  <a:srgbClr val="00C2FF"/>
                </a:solidFill>
              </a:defRPr>
            </a:pPr>
            <a:r>
              <a:t>+</a:t>
            </a:r>
          </a:p>
        </p:txBody>
      </p:sp>
      <p:sp>
        <p:nvSpPr>
          <p:cNvPr id="7" name="Rounded Rectangle 6"/>
          <p:cNvSpPr/>
          <p:nvPr/>
        </p:nvSpPr>
        <p:spPr>
          <a:xfrm>
            <a:off x="7132320" y="1828800"/>
            <a:ext cx="4114800" cy="2377440"/>
          </a:xfrm>
          <a:prstGeom prst="roundRect">
            <a:avLst/>
          </a:prstGeom>
          <a:solidFill>
            <a:srgbClr val="14253F"/>
          </a:solidFill>
          <a:ln w="20320">
            <a:solidFill>
              <a:srgbClr val="00C2FF"/>
            </a:solidFill>
          </a:ln>
        </p:spPr>
        <p:style>
          <a:lnRef idx="1">
            <a:schemeClr val="accent1"/>
          </a:lnRef>
          <a:fillRef idx="3">
            <a:schemeClr val="accent1"/>
          </a:fillRef>
          <a:effectRef idx="2">
            <a:schemeClr val="accent1"/>
          </a:effectRef>
          <a:fontRef idx="minor">
            <a:schemeClr val="lt1"/>
          </a:fontRef>
        </p:style>
        <p:txBody>
          <a:bodyPr tIns="457200" rtlCol="0" anchor="ctr"/>
          <a:lstStyle/>
          <a:p>
            <a:pPr algn="ctr">
              <a:defRPr sz="2400" b="1">
                <a:solidFill>
                  <a:srgbClr val="FFFFFF"/>
                </a:solidFill>
              </a:defRPr>
            </a:pPr>
            <a:r>
              <a:t>DON'T BUY</a:t>
            </a:r>
            <a:br/>
            <a:r>
              <a:t>TWICE</a:t>
            </a:r>
          </a:p>
          <a:p>
            <a:pPr algn="ctr">
              <a:spcBef>
                <a:spcPts val="1000"/>
              </a:spcBef>
              <a:defRPr sz="1200">
                <a:solidFill>
                  <a:srgbClr val="00C2FF"/>
                </a:solidFill>
              </a:defRPr>
            </a:pPr>
            <a:r>
              <a:t>Intercept Duplicate Active Requisitions</a:t>
            </a:r>
          </a:p>
        </p:txBody>
      </p:sp>
      <p:sp>
        <p:nvSpPr>
          <p:cNvPr id="8" name="Rounded Rectangle 7"/>
          <p:cNvSpPr/>
          <p:nvPr/>
        </p:nvSpPr>
        <p:spPr>
          <a:xfrm>
            <a:off x="914400" y="4663440"/>
            <a:ext cx="10362895" cy="1371600"/>
          </a:xfrm>
          <a:prstGeom prst="roundRect">
            <a:avLst/>
          </a:prstGeom>
          <a:solidFill>
            <a:srgbClr val="062C22"/>
          </a:solidFill>
          <a:ln w="22860">
            <a:solidFill>
              <a:srgbClr val="10B981"/>
            </a:solidFill>
          </a:ln>
        </p:spPr>
        <p:style>
          <a:lnRef idx="1">
            <a:schemeClr val="accent1"/>
          </a:lnRef>
          <a:fillRef idx="3">
            <a:schemeClr val="accent1"/>
          </a:fillRef>
          <a:effectRef idx="2">
            <a:schemeClr val="accent1"/>
          </a:effectRef>
          <a:fontRef idx="minor">
            <a:schemeClr val="lt1"/>
          </a:fontRef>
        </p:style>
        <p:txBody>
          <a:bodyPr tIns="228600" rtlCol="0" anchor="ctr"/>
          <a:lstStyle/>
          <a:p>
            <a:pPr algn="ctr">
              <a:defRPr sz="2000" b="1">
                <a:solidFill>
                  <a:srgbClr val="FFFFFF"/>
                </a:solidFill>
              </a:defRPr>
            </a:pPr>
            <a:r>
              <a:t>LESS UNNECESSARY SPEND  •  ZERO MARGINAL PROCUREMENT COST</a:t>
            </a:r>
          </a:p>
          <a:p>
            <a:pPr algn="ctr">
              <a:spcBef>
                <a:spcPts val="600"/>
              </a:spcBef>
              <a:defRPr sz="1300">
                <a:solidFill>
                  <a:srgbClr val="ECFDF5"/>
                </a:solidFill>
              </a:defRPr>
            </a:pPr>
            <a:r>
              <a:t>Intercepting unnecessary cash outflow before a single RFQ is ever issued to the market.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3: AGENTIC INTELLIGENCE  •  AGENTIC ORCHESTRATION</a:t>
            </a:r>
          </a:p>
          <a:p>
            <a:pPr>
              <a:defRPr sz="2600" b="1">
                <a:solidFill>
                  <a:srgbClr val="FFFFFF"/>
                </a:solidFill>
                <a:latin typeface="Segoe UI"/>
              </a:defRPr>
            </a:pPr>
            <a:r>
              <a:t>The agent decides what to check, calls its tools, then hands off to a human</a:t>
            </a:r>
          </a:p>
        </p:txBody>
      </p:sp>
      <p:sp>
        <p:nvSpPr>
          <p:cNvPr id="5" name="Rounded Rectangle 4"/>
          <p:cNvSpPr/>
          <p:nvPr/>
        </p:nvSpPr>
        <p:spPr>
          <a:xfrm>
            <a:off x="3108960" y="1508760"/>
            <a:ext cx="5943600" cy="438912"/>
          </a:xfrm>
          <a:prstGeom prst="roundRect">
            <a:avLst/>
          </a:prstGeom>
          <a:solidFill>
            <a:srgbClr val="0E1A2C"/>
          </a:solidFill>
          <a:ln w="12700">
            <a:solidFill>
              <a:srgbClr val="1F365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E2E8F0"/>
                </a:solidFill>
                <a:latin typeface="Segoe UI"/>
              </a:defRPr>
            </a:pPr>
            <a:r>
              <a:t>Employee Submits a Request  (item • quantity • department • vendor)</a:t>
            </a:r>
          </a:p>
        </p:txBody>
      </p:sp>
      <p:sp>
        <p:nvSpPr>
          <p:cNvPr id="6" name="Rounded Rectangle 5"/>
          <p:cNvSpPr/>
          <p:nvPr/>
        </p:nvSpPr>
        <p:spPr>
          <a:xfrm>
            <a:off x="2286000" y="2057400"/>
            <a:ext cx="7589520" cy="438912"/>
          </a:xfrm>
          <a:prstGeom prst="roundRect">
            <a:avLst/>
          </a:prstGeom>
          <a:solidFill>
            <a:srgbClr val="0072CE"/>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Segoe UI"/>
              </a:defRPr>
            </a:pPr>
            <a:r>
              <a:t>AI Agent  (decides which checks this request actually needs • calls its tools)</a:t>
            </a:r>
          </a:p>
        </p:txBody>
      </p:sp>
      <p:sp>
        <p:nvSpPr>
          <p:cNvPr id="7" name="Rounded Rectangle 6"/>
          <p:cNvSpPr/>
          <p:nvPr/>
        </p:nvSpPr>
        <p:spPr>
          <a:xfrm>
            <a:off x="731520" y="2606040"/>
            <a:ext cx="5120640" cy="548640"/>
          </a:xfrm>
          <a:prstGeom prst="roundRect">
            <a:avLst/>
          </a:prstGeom>
          <a:solidFill>
            <a:srgbClr val="0E1A2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000">
                <a:solidFill>
                  <a:srgbClr val="E2E8F0"/>
                </a:solidFill>
              </a:defRPr>
            </a:pPr>
            <a:r>
              <a:t>Duplicate Detection  (Checks item, department &amp; quantity against existing requests)</a:t>
            </a:r>
          </a:p>
        </p:txBody>
      </p:sp>
      <p:sp>
        <p:nvSpPr>
          <p:cNvPr id="8" name="Rounded Rectangle 7"/>
          <p:cNvSpPr/>
          <p:nvPr/>
        </p:nvSpPr>
        <p:spPr>
          <a:xfrm>
            <a:off x="2286000" y="3246120"/>
            <a:ext cx="2011680" cy="365760"/>
          </a:xfrm>
          <a:prstGeom prst="roundRect">
            <a:avLst/>
          </a:prstGeom>
          <a:solidFill>
            <a:srgbClr val="002447"/>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0C2FF"/>
                </a:solidFill>
                <a:latin typeface="Segoe UI"/>
              </a:defRPr>
            </a:pPr>
            <a:r>
              <a:t>Duplicate found?</a:t>
            </a:r>
          </a:p>
        </p:txBody>
      </p:sp>
      <p:sp>
        <p:nvSpPr>
          <p:cNvPr id="9" name="Rounded Rectangle 8"/>
          <p:cNvSpPr/>
          <p:nvPr/>
        </p:nvSpPr>
        <p:spPr>
          <a:xfrm>
            <a:off x="731520" y="3703320"/>
            <a:ext cx="2377440" cy="411480"/>
          </a:xfrm>
          <a:prstGeom prst="roundRect">
            <a:avLst/>
          </a:prstGeom>
          <a:solidFill>
            <a:srgbClr val="3C1419"/>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F43F5E"/>
                </a:solidFill>
                <a:latin typeface="Segoe UI"/>
              </a:defRPr>
            </a:pPr>
            <a:r>
              <a:t>Flag it ("already requested")</a:t>
            </a:r>
          </a:p>
        </p:txBody>
      </p:sp>
      <p:sp>
        <p:nvSpPr>
          <p:cNvPr id="10" name="Rounded Rectangle 9"/>
          <p:cNvSpPr/>
          <p:nvPr/>
        </p:nvSpPr>
        <p:spPr>
          <a:xfrm>
            <a:off x="3474720" y="3703320"/>
            <a:ext cx="2377440" cy="411480"/>
          </a:xfrm>
          <a:prstGeom prst="roundRect">
            <a:avLst/>
          </a:prstGeom>
          <a:solidFill>
            <a:srgbClr val="062C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10B981"/>
                </a:solidFill>
                <a:latin typeface="Segoe UI"/>
              </a:defRPr>
            </a:pPr>
            <a:r>
              <a:t>Continue ("no issue found")</a:t>
            </a:r>
          </a:p>
        </p:txBody>
      </p:sp>
      <p:sp>
        <p:nvSpPr>
          <p:cNvPr id="11" name="Rounded Rectangle 10"/>
          <p:cNvSpPr/>
          <p:nvPr/>
        </p:nvSpPr>
        <p:spPr>
          <a:xfrm>
            <a:off x="6309360" y="2606040"/>
            <a:ext cx="5120640" cy="548640"/>
          </a:xfrm>
          <a:prstGeom prst="roundRect">
            <a:avLst/>
          </a:prstGeom>
          <a:solidFill>
            <a:srgbClr val="0E1A2C"/>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000">
                <a:solidFill>
                  <a:srgbClr val="E2E8F0"/>
                </a:solidFill>
              </a:defRPr>
            </a:pPr>
            <a:r>
              <a:t>Vendor Recommendation  (Compares price, speed &amp; history across all available vendors)</a:t>
            </a:r>
          </a:p>
        </p:txBody>
      </p:sp>
      <p:sp>
        <p:nvSpPr>
          <p:cNvPr id="12" name="Rounded Rectangle 11"/>
          <p:cNvSpPr/>
          <p:nvPr/>
        </p:nvSpPr>
        <p:spPr>
          <a:xfrm>
            <a:off x="7863840" y="3246120"/>
            <a:ext cx="2011680" cy="365760"/>
          </a:xfrm>
          <a:prstGeom prst="roundRect">
            <a:avLst/>
          </a:prstGeom>
          <a:solidFill>
            <a:srgbClr val="002447"/>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0C2FF"/>
                </a:solidFill>
                <a:latin typeface="Segoe UI"/>
              </a:defRPr>
            </a:pPr>
            <a:r>
              <a:t>Better vendor exists?</a:t>
            </a:r>
          </a:p>
        </p:txBody>
      </p:sp>
      <p:sp>
        <p:nvSpPr>
          <p:cNvPr id="13" name="Rounded Rectangle 12"/>
          <p:cNvSpPr/>
          <p:nvPr/>
        </p:nvSpPr>
        <p:spPr>
          <a:xfrm>
            <a:off x="6309360" y="3703320"/>
            <a:ext cx="2377440" cy="411480"/>
          </a:xfrm>
          <a:prstGeom prst="roundRect">
            <a:avLst/>
          </a:prstGeom>
          <a:solidFill>
            <a:srgbClr val="002447"/>
          </a:solidFill>
          <a:ln w="12700">
            <a:solidFill>
              <a:srgbClr val="0072CE"/>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0C2FF"/>
                </a:solidFill>
                <a:latin typeface="Segoe UI"/>
              </a:defRPr>
            </a:pPr>
            <a:r>
              <a:t>Suggest it ("Vendor X saves 11%")</a:t>
            </a:r>
          </a:p>
        </p:txBody>
      </p:sp>
      <p:sp>
        <p:nvSpPr>
          <p:cNvPr id="14" name="Rounded Rectangle 13"/>
          <p:cNvSpPr/>
          <p:nvPr/>
        </p:nvSpPr>
        <p:spPr>
          <a:xfrm>
            <a:off x="9052560" y="3703320"/>
            <a:ext cx="2377440" cy="411480"/>
          </a:xfrm>
          <a:prstGeom prst="roundRect">
            <a:avLst/>
          </a:prstGeom>
          <a:solidFill>
            <a:srgbClr val="062C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10B981"/>
                </a:solidFill>
                <a:latin typeface="Segoe UI"/>
              </a:defRPr>
            </a:pPr>
            <a:r>
              <a:t>Continue ("vendor already best")</a:t>
            </a:r>
          </a:p>
        </p:txBody>
      </p:sp>
      <p:sp>
        <p:nvSpPr>
          <p:cNvPr id="15" name="Rounded Rectangle 14"/>
          <p:cNvSpPr/>
          <p:nvPr/>
        </p:nvSpPr>
        <p:spPr>
          <a:xfrm>
            <a:off x="2286000" y="4251960"/>
            <a:ext cx="7589520" cy="438912"/>
          </a:xfrm>
          <a:prstGeom prst="roundRect">
            <a:avLst/>
          </a:prstGeom>
          <a:solidFill>
            <a:srgbClr val="003060"/>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Segoe UI"/>
              </a:defRPr>
            </a:pPr>
            <a:r>
              <a:t>Agent Writes One Clear Summary  (combines both findings into plain language for a human to read)</a:t>
            </a:r>
          </a:p>
        </p:txBody>
      </p:sp>
      <p:sp>
        <p:nvSpPr>
          <p:cNvPr id="16" name="Rounded Rectangle 15"/>
          <p:cNvSpPr/>
          <p:nvPr/>
        </p:nvSpPr>
        <p:spPr>
          <a:xfrm>
            <a:off x="2286000" y="4800600"/>
            <a:ext cx="7589520" cy="384048"/>
          </a:xfrm>
          <a:prstGeom prst="roundRect">
            <a:avLst/>
          </a:prstGeom>
          <a:solidFill>
            <a:srgbClr val="0E1A2C"/>
          </a:solidFill>
          <a:ln w="12700">
            <a:solidFill>
              <a:srgbClr val="1F365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59E0B"/>
                </a:solidFill>
                <a:latin typeface="Segoe UI"/>
              </a:defRPr>
            </a:pPr>
            <a:r>
              <a:t>Supervisor Reviews &amp; Decides  (final say — always a human, never automatic)</a:t>
            </a:r>
          </a:p>
        </p:txBody>
      </p:sp>
      <p:sp>
        <p:nvSpPr>
          <p:cNvPr id="17" name="Rounded Rectangle 16"/>
          <p:cNvSpPr/>
          <p:nvPr/>
        </p:nvSpPr>
        <p:spPr>
          <a:xfrm>
            <a:off x="731520" y="5303520"/>
            <a:ext cx="3383280" cy="594360"/>
          </a:xfrm>
          <a:prstGeom prst="roundRect">
            <a:avLst/>
          </a:prstGeom>
          <a:solidFill>
            <a:srgbClr val="062C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10B981"/>
                </a:solidFill>
                <a:latin typeface="Segoe UI"/>
              </a:defRPr>
            </a:pPr>
            <a:r>
              <a:t>Approve</a:t>
            </a:r>
            <a:br/>
            <a:r>
              <a:t>(order goes ahead)</a:t>
            </a:r>
          </a:p>
        </p:txBody>
      </p:sp>
      <p:sp>
        <p:nvSpPr>
          <p:cNvPr id="18" name="Rounded Rectangle 17"/>
          <p:cNvSpPr/>
          <p:nvPr/>
        </p:nvSpPr>
        <p:spPr>
          <a:xfrm>
            <a:off x="4389120" y="5303520"/>
            <a:ext cx="3383280" cy="594360"/>
          </a:xfrm>
          <a:prstGeom prst="roundRect">
            <a:avLst/>
          </a:prstGeom>
          <a:solidFill>
            <a:srgbClr val="002447"/>
          </a:solidFill>
          <a:ln w="12700">
            <a:solidFill>
              <a:srgbClr val="0072CE"/>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00C2FF"/>
                </a:solidFill>
                <a:latin typeface="Segoe UI"/>
              </a:defRPr>
            </a:pPr>
            <a:r>
              <a:t>Switch Vendor</a:t>
            </a:r>
            <a:br/>
            <a:r>
              <a:t>(use the AI's suggestion)</a:t>
            </a:r>
          </a:p>
        </p:txBody>
      </p:sp>
      <p:sp>
        <p:nvSpPr>
          <p:cNvPr id="19" name="Rounded Rectangle 18"/>
          <p:cNvSpPr/>
          <p:nvPr/>
        </p:nvSpPr>
        <p:spPr>
          <a:xfrm>
            <a:off x="8046720" y="5303520"/>
            <a:ext cx="3383280" cy="594360"/>
          </a:xfrm>
          <a:prstGeom prst="roundRect">
            <a:avLst/>
          </a:prstGeom>
          <a:solidFill>
            <a:srgbClr val="3C1419"/>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43F5E"/>
                </a:solidFill>
                <a:latin typeface="Segoe UI"/>
              </a:defRPr>
            </a:pPr>
            <a:r>
              <a:t>Reject</a:t>
            </a:r>
            <a:br/>
            <a:r>
              <a:t>(sent back with a reason)</a:t>
            </a:r>
          </a:p>
        </p:txBody>
      </p:sp>
      <p:sp>
        <p:nvSpPr>
          <p:cNvPr id="20" name="TextBox 19"/>
          <p:cNvSpPr txBox="1"/>
          <p:nvPr/>
        </p:nvSpPr>
        <p:spPr>
          <a:xfrm>
            <a:off x="731520" y="6080760"/>
            <a:ext cx="10698480" cy="365760"/>
          </a:xfrm>
          <a:prstGeom prst="rect">
            <a:avLst/>
          </a:prstGeom>
          <a:noFill/>
        </p:spPr>
        <p:txBody>
          <a:bodyPr wrap="none">
            <a:spAutoFit/>
          </a:bodyPr>
          <a:lstStyle/>
          <a:p>
            <a:pPr algn="ctr">
              <a:defRPr sz="1100" i="1">
                <a:solidFill>
                  <a:srgbClr val="94A3B8"/>
                </a:solidFill>
              </a:defRPr>
            </a:pPr>
            <a:r>
              <a:t>The AI only finds facts and explains them — it never approves a purchase on its own.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579646"/>
          </a:xfrm>
          <a:prstGeom prst="rect">
            <a:avLst/>
          </a:prstGeom>
          <a:noFill/>
        </p:spPr>
        <p:txBody>
          <a:bodyPr wrap="square" lIns="0" tIns="0" rIns="0" bIns="0">
            <a:spAutoFit/>
          </a:bodyPr>
          <a:lstStyle/>
          <a:p>
            <a:pPr>
              <a:spcAft>
                <a:spcPts val="200"/>
              </a:spcAft>
              <a:defRPr sz="1000" b="1">
                <a:solidFill>
                  <a:srgbClr val="00C2FF"/>
                </a:solidFill>
                <a:latin typeface="Segoe UI"/>
              </a:defRPr>
            </a:pPr>
            <a:r>
              <a:rPr dirty="0"/>
              <a:t>ACT 3: VENDOR INTELLIGENCE  •  SUPPLIER QUALIFICATION</a:t>
            </a:r>
          </a:p>
          <a:p>
            <a:pPr>
              <a:defRPr sz="2600" b="1">
                <a:solidFill>
                  <a:srgbClr val="FFFFFF"/>
                </a:solidFill>
                <a:latin typeface="Segoe UI"/>
              </a:defRPr>
            </a:pPr>
            <a:r>
              <a:rPr dirty="0"/>
              <a:t>Now We Know We Need to Buy. Who Should We </a:t>
            </a:r>
            <a:r>
              <a:rPr lang="en-IN" dirty="0"/>
              <a:t>Buy from</a:t>
            </a:r>
            <a:r>
              <a:rPr dirty="0"/>
              <a:t>?</a:t>
            </a:r>
          </a:p>
        </p:txBody>
      </p:sp>
      <p:sp>
        <p:nvSpPr>
          <p:cNvPr id="5" name="Rounded Rectangle 4"/>
          <p:cNvSpPr/>
          <p:nvPr/>
        </p:nvSpPr>
        <p:spPr>
          <a:xfrm>
            <a:off x="731520" y="1828800"/>
            <a:ext cx="3383280" cy="3108960"/>
          </a:xfrm>
          <a:prstGeom prst="roundRect">
            <a:avLst/>
          </a:prstGeom>
          <a:solidFill>
            <a:srgbClr val="0E1A2C"/>
          </a:solidFill>
          <a:ln w="17780">
            <a:solidFill>
              <a:srgbClr val="94A3B8"/>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400" b="1">
                <a:solidFill>
                  <a:srgbClr val="94A3B8"/>
                </a:solidFill>
              </a:defRPr>
            </a:pPr>
            <a:r>
              <a:t>01 GENUINE NEED</a:t>
            </a:r>
          </a:p>
          <a:p>
            <a:pPr algn="ctr">
              <a:spcBef>
                <a:spcPts val="1600"/>
              </a:spcBef>
              <a:defRPr sz="2000" b="1">
                <a:solidFill>
                  <a:srgbClr val="FFFFFF"/>
                </a:solidFill>
              </a:defRPr>
            </a:pPr>
            <a:r>
              <a:t>Net 30 Units Verified</a:t>
            </a:r>
          </a:p>
          <a:p>
            <a:pPr algn="ctr">
              <a:spcBef>
                <a:spcPts val="1400"/>
              </a:spcBef>
              <a:defRPr sz="1100">
                <a:solidFill>
                  <a:srgbClr val="E2E8F0"/>
                </a:solidFill>
              </a:defRPr>
            </a:pPr>
            <a:r>
              <a:t>Inventory shortage confirmed &amp; duplicate check cleared</a:t>
            </a:r>
          </a:p>
        </p:txBody>
      </p:sp>
      <p:sp>
        <p:nvSpPr>
          <p:cNvPr id="6" name="Rounded Rectangle 5"/>
          <p:cNvSpPr/>
          <p:nvPr/>
        </p:nvSpPr>
        <p:spPr>
          <a:xfrm>
            <a:off x="4389120" y="1828800"/>
            <a:ext cx="3383280" cy="3108960"/>
          </a:xfrm>
          <a:prstGeom prst="roundRect">
            <a:avLst/>
          </a:prstGeom>
          <a:solidFill>
            <a:srgbClr val="0E1A2C"/>
          </a:solidFill>
          <a:ln w="17780">
            <a:solidFill>
              <a:srgbClr val="0072CE"/>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400" b="1">
                <a:solidFill>
                  <a:srgbClr val="0072CE"/>
                </a:solidFill>
              </a:defRPr>
            </a:pPr>
            <a:r>
              <a:t>02 CANDIDATE POOL</a:t>
            </a:r>
          </a:p>
          <a:p>
            <a:pPr algn="ctr">
              <a:spcBef>
                <a:spcPts val="1600"/>
              </a:spcBef>
              <a:defRPr sz="2000" b="1">
                <a:solidFill>
                  <a:srgbClr val="FFFFFF"/>
                </a:solidFill>
              </a:defRPr>
            </a:pPr>
            <a:r>
              <a:t>12 Registered Suppliers</a:t>
            </a:r>
          </a:p>
          <a:p>
            <a:pPr algn="ctr">
              <a:spcBef>
                <a:spcPts val="1400"/>
              </a:spcBef>
              <a:defRPr sz="1100">
                <a:solidFill>
                  <a:srgbClr val="E2E8F0"/>
                </a:solidFill>
              </a:defRPr>
            </a:pPr>
            <a:r>
              <a:t>Commodity category &amp; active qualification filters applied</a:t>
            </a:r>
          </a:p>
        </p:txBody>
      </p:sp>
      <p:sp>
        <p:nvSpPr>
          <p:cNvPr id="7" name="Rounded Rectangle 6"/>
          <p:cNvSpPr/>
          <p:nvPr/>
        </p:nvSpPr>
        <p:spPr>
          <a:xfrm>
            <a:off x="8046720" y="1828800"/>
            <a:ext cx="3383280" cy="310896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400" b="1">
                <a:solidFill>
                  <a:srgbClr val="00C2FF"/>
                </a:solidFill>
              </a:defRPr>
            </a:pPr>
            <a:r>
              <a:t>03 INTELLIGENT SHORTLIST</a:t>
            </a:r>
          </a:p>
          <a:p>
            <a:pPr algn="ctr">
              <a:spcBef>
                <a:spcPts val="1600"/>
              </a:spcBef>
              <a:defRPr sz="2000" b="1">
                <a:solidFill>
                  <a:srgbClr val="FFFFFF"/>
                </a:solidFill>
              </a:defRPr>
            </a:pPr>
            <a:r>
              <a:t>Top 3 Recommended</a:t>
            </a:r>
          </a:p>
          <a:p>
            <a:pPr algn="ctr">
              <a:spcBef>
                <a:spcPts val="1400"/>
              </a:spcBef>
              <a:defRPr sz="1100">
                <a:solidFill>
                  <a:srgbClr val="E2E8F0"/>
                </a:solidFill>
              </a:defRPr>
            </a:pPr>
            <a:r>
              <a:t>6-Factor Qualification Model + Qualitative RAG synthesis</a:t>
            </a:r>
          </a:p>
        </p:txBody>
      </p:sp>
      <p:sp>
        <p:nvSpPr>
          <p:cNvPr id="8" name="Rounded Rectangle 7"/>
          <p:cNvSpPr/>
          <p:nvPr/>
        </p:nvSpPr>
        <p:spPr>
          <a:xfrm>
            <a:off x="731520" y="5212080"/>
            <a:ext cx="10728655" cy="100584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82880" rtlCol="0" anchor="ctr"/>
          <a:lstStyle/>
          <a:p>
            <a:pPr algn="ctr">
              <a:defRPr sz="1600" b="1">
                <a:solidFill>
                  <a:srgbClr val="FFFFFF"/>
                </a:solidFill>
              </a:defRPr>
            </a:pPr>
            <a:r>
              <a:t>Qualification filters the entire supplier database down to a high-confidence, context-aware shortlist.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3: VENDOR INTELLIGENCE  •  STRUCTURED VS QUALITATIVE</a:t>
            </a:r>
          </a:p>
          <a:p>
            <a:pPr>
              <a:defRPr sz="2600" b="1">
                <a:solidFill>
                  <a:srgbClr val="FFFFFF"/>
                </a:solidFill>
                <a:latin typeface="Segoe UI"/>
              </a:defRPr>
            </a:pPr>
            <a:r>
              <a:t>Data Remembers Numbers. People Remember Experience.</a:t>
            </a:r>
          </a:p>
        </p:txBody>
      </p:sp>
      <p:sp>
        <p:nvSpPr>
          <p:cNvPr id="5" name="Rounded Rectangle 4"/>
          <p:cNvSpPr/>
          <p:nvPr/>
        </p:nvSpPr>
        <p:spPr>
          <a:xfrm>
            <a:off x="731520" y="1737360"/>
            <a:ext cx="5120640" cy="393192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lIns="457200" tIns="457200" rtlCol="0" anchor="ctr"/>
          <a:lstStyle/>
          <a:p>
            <a:pPr algn="ctr">
              <a:defRPr sz="2200" b="1">
                <a:solidFill>
                  <a:srgbClr val="00C2FF"/>
                </a:solidFill>
              </a:defRPr>
            </a:pPr>
            <a:r>
              <a:t>DATA REMEMBERS</a:t>
            </a:r>
            <a:br/>
            <a:r>
              <a:t>THE NUMBERS</a:t>
            </a:r>
          </a:p>
          <a:p>
            <a:pPr>
              <a:spcBef>
                <a:spcPts val="1600"/>
              </a:spcBef>
              <a:defRPr sz="1600" b="1">
                <a:solidFill>
                  <a:srgbClr val="FFFFFF"/>
                </a:solidFill>
              </a:defRPr>
            </a:pPr>
            <a:r>
              <a:t>QUALITY RATING: 94%</a:t>
            </a:r>
          </a:p>
          <a:p>
            <a:pPr>
              <a:spcBef>
                <a:spcPts val="1600"/>
              </a:spcBef>
              <a:defRPr sz="1600" b="1">
                <a:solidFill>
                  <a:srgbClr val="FFFFFF"/>
                </a:solidFill>
              </a:defRPr>
            </a:pPr>
            <a:r>
              <a:t>ON-TIME DELIVERY: 88%</a:t>
            </a:r>
          </a:p>
          <a:p>
            <a:pPr>
              <a:spcBef>
                <a:spcPts val="1600"/>
              </a:spcBef>
              <a:defRPr sz="1600" b="1">
                <a:solidFill>
                  <a:srgbClr val="FFFFFF"/>
                </a:solidFill>
              </a:defRPr>
            </a:pPr>
            <a:r>
              <a:t>HISTORICAL FULFILLMENT: 85%</a:t>
            </a:r>
          </a:p>
        </p:txBody>
      </p:sp>
      <p:sp>
        <p:nvSpPr>
          <p:cNvPr id="6" name="Rounded Rectangle 5"/>
          <p:cNvSpPr/>
          <p:nvPr/>
        </p:nvSpPr>
        <p:spPr>
          <a:xfrm>
            <a:off x="6309360" y="1737360"/>
            <a:ext cx="5120640" cy="3931920"/>
          </a:xfrm>
          <a:prstGeom prst="roundRect">
            <a:avLst/>
          </a:prstGeom>
          <a:solidFill>
            <a:srgbClr val="0E1A2C"/>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lIns="457200" tIns="457200" rtlCol="0" anchor="ctr"/>
          <a:lstStyle/>
          <a:p>
            <a:pPr algn="ctr">
              <a:defRPr sz="2200" b="1">
                <a:solidFill>
                  <a:srgbClr val="FFFFFF"/>
                </a:solidFill>
              </a:defRPr>
            </a:pPr>
            <a:r>
              <a:t>PEOPLE REMEMBER</a:t>
            </a:r>
            <a:br/>
            <a:r>
              <a:t>THE EXPERIENCE</a:t>
            </a:r>
          </a:p>
          <a:p>
            <a:br/>
            <a:r>
              <a:t>"Delivery was recovered quickly.</a:t>
            </a:r>
            <a:br/>
            <a:r>
              <a:t>Communication during delays wasn't."</a:t>
            </a:r>
          </a:p>
          <a:p>
            <a:br/>
            <a:r>
              <a:t>— Quarterly Vendor Survey Ingestion</a:t>
            </a:r>
          </a:p>
        </p:txBody>
      </p:sp>
      <p:sp>
        <p:nvSpPr>
          <p:cNvPr id="7" name="TextBox 6"/>
          <p:cNvSpPr txBox="1"/>
          <p:nvPr/>
        </p:nvSpPr>
        <p:spPr>
          <a:xfrm>
            <a:off x="731520" y="5852160"/>
            <a:ext cx="10698480" cy="548640"/>
          </a:xfrm>
          <a:prstGeom prst="rect">
            <a:avLst/>
          </a:prstGeom>
          <a:noFill/>
        </p:spPr>
        <p:txBody>
          <a:bodyPr wrap="none">
            <a:spAutoFit/>
          </a:bodyPr>
          <a:lstStyle/>
          <a:p>
            <a:pPr algn="ctr">
              <a:defRPr sz="1500" b="1">
                <a:solidFill>
                  <a:srgbClr val="00C2FF"/>
                </a:solidFill>
              </a:defRPr>
            </a:pPr>
            <a:r>
              <a:t>Structured data tells us what happened. Human experience helps us understand why.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3: VENDOR INTELLIGENCE  •  RAG PIPELINE</a:t>
            </a:r>
          </a:p>
          <a:p>
            <a:pPr>
              <a:defRPr sz="2600" b="1">
                <a:solidFill>
                  <a:srgbClr val="FFFFFF"/>
                </a:solidFill>
                <a:latin typeface="Segoe UI"/>
              </a:defRPr>
            </a:pPr>
            <a:r>
              <a:t>How Does Human Experience Become Intelligence?</a:t>
            </a:r>
          </a:p>
        </p:txBody>
      </p:sp>
      <p:sp>
        <p:nvSpPr>
          <p:cNvPr id="5" name="Rounded Rectangle 4"/>
          <p:cNvSpPr/>
          <p:nvPr/>
        </p:nvSpPr>
        <p:spPr>
          <a:xfrm>
            <a:off x="731520" y="1828800"/>
            <a:ext cx="2560320" cy="3108960"/>
          </a:xfrm>
          <a:prstGeom prst="roundRect">
            <a:avLst/>
          </a:prstGeom>
          <a:solidFill>
            <a:srgbClr val="0E1A2C"/>
          </a:solidFill>
          <a:ln w="17780">
            <a:solidFill>
              <a:srgbClr val="94A3B8"/>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300" b="1">
                <a:solidFill>
                  <a:srgbClr val="94A3B8"/>
                </a:solidFill>
              </a:defRPr>
            </a:pPr>
            <a:r>
              <a:t>01</a:t>
            </a:r>
            <a:br/>
            <a:br/>
            <a:r>
              <a:t>QUARTERLY FEEDBACK</a:t>
            </a:r>
            <a:br/>
            <a:br/>
            <a:r>
              <a:t>Survey reviews &amp; operational incident logs</a:t>
            </a:r>
          </a:p>
        </p:txBody>
      </p:sp>
      <p:sp>
        <p:nvSpPr>
          <p:cNvPr id="6" name="Rounded Rectangle 5"/>
          <p:cNvSpPr/>
          <p:nvPr/>
        </p:nvSpPr>
        <p:spPr>
          <a:xfrm>
            <a:off x="3474720" y="1828800"/>
            <a:ext cx="2560320" cy="310896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300" b="1">
                <a:solidFill>
                  <a:srgbClr val="00C2FF"/>
                </a:solidFill>
              </a:defRPr>
            </a:pPr>
            <a:r>
              <a:t>02</a:t>
            </a:r>
            <a:br/>
            <a:br/>
            <a:r>
              <a:t>DENSE VECTOR SEARCH</a:t>
            </a:r>
            <a:br/>
            <a:br/>
            <a:r>
              <a:t>Semantic cosine similarity over feedback embeddings</a:t>
            </a:r>
          </a:p>
        </p:txBody>
      </p:sp>
      <p:sp>
        <p:nvSpPr>
          <p:cNvPr id="7" name="Rounded Rectangle 6"/>
          <p:cNvSpPr/>
          <p:nvPr/>
        </p:nvSpPr>
        <p:spPr>
          <a:xfrm>
            <a:off x="6217920" y="1828800"/>
            <a:ext cx="2560320" cy="3108960"/>
          </a:xfrm>
          <a:prstGeom prst="roundRect">
            <a:avLst/>
          </a:prstGeom>
          <a:solidFill>
            <a:srgbClr val="0E1A2C"/>
          </a:solidFill>
          <a:ln w="17780">
            <a:solidFill>
              <a:srgbClr val="0072CE"/>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300" b="1">
                <a:solidFill>
                  <a:srgbClr val="0072CE"/>
                </a:solidFill>
              </a:defRPr>
            </a:pPr>
            <a:r>
              <a:t>03</a:t>
            </a:r>
            <a:br/>
            <a:br/>
            <a:r>
              <a:t>GROUNDED EVIDENCE</a:t>
            </a:r>
            <a:br/>
            <a:br/>
            <a:r>
              <a:t>KPI metric baseline + Retrieved context chunk</a:t>
            </a:r>
          </a:p>
        </p:txBody>
      </p:sp>
      <p:sp>
        <p:nvSpPr>
          <p:cNvPr id="8" name="Rounded Rectangle 7"/>
          <p:cNvSpPr/>
          <p:nvPr/>
        </p:nvSpPr>
        <p:spPr>
          <a:xfrm>
            <a:off x="8961120" y="1828800"/>
            <a:ext cx="2560320" cy="3108960"/>
          </a:xfrm>
          <a:prstGeom prst="roundRect">
            <a:avLst/>
          </a:prstGeom>
          <a:solidFill>
            <a:srgbClr val="0E1A2C"/>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300" b="1">
                <a:solidFill>
                  <a:srgbClr val="10B981"/>
                </a:solidFill>
              </a:defRPr>
            </a:pPr>
            <a:r>
              <a:t>04</a:t>
            </a:r>
            <a:br/>
            <a:br/>
            <a:r>
              <a:t>SYNTHESIZED INSIGHT</a:t>
            </a:r>
            <a:br/>
            <a:br/>
            <a:r>
              <a:t>Actionable strengths, risks &amp; confidence badges</a:t>
            </a:r>
          </a:p>
        </p:txBody>
      </p:sp>
      <p:sp>
        <p:nvSpPr>
          <p:cNvPr id="9" name="Rounded Rectangle 8"/>
          <p:cNvSpPr/>
          <p:nvPr/>
        </p:nvSpPr>
        <p:spPr>
          <a:xfrm>
            <a:off x="731520" y="5212080"/>
            <a:ext cx="10728655" cy="100584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82880" rtlCol="0" anchor="ctr"/>
          <a:lstStyle/>
          <a:p>
            <a:pPr algn="ctr">
              <a:defRPr sz="1700" b="1">
                <a:solidFill>
                  <a:srgbClr val="FFFFFF"/>
                </a:solidFill>
              </a:defRPr>
            </a:pPr>
            <a:r>
              <a:t>AI does not search the organization blindly. It reasons over retrieved evidence.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4: ARCHITECTURAL RIGOR  •  INTELLIGENCE SEPARATION</a:t>
            </a:r>
          </a:p>
          <a:p>
            <a:pPr>
              <a:defRPr sz="2600" b="1">
                <a:solidFill>
                  <a:srgbClr val="FFFFFF"/>
                </a:solidFill>
                <a:latin typeface="Segoe UI"/>
              </a:defRPr>
            </a:pPr>
            <a:r>
              <a:t>Where We Deliberately Chose NOT to Use AI</a:t>
            </a:r>
          </a:p>
        </p:txBody>
      </p:sp>
      <p:sp>
        <p:nvSpPr>
          <p:cNvPr id="5" name="Rounded Rectangle 4"/>
          <p:cNvSpPr/>
          <p:nvPr/>
        </p:nvSpPr>
        <p:spPr>
          <a:xfrm>
            <a:off x="731520" y="1737360"/>
            <a:ext cx="5120640" cy="35661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lIns="365760" tIns="365760" rtlCol="0" anchor="ctr"/>
          <a:lstStyle/>
          <a:p>
            <a:pPr algn="ctr">
              <a:defRPr sz="2200" b="1">
                <a:solidFill>
                  <a:srgbClr val="FFFFFF"/>
                </a:solidFill>
              </a:defRPr>
            </a:pPr>
            <a:r>
              <a:t>2 + 2 = 4</a:t>
            </a:r>
            <a:br/>
            <a:r>
              <a:t>DON'T CALL AI.</a:t>
            </a:r>
          </a:p>
          <a:p>
            <a:br/>
            <a:r>
              <a:t>• Inventory Shortage Calculation</a:t>
            </a:r>
            <a:br/>
            <a:r>
              <a:t>• ±20% Duplicate Window Matching</a:t>
            </a:r>
            <a:br/>
            <a:r>
              <a:t>• 5-Factor Quotation Scoring V2</a:t>
            </a:r>
            <a:br/>
            <a:r>
              <a:t>• Idempotent PO Record Creation</a:t>
            </a:r>
          </a:p>
        </p:txBody>
      </p:sp>
      <p:sp>
        <p:nvSpPr>
          <p:cNvPr id="6" name="Rounded Rectangle 5"/>
          <p:cNvSpPr/>
          <p:nvPr/>
        </p:nvSpPr>
        <p:spPr>
          <a:xfrm>
            <a:off x="6309360" y="1737360"/>
            <a:ext cx="5120640" cy="3566160"/>
          </a:xfrm>
          <a:prstGeom prst="roundRect">
            <a:avLst/>
          </a:prstGeom>
          <a:solidFill>
            <a:srgbClr val="0E1A2C"/>
          </a:solidFill>
          <a:ln w="15240">
            <a:solidFill>
              <a:srgbClr val="00C2FF"/>
            </a:solidFill>
          </a:ln>
        </p:spPr>
        <p:style>
          <a:lnRef idx="1">
            <a:schemeClr val="accent1"/>
          </a:lnRef>
          <a:fillRef idx="3">
            <a:schemeClr val="accent1"/>
          </a:fillRef>
          <a:effectRef idx="2">
            <a:schemeClr val="accent1"/>
          </a:effectRef>
          <a:fontRef idx="minor">
            <a:schemeClr val="lt1"/>
          </a:fontRef>
        </p:style>
        <p:txBody>
          <a:bodyPr lIns="365760" tIns="365760" rtlCol="0" anchor="ctr"/>
          <a:lstStyle/>
          <a:p>
            <a:pPr algn="ctr">
              <a:defRPr sz="2000" b="1">
                <a:solidFill>
                  <a:srgbClr val="00C2FF"/>
                </a:solidFill>
              </a:defRPr>
            </a:pPr>
            <a:r>
              <a:t>"Which vendor is safer</a:t>
            </a:r>
            <a:br/>
            <a:r>
              <a:t>for cleanroom urgency?"</a:t>
            </a:r>
            <a:br/>
            <a:r>
              <a:t>NOW AI HELPS.</a:t>
            </a:r>
          </a:p>
          <a:p>
            <a:br/>
            <a:r>
              <a:t>• Qualitative Review Synthesis</a:t>
            </a:r>
            <a:br/>
            <a:r>
              <a:t>• Sentiment &amp; Risk Extraction</a:t>
            </a:r>
            <a:br/>
            <a:r>
              <a:t>• Contextual Copilot Policy QA</a:t>
            </a:r>
          </a:p>
        </p:txBody>
      </p:sp>
      <p:sp>
        <p:nvSpPr>
          <p:cNvPr id="7" name="Rounded Rectangle 6"/>
          <p:cNvSpPr/>
          <p:nvPr/>
        </p:nvSpPr>
        <p:spPr>
          <a:xfrm>
            <a:off x="731520" y="5486400"/>
            <a:ext cx="10728655" cy="822960"/>
          </a:xfrm>
          <a:prstGeom prst="roundRect">
            <a:avLst/>
          </a:prstGeom>
          <a:solidFill>
            <a:srgbClr val="14253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tIns="109728" rtlCol="0" anchor="ctr"/>
          <a:lstStyle/>
          <a:p>
            <a:pPr algn="ctr">
              <a:defRPr sz="2200" b="1">
                <a:solidFill>
                  <a:srgbClr val="10B981"/>
                </a:solidFill>
              </a:defRPr>
            </a:pPr>
            <a:r>
              <a:t>"WE USE AI FOR AMBIGUITY. NOT ARITHMETIC."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4: ARCHITECTURAL RIGOR  •  COST &amp; LATENCY CONTROL</a:t>
            </a:r>
          </a:p>
          <a:p>
            <a:pPr>
              <a:defRPr sz="2600" b="1">
                <a:solidFill>
                  <a:srgbClr val="FFFFFF"/>
                </a:solidFill>
                <a:latin typeface="Segoe UI"/>
              </a:defRPr>
            </a:pPr>
            <a:r>
              <a:t>And We Don't Pay for the Same Intelligence Twice</a:t>
            </a:r>
          </a:p>
        </p:txBody>
      </p:sp>
      <p:sp>
        <p:nvSpPr>
          <p:cNvPr id="5" name="Rounded Rectangle 4"/>
          <p:cNvSpPr/>
          <p:nvPr/>
        </p:nvSpPr>
        <p:spPr>
          <a:xfrm>
            <a:off x="1097280" y="1828800"/>
            <a:ext cx="4572000" cy="3017520"/>
          </a:xfrm>
          <a:prstGeom prst="roundRect">
            <a:avLst/>
          </a:prstGeom>
          <a:solidFill>
            <a:srgbClr val="062C22"/>
          </a:solidFill>
          <a:ln w="20320">
            <a:solidFill>
              <a:srgbClr val="10B981"/>
            </a:solidFill>
          </a:ln>
        </p:spPr>
        <p:style>
          <a:lnRef idx="1">
            <a:schemeClr val="accent1"/>
          </a:lnRef>
          <a:fillRef idx="3">
            <a:schemeClr val="accent1"/>
          </a:fillRef>
          <a:effectRef idx="2">
            <a:schemeClr val="accent1"/>
          </a:effectRef>
          <a:fontRef idx="minor">
            <a:schemeClr val="lt1"/>
          </a:fontRef>
        </p:style>
        <p:txBody>
          <a:bodyPr tIns="365760" rtlCol="0" anchor="ctr"/>
          <a:lstStyle/>
          <a:p>
            <a:pPr algn="ctr">
              <a:defRPr sz="1800" b="1">
                <a:solidFill>
                  <a:srgbClr val="FFFFFF"/>
                </a:solidFill>
              </a:defRPr>
            </a:pPr>
            <a:r>
              <a:t>SAME CONTEXT</a:t>
            </a:r>
            <a:br/>
            <a:br/>
            <a:r>
              <a:t>Snapshot Cache Hit</a:t>
            </a:r>
            <a:br/>
            <a:r>
              <a:t>0 Tokens Incurred</a:t>
            </a:r>
            <a:br/>
            <a:r>
              <a:t>Sub-5ms Latency</a:t>
            </a:r>
          </a:p>
        </p:txBody>
      </p:sp>
      <p:sp>
        <p:nvSpPr>
          <p:cNvPr id="6" name="Rounded Rectangle 5"/>
          <p:cNvSpPr/>
          <p:nvPr/>
        </p:nvSpPr>
        <p:spPr>
          <a:xfrm>
            <a:off x="6492240" y="1828800"/>
            <a:ext cx="4572000" cy="3017520"/>
          </a:xfrm>
          <a:prstGeom prst="roundRect">
            <a:avLst/>
          </a:prstGeom>
          <a:solidFill>
            <a:srgbClr val="0E1A2C"/>
          </a:solidFill>
          <a:ln w="20320">
            <a:solidFill>
              <a:srgbClr val="0072CE"/>
            </a:solidFill>
          </a:ln>
        </p:spPr>
        <p:style>
          <a:lnRef idx="1">
            <a:schemeClr val="accent1"/>
          </a:lnRef>
          <a:fillRef idx="3">
            <a:schemeClr val="accent1"/>
          </a:fillRef>
          <a:effectRef idx="2">
            <a:schemeClr val="accent1"/>
          </a:effectRef>
          <a:fontRef idx="minor">
            <a:schemeClr val="lt1"/>
          </a:fontRef>
        </p:style>
        <p:txBody>
          <a:bodyPr tIns="365760" rtlCol="0" anchor="ctr"/>
          <a:lstStyle/>
          <a:p>
            <a:pPr algn="ctr">
              <a:defRPr sz="1800" b="1">
                <a:solidFill>
                  <a:srgbClr val="00C2FF"/>
                </a:solidFill>
              </a:defRPr>
            </a:pPr>
            <a:r>
              <a:t>NEW CONTEXT</a:t>
            </a:r>
            <a:br/>
            <a:br/>
            <a:r>
              <a:t>Explicit User Click</a:t>
            </a:r>
            <a:br/>
            <a:r>
              <a:t>On-Demand RAG</a:t>
            </a:r>
            <a:br/>
            <a:r>
              <a:t>New Snapshot Version</a:t>
            </a:r>
          </a:p>
        </p:txBody>
      </p:sp>
      <p:sp>
        <p:nvSpPr>
          <p:cNvPr id="7" name="Rounded Rectangle 6"/>
          <p:cNvSpPr/>
          <p:nvPr/>
        </p:nvSpPr>
        <p:spPr>
          <a:xfrm>
            <a:off x="731520" y="5120640"/>
            <a:ext cx="10728655" cy="109728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82880" rtlCol="0" anchor="ctr"/>
          <a:lstStyle/>
          <a:p>
            <a:pPr algn="ctr">
              <a:defRPr sz="1800" b="1">
                <a:solidFill>
                  <a:srgbClr val="FFFFFF"/>
                </a:solidFill>
              </a:defRPr>
            </a:pPr>
            <a:r>
              <a:t>AI should be expensive only when new intelligence is required.</a:t>
            </a:r>
          </a:p>
          <a:p>
            <a:pPr algn="ctr">
              <a:spcBef>
                <a:spcPts val="400"/>
              </a:spcBef>
              <a:defRPr sz="1200">
                <a:solidFill>
                  <a:srgbClr val="94A3B8"/>
                </a:solidFill>
              </a:defRPr>
            </a:pPr>
            <a:r>
              <a:t>Snapshots decouple AI inference from frequent user reloads, saving &gt;85% in operating token expenses.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4: GOVERNANCE  •  HUMAN ACCOUNTABILITY</a:t>
            </a:r>
          </a:p>
          <a:p>
            <a:pPr>
              <a:defRPr sz="2600" b="1">
                <a:solidFill>
                  <a:srgbClr val="FFFFFF"/>
                </a:solidFill>
                <a:latin typeface="Segoe UI"/>
              </a:defRPr>
            </a:pPr>
            <a:r>
              <a:t>Recommendation ≠ Authority</a:t>
            </a:r>
          </a:p>
        </p:txBody>
      </p:sp>
      <p:sp>
        <p:nvSpPr>
          <p:cNvPr id="5" name="Rounded Rectangle 4"/>
          <p:cNvSpPr/>
          <p:nvPr/>
        </p:nvSpPr>
        <p:spPr>
          <a:xfrm>
            <a:off x="1371600" y="2011680"/>
            <a:ext cx="4389120" cy="2377440"/>
          </a:xfrm>
          <a:prstGeom prst="roundRect">
            <a:avLst/>
          </a:prstGeom>
          <a:solidFill>
            <a:srgbClr val="0E1A2C"/>
          </a:solidFill>
          <a:ln w="15240">
            <a:solidFill>
              <a:srgbClr val="00C2FF"/>
            </a:solidFill>
          </a:ln>
        </p:spPr>
        <p:style>
          <a:lnRef idx="1">
            <a:schemeClr val="accent1"/>
          </a:lnRef>
          <a:fillRef idx="3">
            <a:schemeClr val="accent1"/>
          </a:fillRef>
          <a:effectRef idx="2">
            <a:schemeClr val="accent1"/>
          </a:effectRef>
          <a:fontRef idx="minor">
            <a:schemeClr val="lt1"/>
          </a:fontRef>
        </p:style>
        <p:txBody>
          <a:bodyPr tIns="457200" rtlCol="0" anchor="ctr"/>
          <a:lstStyle/>
          <a:p>
            <a:pPr algn="ctr">
              <a:defRPr sz="1800" b="1">
                <a:solidFill>
                  <a:srgbClr val="FFFFFF"/>
                </a:solidFill>
              </a:defRPr>
            </a:pPr>
            <a:r>
              <a:t>AI RECOMMENDS</a:t>
            </a:r>
            <a:br/>
            <a:br/>
            <a:r>
              <a:t>Surfaces Evidence &amp; Scores</a:t>
            </a:r>
            <a:br/>
            <a:r>
              <a:t>Highlights Risk Alerts</a:t>
            </a:r>
          </a:p>
        </p:txBody>
      </p:sp>
      <p:sp>
        <p:nvSpPr>
          <p:cNvPr id="6" name="Rounded Rectangle 5"/>
          <p:cNvSpPr/>
          <p:nvPr/>
        </p:nvSpPr>
        <p:spPr>
          <a:xfrm>
            <a:off x="6400800" y="2011680"/>
            <a:ext cx="4389120" cy="2377440"/>
          </a:xfrm>
          <a:prstGeom prst="roundRect">
            <a:avLst/>
          </a:prstGeom>
          <a:solidFill>
            <a:srgbClr val="0E1A2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tIns="457200" rtlCol="0" anchor="ctr"/>
          <a:lstStyle/>
          <a:p>
            <a:pPr algn="ctr">
              <a:defRPr sz="1800" b="1">
                <a:solidFill>
                  <a:srgbClr val="F59E0B"/>
                </a:solidFill>
              </a:defRPr>
            </a:pPr>
            <a:r>
              <a:t>HUMAN DECIDES</a:t>
            </a:r>
            <a:br/>
            <a:br/>
            <a:r>
              <a:t>Final Sign-off Authority</a:t>
            </a:r>
            <a:br/>
            <a:r>
              <a:t>Override Requires Justification</a:t>
            </a:r>
          </a:p>
        </p:txBody>
      </p:sp>
      <p:sp>
        <p:nvSpPr>
          <p:cNvPr id="7" name="Rounded Rectangle 6"/>
          <p:cNvSpPr/>
          <p:nvPr/>
        </p:nvSpPr>
        <p:spPr>
          <a:xfrm>
            <a:off x="731520" y="4754880"/>
            <a:ext cx="10728655" cy="146304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82880" rtlCol="0" anchor="ctr"/>
          <a:lstStyle/>
          <a:p>
            <a:pPr algn="ctr">
              <a:defRPr sz="2200" b="1">
                <a:solidFill>
                  <a:srgbClr val="00C2FF"/>
                </a:solidFill>
              </a:defRPr>
            </a:pPr>
            <a:r>
              <a:t>"The System Owns Intelligence. Humans Own Accountability."</a:t>
            </a:r>
          </a:p>
          <a:p>
            <a:pPr algn="ctr">
              <a:spcBef>
                <a:spcPts val="600"/>
              </a:spcBef>
              <a:defRPr sz="1200">
                <a:solidFill>
                  <a:srgbClr val="E2E8F0"/>
                </a:solidFill>
              </a:defRPr>
            </a:pPr>
            <a:r>
              <a:t>Override Auditing: Mandatory written justification logged to immutable audit ledger when bypassing recommendations.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5: MARKET EXECUTION  •  COMPETITIVE RFQ</a:t>
            </a:r>
          </a:p>
          <a:p>
            <a:pPr>
              <a:defRPr sz="2600" b="1">
                <a:solidFill>
                  <a:srgbClr val="FFFFFF"/>
                </a:solidFill>
                <a:latin typeface="Segoe UI"/>
              </a:defRPr>
            </a:pPr>
            <a:r>
              <a:t>A Recommendation Isn't a Purchase Order</a:t>
            </a:r>
          </a:p>
        </p:txBody>
      </p:sp>
      <p:sp>
        <p:nvSpPr>
          <p:cNvPr id="5" name="Rounded Rectangle 4"/>
          <p:cNvSpPr/>
          <p:nvPr/>
        </p:nvSpPr>
        <p:spPr>
          <a:xfrm>
            <a:off x="731520" y="1828800"/>
            <a:ext cx="2560320" cy="3017520"/>
          </a:xfrm>
          <a:prstGeom prst="roundRect">
            <a:avLst/>
          </a:prstGeom>
          <a:solidFill>
            <a:srgbClr val="0E1A2C"/>
          </a:solidFill>
          <a:ln w="17780">
            <a:solidFill>
              <a:srgbClr val="94A3B8"/>
            </a:solidFill>
          </a:ln>
        </p:spPr>
        <p:style>
          <a:lnRef idx="1">
            <a:schemeClr val="accent1"/>
          </a:lnRef>
          <a:fillRef idx="3">
            <a:schemeClr val="accent1"/>
          </a:fillRef>
          <a:effectRef idx="2">
            <a:schemeClr val="accent1"/>
          </a:effectRef>
          <a:fontRef idx="minor">
            <a:schemeClr val="lt1"/>
          </a:fontRef>
        </p:style>
        <p:txBody>
          <a:bodyPr tIns="365760" rtlCol="0" anchor="ctr"/>
          <a:lstStyle/>
          <a:p>
            <a:pPr algn="ctr">
              <a:defRPr sz="1400" b="1">
                <a:solidFill>
                  <a:srgbClr val="94A3B8"/>
                </a:solidFill>
              </a:defRPr>
            </a:pPr>
            <a:r>
              <a:t>01</a:t>
            </a:r>
            <a:br/>
            <a:br/>
            <a:r>
              <a:t>RECOMMEND</a:t>
            </a:r>
            <a:br/>
            <a:br/>
            <a:r>
              <a:t>Top 3 Qualified Suppliers</a:t>
            </a:r>
          </a:p>
        </p:txBody>
      </p:sp>
      <p:sp>
        <p:nvSpPr>
          <p:cNvPr id="6" name="Rounded Rectangle 5"/>
          <p:cNvSpPr/>
          <p:nvPr/>
        </p:nvSpPr>
        <p:spPr>
          <a:xfrm>
            <a:off x="3474720" y="1828800"/>
            <a:ext cx="2560320" cy="301752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tIns="365760" rtlCol="0" anchor="ctr"/>
          <a:lstStyle/>
          <a:p>
            <a:pPr algn="ctr">
              <a:defRPr sz="1400" b="1">
                <a:solidFill>
                  <a:srgbClr val="00C2FF"/>
                </a:solidFill>
              </a:defRPr>
            </a:pPr>
            <a:r>
              <a:t>02</a:t>
            </a:r>
            <a:br/>
            <a:br/>
            <a:r>
              <a:t>INVITE</a:t>
            </a:r>
            <a:br/>
            <a:br/>
            <a:r>
              <a:t>Multi-Vendor RFQ Dispatch</a:t>
            </a:r>
          </a:p>
        </p:txBody>
      </p:sp>
      <p:sp>
        <p:nvSpPr>
          <p:cNvPr id="7" name="Rounded Rectangle 6"/>
          <p:cNvSpPr/>
          <p:nvPr/>
        </p:nvSpPr>
        <p:spPr>
          <a:xfrm>
            <a:off x="6217920" y="1828800"/>
            <a:ext cx="2560320" cy="3017520"/>
          </a:xfrm>
          <a:prstGeom prst="roundRect">
            <a:avLst/>
          </a:prstGeom>
          <a:solidFill>
            <a:srgbClr val="0E1A2C"/>
          </a:solidFill>
          <a:ln w="17780">
            <a:solidFill>
              <a:srgbClr val="0072CE"/>
            </a:solidFill>
          </a:ln>
        </p:spPr>
        <p:style>
          <a:lnRef idx="1">
            <a:schemeClr val="accent1"/>
          </a:lnRef>
          <a:fillRef idx="3">
            <a:schemeClr val="accent1"/>
          </a:fillRef>
          <a:effectRef idx="2">
            <a:schemeClr val="accent1"/>
          </a:effectRef>
          <a:fontRef idx="minor">
            <a:schemeClr val="lt1"/>
          </a:fontRef>
        </p:style>
        <p:txBody>
          <a:bodyPr tIns="365760" rtlCol="0" anchor="ctr"/>
          <a:lstStyle/>
          <a:p>
            <a:pPr algn="ctr">
              <a:defRPr sz="1400" b="1">
                <a:solidFill>
                  <a:srgbClr val="0072CE"/>
                </a:solidFill>
              </a:defRPr>
            </a:pPr>
            <a:r>
              <a:t>03</a:t>
            </a:r>
            <a:br/>
            <a:br/>
            <a:r>
              <a:t>COMPETE</a:t>
            </a:r>
            <a:br/>
            <a:br/>
            <a:r>
              <a:t>Supplier Portal Bids</a:t>
            </a:r>
          </a:p>
        </p:txBody>
      </p:sp>
      <p:sp>
        <p:nvSpPr>
          <p:cNvPr id="8" name="Rounded Rectangle 7"/>
          <p:cNvSpPr/>
          <p:nvPr/>
        </p:nvSpPr>
        <p:spPr>
          <a:xfrm>
            <a:off x="8961120" y="1828800"/>
            <a:ext cx="2560320" cy="3017520"/>
          </a:xfrm>
          <a:prstGeom prst="roundRect">
            <a:avLst/>
          </a:prstGeom>
          <a:solidFill>
            <a:srgbClr val="0E1A2C"/>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tIns="365760" rtlCol="0" anchor="ctr"/>
          <a:lstStyle/>
          <a:p>
            <a:pPr algn="ctr">
              <a:defRPr sz="1400" b="1">
                <a:solidFill>
                  <a:srgbClr val="10B981"/>
                </a:solidFill>
              </a:defRPr>
            </a:pPr>
            <a:r>
              <a:t>04</a:t>
            </a:r>
            <a:br/>
            <a:br/>
            <a:r>
              <a:t>COMPARE</a:t>
            </a:r>
            <a:br/>
            <a:br/>
            <a:r>
              <a:t>5-Factor Model V2 Ranking</a:t>
            </a:r>
          </a:p>
        </p:txBody>
      </p:sp>
      <p:sp>
        <p:nvSpPr>
          <p:cNvPr id="9" name="Rounded Rectangle 8"/>
          <p:cNvSpPr/>
          <p:nvPr/>
        </p:nvSpPr>
        <p:spPr>
          <a:xfrm>
            <a:off x="731520" y="5120640"/>
            <a:ext cx="10728655" cy="109728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82880" rtlCol="0" anchor="ctr"/>
          <a:lstStyle/>
          <a:p>
            <a:pPr algn="ctr">
              <a:defRPr sz="1800" b="1">
                <a:solidFill>
                  <a:srgbClr val="FFFFFF"/>
                </a:solidFill>
              </a:defRPr>
            </a:pPr>
            <a:r>
              <a:t>Recommendation identifies who to consider. Competition reveals the actual offer.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5: MARKET EXECUTION  •  5-FACTOR SCORING MODEL V2</a:t>
            </a:r>
          </a:p>
          <a:p>
            <a:pPr>
              <a:defRPr sz="2600" b="1">
                <a:solidFill>
                  <a:srgbClr val="FFFFFF"/>
                </a:solidFill>
                <a:latin typeface="Segoe UI"/>
              </a:defRPr>
            </a:pPr>
            <a:r>
              <a:t>Three Vendors. Three Different Trade-Offs.</a:t>
            </a:r>
          </a:p>
        </p:txBody>
      </p:sp>
      <p:sp>
        <p:nvSpPr>
          <p:cNvPr id="5" name="Rounded Rectangle 4"/>
          <p:cNvSpPr/>
          <p:nvPr/>
        </p:nvSpPr>
        <p:spPr>
          <a:xfrm>
            <a:off x="731520" y="1737360"/>
            <a:ext cx="3383280" cy="2651760"/>
          </a:xfrm>
          <a:prstGeom prst="roundRect">
            <a:avLst/>
          </a:prstGeom>
          <a:solidFill>
            <a:srgbClr val="0E1A2C"/>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tIns="182880" rtlCol="0" anchor="ctr"/>
          <a:lstStyle/>
          <a:p>
            <a:pPr algn="ctr">
              <a:defRPr sz="1400" b="1">
                <a:solidFill>
                  <a:srgbClr val="FFFFFF"/>
                </a:solidFill>
              </a:defRPr>
            </a:pPr>
            <a:r>
              <a:t>VENDOR A</a:t>
            </a:r>
            <a:br/>
            <a:br/>
            <a:r>
              <a:t>$42 / Unit</a:t>
            </a:r>
            <a:br/>
            <a:r>
              <a:t>7 Days Lead Time</a:t>
            </a:r>
            <a:br/>
            <a:r>
              <a:t>88% Quality Score</a:t>
            </a:r>
          </a:p>
          <a:p>
            <a:pPr algn="ctr">
              <a:spcBef>
                <a:spcPts val="800"/>
              </a:spcBef>
              <a:defRPr sz="1000">
                <a:solidFill>
                  <a:srgbClr val="F43F5E"/>
                </a:solidFill>
              </a:defRPr>
            </a:pPr>
            <a:r>
              <a:t>Lowest price, high defect risk</a:t>
            </a:r>
          </a:p>
        </p:txBody>
      </p:sp>
      <p:sp>
        <p:nvSpPr>
          <p:cNvPr id="6" name="Rounded Rectangle 5"/>
          <p:cNvSpPr/>
          <p:nvPr/>
        </p:nvSpPr>
        <p:spPr>
          <a:xfrm>
            <a:off x="4389120" y="1737360"/>
            <a:ext cx="3383280" cy="2651760"/>
          </a:xfrm>
          <a:prstGeom prst="roundRect">
            <a:avLst/>
          </a:prstGeom>
          <a:solidFill>
            <a:srgbClr val="0E1A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tIns="182880" rtlCol="0" anchor="ctr"/>
          <a:lstStyle/>
          <a:p>
            <a:pPr algn="ctr">
              <a:defRPr sz="1400" b="1">
                <a:solidFill>
                  <a:srgbClr val="FFFFFF"/>
                </a:solidFill>
              </a:defRPr>
            </a:pPr>
            <a:r>
              <a:t>VENDOR B</a:t>
            </a:r>
            <a:br/>
            <a:br/>
            <a:r>
              <a:t>$48 / Unit</a:t>
            </a:r>
            <a:br/>
            <a:r>
              <a:t>2 Days Lead Time</a:t>
            </a:r>
            <a:br/>
            <a:r>
              <a:t>96% Quality Score</a:t>
            </a:r>
          </a:p>
          <a:p>
            <a:pPr algn="ctr">
              <a:spcBef>
                <a:spcPts val="800"/>
              </a:spcBef>
              <a:defRPr sz="1000">
                <a:solidFill>
                  <a:srgbClr val="10B981"/>
                </a:solidFill>
              </a:defRPr>
            </a:pPr>
            <a:r>
              <a:t>Fast delivery, premier quality</a:t>
            </a:r>
          </a:p>
        </p:txBody>
      </p:sp>
      <p:sp>
        <p:nvSpPr>
          <p:cNvPr id="7" name="Rounded Rectangle 6"/>
          <p:cNvSpPr/>
          <p:nvPr/>
        </p:nvSpPr>
        <p:spPr>
          <a:xfrm>
            <a:off x="8046720" y="1737360"/>
            <a:ext cx="3383280" cy="2651760"/>
          </a:xfrm>
          <a:prstGeom prst="roundRect">
            <a:avLst/>
          </a:prstGeom>
          <a:solidFill>
            <a:srgbClr val="0E1A2C"/>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tIns="182880" rtlCol="0" anchor="ctr"/>
          <a:lstStyle/>
          <a:p>
            <a:pPr algn="ctr">
              <a:defRPr sz="1400" b="1">
                <a:solidFill>
                  <a:srgbClr val="FFFFFF"/>
                </a:solidFill>
              </a:defRPr>
            </a:pPr>
            <a:r>
              <a:t>VENDOR C</a:t>
            </a:r>
            <a:br/>
            <a:br/>
            <a:r>
              <a:t>$45 / Unit</a:t>
            </a:r>
            <a:br/>
            <a:r>
              <a:t>4 Days Lead Time</a:t>
            </a:r>
            <a:br/>
            <a:r>
              <a:t>91% Quality Score</a:t>
            </a:r>
          </a:p>
          <a:p>
            <a:pPr algn="ctr">
              <a:spcBef>
                <a:spcPts val="800"/>
              </a:spcBef>
              <a:defRPr sz="1000">
                <a:solidFill>
                  <a:srgbClr val="0072CE"/>
                </a:solidFill>
              </a:defRPr>
            </a:pPr>
            <a:r>
              <a:t>Balanced compromise proposal</a:t>
            </a:r>
          </a:p>
        </p:txBody>
      </p:sp>
      <p:sp>
        <p:nvSpPr>
          <p:cNvPr id="8" name="Rounded Rectangle 7"/>
          <p:cNvSpPr/>
          <p:nvPr/>
        </p:nvSpPr>
        <p:spPr>
          <a:xfrm>
            <a:off x="731520" y="4663440"/>
            <a:ext cx="10728655" cy="164592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82880" rtlCol="0" anchor="ctr"/>
          <a:lstStyle/>
          <a:p>
            <a:pPr algn="ctr">
              <a:defRPr sz="1300" b="1">
                <a:solidFill>
                  <a:srgbClr val="00C2FF"/>
                </a:solidFill>
              </a:defRPr>
            </a:pPr>
            <a:r>
              <a:t>5-Factor Model V2: Price (35%) + Delivery Date (20%) + Lead Time (15%) + Reliability (15%) + Quality (15%)</a:t>
            </a:r>
          </a:p>
          <a:p>
            <a:pPr algn="ctr">
              <a:spcBef>
                <a:spcPts val="800"/>
              </a:spcBef>
              <a:defRPr sz="1800" b="1">
                <a:solidFill>
                  <a:srgbClr val="FFFFFF"/>
                </a:solidFill>
              </a:defRPr>
            </a:pPr>
            <a:r>
              <a:t>"We don't optimize for the cheapest quote. We optimize for the best procurement outcome."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5: MARKET EXECUTION  •  IDEMPOTENT FULFILLMENT</a:t>
            </a:r>
          </a:p>
          <a:p>
            <a:pPr>
              <a:defRPr sz="2600" b="1">
                <a:solidFill>
                  <a:srgbClr val="FFFFFF"/>
                </a:solidFill>
                <a:latin typeface="Segoe UI"/>
              </a:defRPr>
            </a:pPr>
            <a:r>
              <a:t>Intelligence Is Useless If Execution Isn't Reliable</a:t>
            </a:r>
          </a:p>
        </p:txBody>
      </p:sp>
      <p:sp>
        <p:nvSpPr>
          <p:cNvPr id="5" name="Rounded Rectangle 4"/>
          <p:cNvSpPr/>
          <p:nvPr/>
        </p:nvSpPr>
        <p:spPr>
          <a:xfrm>
            <a:off x="731520" y="1828800"/>
            <a:ext cx="3291840" cy="29260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365760" rtlCol="0" anchor="ctr"/>
          <a:lstStyle/>
          <a:p>
            <a:pPr algn="ctr">
              <a:defRPr sz="1600" b="1">
                <a:solidFill>
                  <a:srgbClr val="FFFFFF"/>
                </a:solidFill>
              </a:defRPr>
            </a:pPr>
            <a:r>
              <a:t>SUPERVISOR</a:t>
            </a:r>
            <a:br/>
            <a:r>
              <a:t>APPROVAL</a:t>
            </a:r>
            <a:br/>
            <a:br/>
            <a:r>
              <a:t>Final Sign-off</a:t>
            </a:r>
            <a:br/>
            <a:r>
              <a:t>Department Budget Encumbrance</a:t>
            </a:r>
          </a:p>
        </p:txBody>
      </p:sp>
      <p:sp>
        <p:nvSpPr>
          <p:cNvPr id="6" name="Rounded Rectangle 5"/>
          <p:cNvSpPr/>
          <p:nvPr/>
        </p:nvSpPr>
        <p:spPr>
          <a:xfrm>
            <a:off x="4389120" y="1828800"/>
            <a:ext cx="3383280" cy="2926080"/>
          </a:xfrm>
          <a:prstGeom prst="roundRect">
            <a:avLst/>
          </a:prstGeom>
          <a:solidFill>
            <a:srgbClr val="0E1A2C"/>
          </a:solidFill>
          <a:ln w="20320">
            <a:solidFill>
              <a:srgbClr val="0072CE"/>
            </a:solidFill>
          </a:ln>
        </p:spPr>
        <p:style>
          <a:lnRef idx="1">
            <a:schemeClr val="accent1"/>
          </a:lnRef>
          <a:fillRef idx="3">
            <a:schemeClr val="accent1"/>
          </a:fillRef>
          <a:effectRef idx="2">
            <a:schemeClr val="accent1"/>
          </a:effectRef>
          <a:fontRef idx="minor">
            <a:schemeClr val="lt1"/>
          </a:fontRef>
        </p:style>
        <p:txBody>
          <a:bodyPr tIns="365760" rtlCol="0" anchor="ctr"/>
          <a:lstStyle/>
          <a:p>
            <a:pPr algn="ctr">
              <a:defRPr sz="1600" b="1">
                <a:solidFill>
                  <a:srgbClr val="00C2FF"/>
                </a:solidFill>
              </a:defRPr>
            </a:pPr>
            <a:r>
              <a:t>IDEMPOTENT</a:t>
            </a:r>
            <a:br/>
            <a:r>
              <a:t>PO ENGINE</a:t>
            </a:r>
            <a:br/>
            <a:br/>
            <a:r>
              <a:t>Zero Duplicate PO Risk</a:t>
            </a:r>
            <a:br/>
            <a:r>
              <a:t>ReportLab PDF Builder</a:t>
            </a:r>
          </a:p>
        </p:txBody>
      </p:sp>
      <p:sp>
        <p:nvSpPr>
          <p:cNvPr id="7" name="Rounded Rectangle 6"/>
          <p:cNvSpPr/>
          <p:nvPr/>
        </p:nvSpPr>
        <p:spPr>
          <a:xfrm>
            <a:off x="8138160" y="1828800"/>
            <a:ext cx="3291840" cy="2926080"/>
          </a:xfrm>
          <a:prstGeom prst="roundRect">
            <a:avLst/>
          </a:prstGeom>
          <a:solidFill>
            <a:srgbClr val="0E1A2C"/>
          </a:solidFill>
          <a:ln w="20320">
            <a:solidFill>
              <a:srgbClr val="10B981"/>
            </a:solidFill>
          </a:ln>
        </p:spPr>
        <p:style>
          <a:lnRef idx="1">
            <a:schemeClr val="accent1"/>
          </a:lnRef>
          <a:fillRef idx="3">
            <a:schemeClr val="accent1"/>
          </a:fillRef>
          <a:effectRef idx="2">
            <a:schemeClr val="accent1"/>
          </a:effectRef>
          <a:fontRef idx="minor">
            <a:schemeClr val="lt1"/>
          </a:fontRef>
        </p:style>
        <p:txBody>
          <a:bodyPr tIns="365760" rtlCol="0" anchor="ctr"/>
          <a:lstStyle/>
          <a:p>
            <a:pPr algn="ctr">
              <a:defRPr sz="1600" b="1">
                <a:solidFill>
                  <a:srgbClr val="10B981"/>
                </a:solidFill>
              </a:defRPr>
            </a:pPr>
            <a:r>
              <a:t>OFFICIAL PO</a:t>
            </a:r>
            <a:br/>
            <a:r>
              <a:t>&amp; PDF ISSUED</a:t>
            </a:r>
            <a:br/>
            <a:br/>
            <a:r>
              <a:t>Instant In-App Alert</a:t>
            </a:r>
            <a:br/>
            <a:r>
              <a:t>Automated Vendor Dispatch</a:t>
            </a:r>
          </a:p>
        </p:txBody>
      </p:sp>
      <p:sp>
        <p:nvSpPr>
          <p:cNvPr id="8" name="Rounded Rectangle 7"/>
          <p:cNvSpPr/>
          <p:nvPr/>
        </p:nvSpPr>
        <p:spPr>
          <a:xfrm>
            <a:off x="731520" y="5120640"/>
            <a:ext cx="10728655" cy="109728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82880" rtlCol="0" anchor="ctr"/>
          <a:lstStyle/>
          <a:p>
            <a:pPr algn="ctr">
              <a:defRPr sz="1800" b="1">
                <a:solidFill>
                  <a:srgbClr val="FFFFFF"/>
                </a:solidFill>
              </a:defRPr>
            </a:pPr>
            <a:r>
              <a:t>One Decision → One Safe, Legally Binding Purchase Order.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6: ARCHITECTURE &amp; TECH STACK  •  4-TIER BLUEPRINT</a:t>
            </a:r>
          </a:p>
          <a:p>
            <a:pPr>
              <a:defRPr sz="2600" b="1">
                <a:solidFill>
                  <a:srgbClr val="FFFFFF"/>
                </a:solidFill>
                <a:latin typeface="Segoe UI"/>
              </a:defRPr>
            </a:pPr>
            <a:r>
              <a:t>System Architecture: Intelligent Procurement System</a:t>
            </a:r>
          </a:p>
        </p:txBody>
      </p:sp>
      <p:sp>
        <p:nvSpPr>
          <p:cNvPr id="5" name="Rounded Rectangle 4"/>
          <p:cNvSpPr/>
          <p:nvPr/>
        </p:nvSpPr>
        <p:spPr>
          <a:xfrm>
            <a:off x="731520" y="1600200"/>
            <a:ext cx="10728655" cy="8686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lIns="365760" tIns="109728" rtlCol="0" anchor="ctr"/>
          <a:lstStyle/>
          <a:p>
            <a:pPr algn="ctr">
              <a:defRPr sz="1100" b="1">
                <a:solidFill>
                  <a:srgbClr val="00C2FF"/>
                </a:solidFill>
              </a:defRPr>
            </a:pPr>
            <a:r>
              <a:t>ACTORS &amp; ROLES</a:t>
            </a:r>
          </a:p>
          <a:p>
            <a:pPr>
              <a:defRPr sz="1300">
                <a:solidFill>
                  <a:srgbClr val="FFFFFF"/>
                </a:solidFill>
              </a:defRPr>
            </a:pPr>
            <a:r>
              <a:t>👤 Requester / Employee        🛡️ Department Supervisor        🚚 Vendor</a:t>
            </a:r>
          </a:p>
        </p:txBody>
      </p:sp>
      <p:sp>
        <p:nvSpPr>
          <p:cNvPr id="6" name="Rounded Rectangle 5"/>
          <p:cNvSpPr/>
          <p:nvPr/>
        </p:nvSpPr>
        <p:spPr>
          <a:xfrm>
            <a:off x="731520" y="2560320"/>
            <a:ext cx="10728655" cy="8686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lIns="365760" tIns="109728" rtlCol="0" anchor="ctr"/>
          <a:lstStyle/>
          <a:p>
            <a:pPr algn="ctr">
              <a:defRPr sz="1100" b="1">
                <a:solidFill>
                  <a:srgbClr val="FFFFFF"/>
                </a:solidFill>
              </a:defRPr>
            </a:pPr>
            <a:r>
              <a:t>PRESENTATION LAYER</a:t>
            </a:r>
          </a:p>
          <a:p>
            <a:pPr>
              <a:defRPr sz="1300">
                <a:solidFill>
                  <a:srgbClr val="E2E8F0"/>
                </a:solidFill>
              </a:defRPr>
            </a:pPr>
            <a:r>
              <a:t>PR Wizard (Next.js 14)        Checking Sheet Hub        Quotation Matrix &amp; Vendor Portal</a:t>
            </a:r>
          </a:p>
        </p:txBody>
      </p:sp>
      <p:sp>
        <p:nvSpPr>
          <p:cNvPr id="7" name="Rounded Rectangle 6"/>
          <p:cNvSpPr/>
          <p:nvPr/>
        </p:nvSpPr>
        <p:spPr>
          <a:xfrm>
            <a:off x="731520" y="3520440"/>
            <a:ext cx="10728655" cy="1417320"/>
          </a:xfrm>
          <a:prstGeom prst="roundRect">
            <a:avLst/>
          </a:prstGeom>
          <a:solidFill>
            <a:srgbClr val="0E1A2C"/>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lIns="365760" tIns="91440" rtlCol="0" anchor="ctr"/>
          <a:lstStyle/>
          <a:p>
            <a:pPr algn="ctr">
              <a:defRPr sz="1100" b="1">
                <a:solidFill>
                  <a:srgbClr val="00C2FF"/>
                </a:solidFill>
              </a:defRPr>
            </a:pPr>
            <a:endParaRPr dirty="0"/>
          </a:p>
        </p:txBody>
      </p:sp>
      <p:sp>
        <p:nvSpPr>
          <p:cNvPr id="8" name="Rounded Rectangle 7"/>
          <p:cNvSpPr/>
          <p:nvPr/>
        </p:nvSpPr>
        <p:spPr>
          <a:xfrm>
            <a:off x="1005840" y="3931920"/>
            <a:ext cx="5303520" cy="868680"/>
          </a:xfrm>
          <a:prstGeom prst="roundRect">
            <a:avLst/>
          </a:prstGeom>
          <a:solidFill>
            <a:srgbClr val="002447"/>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000">
                <a:solidFill>
                  <a:srgbClr val="E2E8F0"/>
                </a:solidFill>
              </a:defRPr>
            </a:pPr>
            <a:r>
              <a:t>Core Modules: PR State Machine  •  RFQ Dispatch  •  Quotations  •  Idempotent PO</a:t>
            </a:r>
          </a:p>
        </p:txBody>
      </p:sp>
      <p:sp>
        <p:nvSpPr>
          <p:cNvPr id="9" name="Rounded Rectangle 8"/>
          <p:cNvSpPr/>
          <p:nvPr/>
        </p:nvSpPr>
        <p:spPr>
          <a:xfrm>
            <a:off x="6492240" y="3931920"/>
            <a:ext cx="4663440" cy="868680"/>
          </a:xfrm>
          <a:prstGeom prst="roundRect">
            <a:avLst/>
          </a:prstGeom>
          <a:solidFill>
            <a:srgbClr val="23190A"/>
          </a:solidFill>
          <a:ln w="20320">
            <a:solidFill>
              <a:srgbClr val="FBBF24"/>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000" b="1">
                <a:solidFill>
                  <a:srgbClr val="FBBF24"/>
                </a:solidFill>
              </a:defRPr>
            </a:pPr>
            <a:r>
              <a:t>3-Tier Intelligence Engine</a:t>
            </a:r>
            <a:br/>
            <a:r>
              <a:t>1. Deterministic Engine   2. Analytical Model   3. Generative RAG</a:t>
            </a:r>
          </a:p>
        </p:txBody>
      </p:sp>
      <p:sp>
        <p:nvSpPr>
          <p:cNvPr id="10" name="Rounded Rectangle 9"/>
          <p:cNvSpPr/>
          <p:nvPr/>
        </p:nvSpPr>
        <p:spPr>
          <a:xfrm>
            <a:off x="731520" y="5029200"/>
            <a:ext cx="10728655" cy="868680"/>
          </a:xfrm>
          <a:prstGeom prst="roundRect">
            <a:avLst/>
          </a:prstGeom>
          <a:solidFill>
            <a:srgbClr val="0E1A2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lIns="365760" tIns="109728" rtlCol="0" anchor="ctr"/>
          <a:lstStyle/>
          <a:p>
            <a:pPr algn="ctr">
              <a:defRPr sz="1100" b="1">
                <a:solidFill>
                  <a:srgbClr val="10B981"/>
                </a:solidFill>
              </a:defRPr>
            </a:pPr>
            <a:r>
              <a:t>DATA &amp; STORAGE</a:t>
            </a:r>
          </a:p>
          <a:p>
            <a:pPr>
              <a:defRPr sz="1300">
                <a:solidFill>
                  <a:srgbClr val="E2E8F0"/>
                </a:solidFill>
              </a:defRPr>
            </a:pPr>
            <a:r>
              <a:t>🗄️ PostgreSQL / SQLite Database        ⚡ pgvector Embeddings        📄 Local Filesystem for PO PDFs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6: ARCHITECTURE &amp; TECH STACK  •  IMPLEMENTATION STACK</a:t>
            </a:r>
          </a:p>
          <a:p>
            <a:pPr>
              <a:defRPr sz="2600" b="1">
                <a:solidFill>
                  <a:srgbClr val="FFFFFF"/>
                </a:solidFill>
                <a:latin typeface="Segoe UI"/>
              </a:defRPr>
            </a:pPr>
            <a:r>
              <a:t>Tech Stack: A modular monolith, not a maze of services</a:t>
            </a:r>
          </a:p>
        </p:txBody>
      </p:sp>
      <p:sp>
        <p:nvSpPr>
          <p:cNvPr id="5" name="Rounded Rectangle 4"/>
          <p:cNvSpPr/>
          <p:nvPr/>
        </p:nvSpPr>
        <p:spPr>
          <a:xfrm>
            <a:off x="731520" y="1737360"/>
            <a:ext cx="2011680" cy="347472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500" b="1">
                <a:solidFill>
                  <a:srgbClr val="00C2FF"/>
                </a:solidFill>
              </a:defRPr>
            </a:pPr>
            <a:r>
              <a:t>Frontend</a:t>
            </a:r>
          </a:p>
          <a:p>
            <a:pPr algn="ctr">
              <a:defRPr sz="1200">
                <a:solidFill>
                  <a:srgbClr val="E2E8F0"/>
                </a:solidFill>
              </a:defRPr>
            </a:pPr>
            <a:br/>
            <a:r>
              <a:t>Next.js 14</a:t>
            </a:r>
            <a:br/>
            <a:r>
              <a:t>React 18</a:t>
            </a:r>
            <a:br/>
            <a:r>
              <a:t>TypeScript</a:t>
            </a:r>
            <a:br/>
            <a:r>
              <a:t>Tailwind CSS</a:t>
            </a:r>
            <a:br/>
            <a:r>
              <a:t>Lucide Icons</a:t>
            </a:r>
          </a:p>
        </p:txBody>
      </p:sp>
      <p:sp>
        <p:nvSpPr>
          <p:cNvPr id="6" name="Rounded Rectangle 5"/>
          <p:cNvSpPr/>
          <p:nvPr/>
        </p:nvSpPr>
        <p:spPr>
          <a:xfrm>
            <a:off x="2926080" y="1737360"/>
            <a:ext cx="2011680" cy="3474720"/>
          </a:xfrm>
          <a:prstGeom prst="roundRect">
            <a:avLst/>
          </a:prstGeom>
          <a:solidFill>
            <a:srgbClr val="0E1A2C"/>
          </a:solidFill>
          <a:ln w="17780">
            <a:solidFill>
              <a:srgbClr val="FFFFFF"/>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500" b="1">
                <a:solidFill>
                  <a:srgbClr val="FFFFFF"/>
                </a:solidFill>
              </a:defRPr>
            </a:pPr>
            <a:r>
              <a:t>Backend</a:t>
            </a:r>
          </a:p>
          <a:p>
            <a:pPr algn="ctr">
              <a:defRPr sz="1200">
                <a:solidFill>
                  <a:srgbClr val="E2E8F0"/>
                </a:solidFill>
              </a:defRPr>
            </a:pPr>
            <a:br/>
            <a:r>
              <a:t>Python 3.12</a:t>
            </a:r>
            <a:br/>
            <a:r>
              <a:t>FastAPI</a:t>
            </a:r>
            <a:br/>
            <a:r>
              <a:t>SQLAlchemy</a:t>
            </a:r>
            <a:br/>
            <a:r>
              <a:t>Pydantic v2</a:t>
            </a:r>
            <a:br/>
            <a:r>
              <a:t>ReportLab PDF</a:t>
            </a:r>
          </a:p>
        </p:txBody>
      </p:sp>
      <p:sp>
        <p:nvSpPr>
          <p:cNvPr id="7" name="Rounded Rectangle 6"/>
          <p:cNvSpPr/>
          <p:nvPr/>
        </p:nvSpPr>
        <p:spPr>
          <a:xfrm>
            <a:off x="5120640" y="1737360"/>
            <a:ext cx="2011680" cy="3474720"/>
          </a:xfrm>
          <a:prstGeom prst="roundRect">
            <a:avLst/>
          </a:prstGeom>
          <a:solidFill>
            <a:srgbClr val="0E1A2C"/>
          </a:solidFill>
          <a:ln w="17780">
            <a:solidFill>
              <a:srgbClr val="0072CE"/>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500" b="1">
                <a:solidFill>
                  <a:srgbClr val="0072CE"/>
                </a:solidFill>
              </a:defRPr>
            </a:pPr>
            <a:r>
              <a:t>Database</a:t>
            </a:r>
          </a:p>
          <a:p>
            <a:pPr algn="ctr">
              <a:defRPr sz="1200">
                <a:solidFill>
                  <a:srgbClr val="E2E8F0"/>
                </a:solidFill>
              </a:defRPr>
            </a:pPr>
            <a:br/>
            <a:r>
              <a:t>PostgreSQL</a:t>
            </a:r>
            <a:br/>
            <a:r>
              <a:t>SQLite Async</a:t>
            </a:r>
            <a:br/>
            <a:r>
              <a:t>pgvector</a:t>
            </a:r>
            <a:br/>
            <a:r>
              <a:t>Embeddings</a:t>
            </a:r>
          </a:p>
        </p:txBody>
      </p:sp>
      <p:sp>
        <p:nvSpPr>
          <p:cNvPr id="8" name="Rounded Rectangle 7"/>
          <p:cNvSpPr/>
          <p:nvPr/>
        </p:nvSpPr>
        <p:spPr>
          <a:xfrm>
            <a:off x="7315199" y="1737360"/>
            <a:ext cx="2011680" cy="3474720"/>
          </a:xfrm>
          <a:prstGeom prst="roundRect">
            <a:avLst/>
          </a:prstGeom>
          <a:solidFill>
            <a:srgbClr val="0E1A2C"/>
          </a:solidFill>
          <a:ln w="17780">
            <a:solidFill>
              <a:srgbClr val="F59E0B"/>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500" b="1">
                <a:solidFill>
                  <a:srgbClr val="F59E0B"/>
                </a:solidFill>
              </a:defRPr>
            </a:pPr>
            <a:r>
              <a:t>Auth &amp; Security</a:t>
            </a:r>
          </a:p>
          <a:p>
            <a:pPr algn="ctr">
              <a:defRPr sz="1200">
                <a:solidFill>
                  <a:srgbClr val="E2E8F0"/>
                </a:solidFill>
              </a:defRPr>
            </a:pPr>
            <a:br/>
            <a:r>
              <a:t>JWT Bearer</a:t>
            </a:r>
            <a:br/>
            <a:r>
              <a:t>BCrypt Passwords</a:t>
            </a:r>
            <a:br/>
            <a:r>
              <a:t>Backend RBAC</a:t>
            </a:r>
            <a:br/>
            <a:r>
              <a:t>Audit Logs</a:t>
            </a:r>
          </a:p>
        </p:txBody>
      </p:sp>
      <p:sp>
        <p:nvSpPr>
          <p:cNvPr id="9" name="Rounded Rectangle 8"/>
          <p:cNvSpPr/>
          <p:nvPr/>
        </p:nvSpPr>
        <p:spPr>
          <a:xfrm>
            <a:off x="9509760" y="1737360"/>
            <a:ext cx="2011680" cy="3474720"/>
          </a:xfrm>
          <a:prstGeom prst="roundRect">
            <a:avLst/>
          </a:prstGeom>
          <a:solidFill>
            <a:srgbClr val="0E1A2C"/>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tIns="274320" rtlCol="0" anchor="ctr"/>
          <a:lstStyle/>
          <a:p>
            <a:pPr algn="ctr">
              <a:defRPr sz="1500" b="1">
                <a:solidFill>
                  <a:srgbClr val="10B981"/>
                </a:solidFill>
              </a:defRPr>
            </a:pPr>
            <a:r>
              <a:t>AI / LLM</a:t>
            </a:r>
          </a:p>
          <a:p>
            <a:pPr algn="ctr">
              <a:defRPr sz="1200">
                <a:solidFill>
                  <a:srgbClr val="E2E8F0"/>
                </a:solidFill>
              </a:defRPr>
            </a:pPr>
            <a:br/>
            <a:r>
              <a:t>Google Gemini</a:t>
            </a:r>
            <a:br/>
            <a:r>
              <a:t>Pluggable RAG</a:t>
            </a:r>
            <a:br/>
            <a:r>
              <a:t>Snapshot Cache</a:t>
            </a:r>
            <a:br/>
            <a:r>
              <a:t>Offline Fallback</a:t>
            </a:r>
          </a:p>
        </p:txBody>
      </p:sp>
      <p:sp>
        <p:nvSpPr>
          <p:cNvPr id="10" name="Rounded Rectangle 9"/>
          <p:cNvSpPr/>
          <p:nvPr/>
        </p:nvSpPr>
        <p:spPr>
          <a:xfrm>
            <a:off x="731520" y="5486400"/>
            <a:ext cx="10728655" cy="82296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37160" rtlCol="0" anchor="ctr"/>
          <a:lstStyle/>
          <a:p>
            <a:pPr algn="ctr">
              <a:defRPr sz="1400" b="1">
                <a:solidFill>
                  <a:srgbClr val="00C2FF"/>
                </a:solidFill>
              </a:defRPr>
            </a:pPr>
            <a:r>
              <a:t>A modular monolith with clear internal separation — zero unnecessary microservice complexity.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579646"/>
          </a:xfrm>
          <a:prstGeom prst="rect">
            <a:avLst/>
          </a:prstGeom>
          <a:noFill/>
        </p:spPr>
        <p:txBody>
          <a:bodyPr wrap="square" lIns="0" tIns="0" rIns="0" bIns="0">
            <a:spAutoFit/>
          </a:bodyPr>
          <a:lstStyle/>
          <a:p>
            <a:pPr>
              <a:spcAft>
                <a:spcPts val="200"/>
              </a:spcAft>
              <a:defRPr sz="1000" b="1">
                <a:solidFill>
                  <a:srgbClr val="00C2FF"/>
                </a:solidFill>
                <a:latin typeface="Segoe UI"/>
              </a:defRPr>
            </a:pPr>
            <a:r>
              <a:rPr dirty="0"/>
              <a:t>ACT 7: STRATEGIC VALUE  •  MICRON VALUES ALIGNMENT</a:t>
            </a:r>
          </a:p>
          <a:p>
            <a:pPr>
              <a:defRPr sz="2600" b="1">
                <a:solidFill>
                  <a:srgbClr val="FFFFFF"/>
                </a:solidFill>
                <a:latin typeface="Segoe UI"/>
              </a:defRPr>
            </a:pPr>
            <a:r>
              <a:rPr lang="en-IN" dirty="0"/>
              <a:t>Development in adherence to Micron’s core policies</a:t>
            </a:r>
            <a:endParaRPr dirty="0"/>
          </a:p>
        </p:txBody>
      </p:sp>
      <p:sp>
        <p:nvSpPr>
          <p:cNvPr id="5" name="Rounded Rectangle 4"/>
          <p:cNvSpPr/>
          <p:nvPr/>
        </p:nvSpPr>
        <p:spPr>
          <a:xfrm>
            <a:off x="731520" y="1828800"/>
            <a:ext cx="2560320" cy="310896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tIns="365760" rtlCol="0" anchor="ctr"/>
          <a:lstStyle/>
          <a:p>
            <a:pPr algn="ctr">
              <a:defRPr sz="1300" b="1">
                <a:solidFill>
                  <a:srgbClr val="00C2FF"/>
                </a:solidFill>
              </a:defRPr>
            </a:pPr>
            <a:r>
              <a:t>PEOPLE</a:t>
            </a:r>
            <a:br/>
            <a:br/>
            <a:r>
              <a:t>Human experience fuels organizational intelligence through quarterly reviews</a:t>
            </a:r>
          </a:p>
        </p:txBody>
      </p:sp>
      <p:sp>
        <p:nvSpPr>
          <p:cNvPr id="6" name="Rounded Rectangle 5"/>
          <p:cNvSpPr/>
          <p:nvPr/>
        </p:nvSpPr>
        <p:spPr>
          <a:xfrm>
            <a:off x="3474720" y="1828800"/>
            <a:ext cx="2560320" cy="3108960"/>
          </a:xfrm>
          <a:prstGeom prst="roundRect">
            <a:avLst/>
          </a:prstGeom>
          <a:solidFill>
            <a:srgbClr val="0E1A2C"/>
          </a:solidFill>
          <a:ln w="17780">
            <a:solidFill>
              <a:srgbClr val="FFFFFF"/>
            </a:solidFill>
          </a:ln>
        </p:spPr>
        <p:style>
          <a:lnRef idx="1">
            <a:schemeClr val="accent1"/>
          </a:lnRef>
          <a:fillRef idx="3">
            <a:schemeClr val="accent1"/>
          </a:fillRef>
          <a:effectRef idx="2">
            <a:schemeClr val="accent1"/>
          </a:effectRef>
          <a:fontRef idx="minor">
            <a:schemeClr val="lt1"/>
          </a:fontRef>
        </p:style>
        <p:txBody>
          <a:bodyPr tIns="365760" rtlCol="0" anchor="ctr"/>
          <a:lstStyle/>
          <a:p>
            <a:pPr algn="ctr">
              <a:defRPr sz="1300" b="1">
                <a:solidFill>
                  <a:srgbClr val="FFFFFF"/>
                </a:solidFill>
              </a:defRPr>
            </a:pPr>
            <a:r>
              <a:t>INNOVATION</a:t>
            </a:r>
            <a:br/>
            <a:br/>
            <a:r>
              <a:t>Hybrid deterministic + RAG AI architecture engineered for zero hallucination</a:t>
            </a:r>
          </a:p>
        </p:txBody>
      </p:sp>
      <p:sp>
        <p:nvSpPr>
          <p:cNvPr id="7" name="Rounded Rectangle 6"/>
          <p:cNvSpPr/>
          <p:nvPr/>
        </p:nvSpPr>
        <p:spPr>
          <a:xfrm>
            <a:off x="6217920" y="1828800"/>
            <a:ext cx="2560320" cy="3108960"/>
          </a:xfrm>
          <a:prstGeom prst="roundRect">
            <a:avLst/>
          </a:prstGeom>
          <a:solidFill>
            <a:srgbClr val="0E1A2C"/>
          </a:solidFill>
          <a:ln w="17780">
            <a:solidFill>
              <a:srgbClr val="0072CE"/>
            </a:solidFill>
          </a:ln>
        </p:spPr>
        <p:style>
          <a:lnRef idx="1">
            <a:schemeClr val="accent1"/>
          </a:lnRef>
          <a:fillRef idx="3">
            <a:schemeClr val="accent1"/>
          </a:fillRef>
          <a:effectRef idx="2">
            <a:schemeClr val="accent1"/>
          </a:effectRef>
          <a:fontRef idx="minor">
            <a:schemeClr val="lt1"/>
          </a:fontRef>
        </p:style>
        <p:txBody>
          <a:bodyPr tIns="365760" rtlCol="0" anchor="ctr"/>
          <a:lstStyle/>
          <a:p>
            <a:pPr algn="ctr">
              <a:defRPr sz="1300" b="1">
                <a:solidFill>
                  <a:srgbClr val="0072CE"/>
                </a:solidFill>
              </a:defRPr>
            </a:pPr>
            <a:r>
              <a:t>COLLABORATION</a:t>
            </a:r>
            <a:br/>
            <a:br/>
            <a:r>
              <a:t>Unified workflow connecting Requesters, Supervisors, and Suppliers in one loop</a:t>
            </a:r>
          </a:p>
        </p:txBody>
      </p:sp>
      <p:sp>
        <p:nvSpPr>
          <p:cNvPr id="8" name="Rounded Rectangle 7"/>
          <p:cNvSpPr/>
          <p:nvPr/>
        </p:nvSpPr>
        <p:spPr>
          <a:xfrm>
            <a:off x="8961120" y="1828800"/>
            <a:ext cx="2560320" cy="3108960"/>
          </a:xfrm>
          <a:prstGeom prst="roundRect">
            <a:avLst/>
          </a:prstGeom>
          <a:solidFill>
            <a:srgbClr val="0E1A2C"/>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tIns="365760" rtlCol="0" anchor="ctr"/>
          <a:lstStyle/>
          <a:p>
            <a:pPr algn="ctr">
              <a:defRPr sz="1300" b="1">
                <a:solidFill>
                  <a:srgbClr val="10B981"/>
                </a:solidFill>
              </a:defRPr>
            </a:pPr>
            <a:r>
              <a:t>TENACITY &amp; QUALITY</a:t>
            </a:r>
            <a:br/>
            <a:br/>
            <a:r>
              <a:t>Governed overrides, audited revisions, and 5-factor quality scoring</a:t>
            </a:r>
          </a:p>
        </p:txBody>
      </p:sp>
      <p:sp>
        <p:nvSpPr>
          <p:cNvPr id="9" name="Rounded Rectangle 8"/>
          <p:cNvSpPr/>
          <p:nvPr/>
        </p:nvSpPr>
        <p:spPr>
          <a:xfrm>
            <a:off x="731520" y="5212080"/>
            <a:ext cx="10728655" cy="100584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tIns="182880" rtlCol="0" anchor="ctr"/>
          <a:lstStyle/>
          <a:p>
            <a:pPr algn="ctr">
              <a:defRPr sz="1700" b="1">
                <a:solidFill>
                  <a:srgbClr val="FFFFFF"/>
                </a:solidFill>
              </a:defRPr>
            </a:pPr>
            <a:r>
              <a:t>"We didn't just apply AI to procurement. We designed intelligence around responsible decisions."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7: STRATEGIC VALUE  •  IMPACT &amp; METRICS</a:t>
            </a:r>
          </a:p>
          <a:p>
            <a:pPr>
              <a:defRPr sz="2600" b="1">
                <a:solidFill>
                  <a:srgbClr val="FFFFFF"/>
                </a:solidFill>
                <a:latin typeface="Segoe UI"/>
              </a:defRPr>
            </a:pPr>
            <a:r>
              <a:t>The numbers that matter</a:t>
            </a:r>
          </a:p>
        </p:txBody>
      </p:sp>
      <p:sp>
        <p:nvSpPr>
          <p:cNvPr id="5" name="TextBox 4"/>
          <p:cNvSpPr txBox="1"/>
          <p:nvPr/>
        </p:nvSpPr>
        <p:spPr>
          <a:xfrm>
            <a:off x="731520" y="1508760"/>
            <a:ext cx="5303520" cy="365760"/>
          </a:xfrm>
          <a:prstGeom prst="rect">
            <a:avLst/>
          </a:prstGeom>
          <a:noFill/>
        </p:spPr>
        <p:txBody>
          <a:bodyPr wrap="none">
            <a:spAutoFit/>
          </a:bodyPr>
          <a:lstStyle/>
          <a:p>
            <a:pPr>
              <a:defRPr sz="1100" b="1">
                <a:solidFill>
                  <a:srgbClr val="94A3B8"/>
                </a:solidFill>
              </a:defRPr>
            </a:pPr>
            <a:r>
              <a:t>PR-TO-PO TIME</a:t>
            </a:r>
          </a:p>
        </p:txBody>
      </p:sp>
      <p:sp>
        <p:nvSpPr>
          <p:cNvPr id="6" name="Rounded Rectangle 5"/>
          <p:cNvSpPr/>
          <p:nvPr/>
        </p:nvSpPr>
        <p:spPr>
          <a:xfrm>
            <a:off x="731520" y="1874519"/>
            <a:ext cx="5303520" cy="685800"/>
          </a:xfrm>
          <a:prstGeom prst="roundRect">
            <a:avLst/>
          </a:prstGeom>
          <a:solidFill>
            <a:srgbClr val="F43F5E"/>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lIns="274320" tIns="137160" rIns="274320" rtlCol="0" anchor="ctr"/>
          <a:lstStyle/>
          <a:p>
            <a:pPr algn="ctr">
              <a:defRPr sz="1400" b="1">
                <a:solidFill>
                  <a:srgbClr val="FFFFFF"/>
                </a:solidFill>
              </a:defRPr>
            </a:pPr>
            <a:r>
              <a:t>Manual                                                                     5-7 days</a:t>
            </a:r>
          </a:p>
        </p:txBody>
      </p:sp>
      <p:sp>
        <p:nvSpPr>
          <p:cNvPr id="7" name="Rounded Rectangle 6"/>
          <p:cNvSpPr/>
          <p:nvPr/>
        </p:nvSpPr>
        <p:spPr>
          <a:xfrm>
            <a:off x="731520" y="2697480"/>
            <a:ext cx="5303520" cy="685800"/>
          </a:xfrm>
          <a:prstGeom prst="roundRect">
            <a:avLst/>
          </a:prstGeom>
          <a:solidFill>
            <a:srgbClr val="10B981"/>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lIns="274320" tIns="137160" rIns="274320" rtlCol="0" anchor="ctr"/>
          <a:lstStyle/>
          <a:p>
            <a:pPr algn="ctr">
              <a:defRPr sz="1400" b="1">
                <a:solidFill>
                  <a:srgbClr val="FFFFFF"/>
                </a:solidFill>
              </a:defRPr>
            </a:pPr>
            <a:r>
              <a:t>Automated                                                                &lt; 15 min</a:t>
            </a:r>
          </a:p>
        </p:txBody>
      </p:sp>
      <p:sp>
        <p:nvSpPr>
          <p:cNvPr id="9" name="Rounded Rectangle 8"/>
          <p:cNvSpPr/>
          <p:nvPr/>
        </p:nvSpPr>
        <p:spPr>
          <a:xfrm>
            <a:off x="731520" y="3840480"/>
            <a:ext cx="5303520" cy="228600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lIns="274320" tIns="137160" rtlCol="0" anchor="ctr"/>
          <a:lstStyle/>
          <a:p>
            <a:pPr algn="ctr">
              <a:defRPr sz="1000" b="1">
                <a:solidFill>
                  <a:srgbClr val="94A3B8"/>
                </a:solidFill>
              </a:defRPr>
            </a:pPr>
            <a:r>
              <a:t>HOW WE GET THESE NUMBERS (ASSUMPTION-BASED ESTIMATE)</a:t>
            </a:r>
          </a:p>
          <a:p>
            <a:pPr>
              <a:spcBef>
                <a:spcPts val="400"/>
              </a:spcBef>
              <a:defRPr sz="1000">
                <a:solidFill>
                  <a:srgbClr val="E2E8F0"/>
                </a:solidFill>
              </a:defRPr>
            </a:pPr>
            <a:r>
              <a:t>Duplicate + inventory check:</a:t>
            </a:r>
            <a:br/>
            <a:r>
              <a:t>  • Manual: 1-2 days (manual lookup)  →  IPMS: Instant (deterministic)</a:t>
            </a:r>
          </a:p>
          <a:p>
            <a:pPr>
              <a:spcBef>
                <a:spcPts val="400"/>
              </a:spcBef>
              <a:defRPr sz="1000">
                <a:solidFill>
                  <a:srgbClr val="E2E8F0"/>
                </a:solidFill>
              </a:defRPr>
            </a:pPr>
            <a:r>
              <a:t>Vendor sourcing &amp; comparison:</a:t>
            </a:r>
            <a:br/>
            <a:r>
              <a:t>  • Manual: 2-3 days (calls/emails)  →  IPMS: Instant (cached AI ranking)</a:t>
            </a:r>
          </a:p>
          <a:p>
            <a:pPr>
              <a:spcBef>
                <a:spcPts val="400"/>
              </a:spcBef>
              <a:defRPr sz="1000">
                <a:solidFill>
                  <a:srgbClr val="E2E8F0"/>
                </a:solidFill>
              </a:defRPr>
            </a:pPr>
            <a:r>
              <a:t>Approval back-and-forth:</a:t>
            </a:r>
            <a:br/>
            <a:r>
              <a:t>  • Manual: 1-2 days (revision loops)  →  IPMS: Single pass (~15 min)</a:t>
            </a:r>
          </a:p>
        </p:txBody>
      </p:sp>
      <p:sp>
        <p:nvSpPr>
          <p:cNvPr id="10" name="Rounded Rectangle 9"/>
          <p:cNvSpPr/>
          <p:nvPr/>
        </p:nvSpPr>
        <p:spPr>
          <a:xfrm>
            <a:off x="6400800" y="1645920"/>
            <a:ext cx="5029200" cy="2194560"/>
          </a:xfrm>
          <a:prstGeom prst="roundRect">
            <a:avLst/>
          </a:prstGeom>
          <a:solidFill>
            <a:srgbClr val="14253F"/>
          </a:solidFill>
          <a:ln w="20320">
            <a:solidFill>
              <a:srgbClr val="0072CE"/>
            </a:solidFill>
          </a:ln>
        </p:spPr>
        <p:style>
          <a:lnRef idx="1">
            <a:schemeClr val="accent1"/>
          </a:lnRef>
          <a:fillRef idx="3">
            <a:schemeClr val="accent1"/>
          </a:fillRef>
          <a:effectRef idx="2">
            <a:schemeClr val="accent1"/>
          </a:effectRef>
          <a:fontRef idx="minor">
            <a:schemeClr val="lt1"/>
          </a:fontRef>
        </p:style>
        <p:txBody>
          <a:bodyPr lIns="365760" tIns="274320" rtlCol="0" anchor="ctr"/>
          <a:lstStyle/>
          <a:p>
            <a:pPr algn="ctr">
              <a:defRPr sz="1100" b="1">
                <a:solidFill>
                  <a:srgbClr val="00C2FF"/>
                </a:solidFill>
              </a:defRPr>
            </a:pPr>
            <a:r>
              <a:t>SAVED ON ONE FLAGGED DUPLICATE</a:t>
            </a:r>
          </a:p>
          <a:p>
            <a:pPr>
              <a:spcBef>
                <a:spcPts val="600"/>
              </a:spcBef>
              <a:defRPr sz="4400" b="1">
                <a:solidFill>
                  <a:srgbClr val="FFFFFF"/>
                </a:solidFill>
              </a:defRPr>
            </a:pPr>
            <a:r>
              <a:t>₹39,500</a:t>
            </a:r>
          </a:p>
          <a:p>
            <a:pPr>
              <a:spcBef>
                <a:spcPts val="600"/>
              </a:spcBef>
              <a:defRPr sz="1100">
                <a:solidFill>
                  <a:srgbClr val="94A3B8"/>
                </a:solidFill>
              </a:defRPr>
            </a:pPr>
            <a:r>
              <a:t>₹17,000 (matched) vs ₹56,500 landed cost — ATE Probes / Cleanroom example</a:t>
            </a:r>
          </a:p>
        </p:txBody>
      </p:sp>
      <p:sp>
        <p:nvSpPr>
          <p:cNvPr id="11" name="Rounded Rectangle 10"/>
          <p:cNvSpPr/>
          <p:nvPr/>
        </p:nvSpPr>
        <p:spPr>
          <a:xfrm>
            <a:off x="6400800" y="4023360"/>
            <a:ext cx="5029200" cy="2103120"/>
          </a:xfrm>
          <a:prstGeom prst="roundRect">
            <a:avLst/>
          </a:prstGeom>
          <a:solidFill>
            <a:srgbClr val="14253F"/>
          </a:solidFill>
          <a:ln w="20320">
            <a:solidFill>
              <a:srgbClr val="10B981"/>
            </a:solidFill>
          </a:ln>
        </p:spPr>
        <p:style>
          <a:lnRef idx="1">
            <a:schemeClr val="accent1"/>
          </a:lnRef>
          <a:fillRef idx="3">
            <a:schemeClr val="accent1"/>
          </a:fillRef>
          <a:effectRef idx="2">
            <a:schemeClr val="accent1"/>
          </a:effectRef>
          <a:fontRef idx="minor">
            <a:schemeClr val="lt1"/>
          </a:fontRef>
        </p:style>
        <p:txBody>
          <a:bodyPr lIns="365760" tIns="274320" rtlCol="0" anchor="ctr"/>
          <a:lstStyle/>
          <a:p>
            <a:pPr algn="ctr">
              <a:defRPr sz="1100" b="1">
                <a:solidFill>
                  <a:srgbClr val="10B981"/>
                </a:solidFill>
              </a:defRPr>
            </a:pPr>
            <a:r>
              <a:t>TOKEN COST PER PR</a:t>
            </a:r>
          </a:p>
          <a:p>
            <a:pPr>
              <a:spcBef>
                <a:spcPts val="600"/>
              </a:spcBef>
              <a:defRPr sz="4400" b="1">
                <a:solidFill>
                  <a:srgbClr val="FFFFFF"/>
                </a:solidFill>
              </a:defRPr>
            </a:pPr>
            <a:r>
              <a:t>&lt; $0.01</a:t>
            </a:r>
          </a:p>
          <a:p>
            <a:pPr>
              <a:spcBef>
                <a:spcPts val="600"/>
              </a:spcBef>
              <a:defRPr sz="1100">
                <a:solidFill>
                  <a:srgbClr val="94A3B8"/>
                </a:solidFill>
              </a:defRPr>
            </a:pPr>
            <a:r>
              <a:t>A fraction of a cent — deterministic checks stay off the LLM entirely.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6607" y="2057400"/>
            <a:ext cx="10698480" cy="2743200"/>
          </a:xfrm>
          <a:prstGeom prst="rect">
            <a:avLst/>
          </a:prstGeom>
          <a:noFill/>
        </p:spPr>
        <p:txBody>
          <a:bodyPr wrap="none">
            <a:spAutoFit/>
          </a:bodyPr>
          <a:lstStyle/>
          <a:p>
            <a:pPr algn="ctr">
              <a:defRPr sz="3800" b="1">
                <a:solidFill>
                  <a:srgbClr val="FFFFFF"/>
                </a:solidFill>
              </a:defRPr>
            </a:pPr>
            <a:r>
              <a:rPr dirty="0"/>
              <a:t>"We Didn't Automate a Purchase Request."</a:t>
            </a:r>
          </a:p>
          <a:p>
            <a:pPr algn="ctr">
              <a:spcBef>
                <a:spcPts val="1400"/>
              </a:spcBef>
              <a:defRPr sz="3000" b="1">
                <a:solidFill>
                  <a:srgbClr val="00C2FF"/>
                </a:solidFill>
              </a:defRPr>
            </a:pPr>
            <a:r>
              <a:rPr dirty="0"/>
              <a:t>We Made Every Decision Around It More Intelligent.</a:t>
            </a:r>
          </a:p>
          <a:p>
            <a:pPr algn="ctr">
              <a:spcBef>
                <a:spcPts val="1800"/>
              </a:spcBef>
              <a:defRPr sz="1800">
                <a:solidFill>
                  <a:srgbClr val="94A3B8"/>
                </a:solidFill>
              </a:defRPr>
            </a:pPr>
            <a:r>
              <a:rPr dirty="0"/>
              <a:t>From Processing Procurement to Understanding Procurement.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3925</Words>
  <Application>Microsoft Office PowerPoint</Application>
  <PresentationFormat>Widescreen</PresentationFormat>
  <Paragraphs>392</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Kaarthik Rajasekaran</cp:lastModifiedBy>
  <cp:revision>3</cp:revision>
  <dcterms:created xsi:type="dcterms:W3CDTF">2013-01-27T09:14:16Z</dcterms:created>
  <dcterms:modified xsi:type="dcterms:W3CDTF">2026-09-08T01:06:12Z</dcterms:modified>
  <cp:category/>
</cp:coreProperties>
</file>