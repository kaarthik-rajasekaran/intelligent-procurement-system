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Procurement starts with a humble request, but real optimization happens in the decisions that follow.</a:t>
            </a:r>
          </a:p>
          <a:p/>
          <a:p>
            <a:r>
              <a:t>🎙️ SUGGESTED NARRATION (~1.0 min):</a:t>
            </a:r>
          </a:p>
          <a:p>
            <a:r>
              <a:t>Good morning, judges. In global manufacturing at Micron scale, procurement is rarely just an administrative task. Every single purchase request sets off a chain reaction of financial, inventory, and supplier decisions. Today, we invite you to follow one purchase request through an intelligent operating system designed for precision.</a:t>
            </a:r>
          </a:p>
          <a:p/>
          <a:p>
            <a:r>
              <a:t>🔄 TRANSITION TO NEXT SLIDE:</a:t>
            </a:r>
          </a:p>
          <a:p>
            <a:r>
              <a:t>Let us look at what actually happens the moment a request is submitted.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A single PR hides 5 critical business choices that directly drive cost, delay, and risk.</a:t>
            </a:r>
          </a:p>
          <a:p/>
          <a:p>
            <a:r>
              <a:t>🎙️ SUGGESTED NARRATION (~1.0 min):</a:t>
            </a:r>
          </a:p>
          <a:p>
            <a:r>
              <a:t>When an engineer raises a request, it looks like a simple form. But behind that form are five immediate questions: Do we already own it? Has another fab ordered it? Who are the qualified suppliers? What is their real track record? And is the lowest quote truly the best choice? Traditional workflows leave these questions to manual guesswork.</a:t>
            </a:r>
          </a:p>
          <a:p/>
          <a:p>
            <a:r>
              <a:t>🔄 TRANSITION TO NEXT SLIDE:</a:t>
            </a:r>
          </a:p>
          <a:p>
            <a:r>
              <a:t>This realization completely reframed how we built IPMS.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Shift intelligence upstream: verify, understand, and compare before financial commitment.</a:t>
            </a:r>
          </a:p>
          <a:p/>
          <a:p>
            <a:r>
              <a:t>🎙️ SUGGESTED NARRATION (~1.0 min):</a:t>
            </a:r>
          </a:p>
          <a:p>
            <a:r>
              <a:t>We did not build another procurement portal to route PDFs. We built an intelligent decision chain. By injecting deterministic stock verification, qualitative supplier intelligence, and multi-factor quotation evaluation directly into the workflow, every critical question is answered before a single dollar leaves the company.</a:t>
            </a:r>
          </a:p>
          <a:p/>
          <a:p>
            <a:r>
              <a:t>🔄 TRANSITION TO NEXT SLIDE:</a:t>
            </a:r>
          </a:p>
          <a:p>
            <a:r>
              <a:t>Let us start with the first decision: Do we actually need to buy this?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Deterministic inventory reconciliation instantly calculates true shortage before issuing purchase orders.</a:t>
            </a:r>
          </a:p>
          <a:p/>
          <a:p>
            <a:r>
              <a:t>🎙️ SUGGESTED NARRATION (~1.0 min):</a:t>
            </a:r>
          </a:p>
          <a:p>
            <a:r>
              <a:t>The moment an employee selects an item, IPMS deterministically checks warehouse inventory via Shortage = max(0, Requested - Available). If 100 units are requested and 70 sit in stock, the system isolates the true net procurement requirement to 30. Zero AI hallucination, pure mathematical inventory reconciliation.</a:t>
            </a:r>
          </a:p>
          <a:p/>
          <a:p>
            <a:r>
              <a:t>🔄 TRANSITION TO NEXT SLIDE:</a:t>
            </a:r>
          </a:p>
          <a:p>
            <a:r>
              <a:t>Now that we know the net requirement is 30, what is the next risk?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Proactive duplicate detection warns requesters within a ±20% active quantity window without arbitrary hard blocks.</a:t>
            </a:r>
          </a:p>
          <a:p/>
          <a:p>
            <a:r>
              <a:t>🎙️ SUGGESTED NARRATION (~1.0 min):</a:t>
            </a:r>
          </a:p>
          <a:p>
            <a:r>
              <a:t>In large organizations, multiple engineers frequently order identical parts within days of each other. IPMS checks active operational PRs within the same department for the same SKU within a ±20% quantity window. It alerts the requester, requiring explicit acknowledgment, without rigidly blocking legitimate urgent orders.</a:t>
            </a:r>
          </a:p>
          <a:p/>
          <a:p>
            <a:r>
              <a:t>🔄 TRANSITION TO NEXT SLIDE:</a:t>
            </a:r>
          </a:p>
          <a:p>
            <a:r>
              <a:t>Let us summarize the power of these first two upfront checks.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Upstream stock verification and duplicate interception prevent unnecessary external procurement before RFQ creation.</a:t>
            </a:r>
          </a:p>
          <a:p/>
          <a:p>
            <a:r>
              <a:t>🎙️ SUGGESTED NARRATION (~1.0 min):</a:t>
            </a:r>
          </a:p>
          <a:p>
            <a:r>
              <a:t>Together, inventory intelligence and duplicate interception filter out avoidable purchases before any supplier engagement begins. By exhausting internal stock and preventing double orders, we protect company cash flow at zero marginal cost.</a:t>
            </a:r>
          </a:p>
          <a:p/>
          <a:p>
            <a:r>
              <a:t>🔄 TRANSITION TO NEXT SLIDE:</a:t>
            </a:r>
          </a:p>
          <a:p>
            <a:r>
              <a:t>When an external purchase is genuinely required, what is our next decision?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Vendor qualification filters the broader supplier database down to a high-confidence, context-aware shortlist.</a:t>
            </a:r>
          </a:p>
          <a:p/>
          <a:p>
            <a:r>
              <a:t>🎙️ SUGGESTED NARRATION (~1.0 min):</a:t>
            </a:r>
          </a:p>
          <a:p>
            <a:r>
              <a:t>Once a genuine procurement need is verified, we move to supplier qualification. Instead of buyers picking suppliers from personal habit or memory, IPMS evaluates performance data to curate an intelligent shortlist.</a:t>
            </a:r>
          </a:p>
          <a:p/>
          <a:p>
            <a:r>
              <a:t>🔄 TRANSITION TO NEXT SLIDE:</a:t>
            </a:r>
          </a:p>
          <a:p>
            <a:r>
              <a:t>How do we evaluate a vendor? Let us look at what typical vendor metrics tell 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Quantitative scores show past averages but miss critical operational nuances and qualitative context.</a:t>
            </a:r>
          </a:p>
          <a:p/>
          <a:p>
            <a:r>
              <a:t>🎙️ SUGGESTED NARRATION (~1.0 min):</a:t>
            </a:r>
          </a:p>
          <a:p>
            <a:r>
              <a:t>Vendor A has an overall historical rating of 82. But why is it 82? Did they have one bad shipment out of twenty? Was their packaging substandard for cleanroom environments? Numbers show the score, but human feedback reveals the reality.</a:t>
            </a:r>
          </a:p>
          <a:p/>
          <a:p>
            <a:r>
              <a:t>🔄 TRANSITION TO NEXT SLIDE:</a:t>
            </a:r>
          </a:p>
          <a:p>
            <a:r>
              <a:t>Let us look at the bridge between numbers and human experience.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Combining quarterly qualitative feedback with historical KPI metrics unlocks true vendor intelligence.</a:t>
            </a:r>
          </a:p>
          <a:p/>
          <a:p>
            <a:r>
              <a:t>🎙️ SUGGESTED NARRATION (~1.0 min):</a:t>
            </a:r>
          </a:p>
          <a:p>
            <a:r>
              <a:t>Every quarter, employees and buyers who interact with suppliers submit structured ratings and qualitative reviews. We don't rely on an LLM to guess supplier reputation; we feed it genuine, organization-specific qualitative evidence.</a:t>
            </a:r>
          </a:p>
          <a:p/>
          <a:p>
            <a:r>
              <a:t>🔄 TRANSITION TO NEXT SLIDE:</a:t>
            </a:r>
          </a:p>
          <a:p>
            <a:r>
              <a:t>How does that human feedback become actionable decision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Retrieval-Augmented Generation synthesizes qualitative feedback with quantitative KPIs into a grounded briefing.</a:t>
            </a:r>
          </a:p>
          <a:p/>
          <a:p>
            <a:r>
              <a:t>🎙️ SUGGESTED NARRATION (~1.0 min):</a:t>
            </a:r>
          </a:p>
          <a:p>
            <a:r>
              <a:t>When an engineer requests a vendor recommendation, our RAG pipeline searches embedded quarterly reviews, combines them with historical KPI scores, and passes a concise evidence packet to the LLM. The AI synthesizes actionable operational strengths and risks with 0 ungrounded speculation.</a:t>
            </a:r>
          </a:p>
          <a:p/>
          <a:p>
            <a:r>
              <a:t>🔄 TRANSITION TO NEXT SLIDE:</a:t>
            </a:r>
          </a:p>
          <a:p>
            <a:r>
              <a:t>Where do we draw the line on using AI?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Strict boundary: math, inventory, duplicate rules, and quotes are deterministic; LLMs only handle textual ambiguity.</a:t>
            </a:r>
          </a:p>
          <a:p/>
          <a:p>
            <a:r>
              <a:t>🎙️ SUGGESTED NARRATION (~1.0 min):</a:t>
            </a:r>
          </a:p>
          <a:p>
            <a:r>
              <a:t>A foundational architectural pillar in IPMS: We never use an LLM for arithmetic, budget tracking, or state transitions. Deterministic code guarantees 100% reproducibility and zero hallucination. Generative AI is strictly reserved for understanding language, synthesizing feedback, and answering policy queries.</a:t>
            </a:r>
          </a:p>
          <a:p/>
          <a:p>
            <a:r>
              <a:t>🔄 TRANSITION TO NEXT SLIDE:</a:t>
            </a:r>
          </a:p>
          <a:p>
            <a:r>
              <a:t>How do we manage AI operational costs and latency?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Recommendation snapshots store generated intelligence per PR, eliminating redundant token usage.</a:t>
            </a:r>
          </a:p>
          <a:p/>
          <a:p>
            <a:r>
              <a:t>🎙️ SUGGESTED NARRATION (~1.0 min):</a:t>
            </a:r>
          </a:p>
          <a:p>
            <a:r>
              <a:t>When an employee submits a PR, the generated recommendation is saved as an immutable snapshot. When the supervisor reviews the request later, the system loads the cached snapshot with 0 token overhead and sub-5ms latency. LLMs are only invoked on explicit user demand.</a:t>
            </a:r>
          </a:p>
          <a:p/>
          <a:p>
            <a:r>
              <a:t>🔄 TRANSITION TO NEXT SLIDE:</a:t>
            </a:r>
          </a:p>
          <a:p>
            <a:r>
              <a:t>When the AI presents a recommendation, who owns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Supervisors retain absolute decision authority; overrides are supported but require audited justification.</a:t>
            </a:r>
          </a:p>
          <a:p/>
          <a:p>
            <a:r>
              <a:t>🎙️ SUGGESTED NARRATION (~1.0 min):</a:t>
            </a:r>
          </a:p>
          <a:p>
            <a:r>
              <a:t>In IPMS, the system recommends, but the supervisor decides. If a supervisor overrides the top-ranked recommendation, the system requires a mandatory justification recorded in the immutable audit log. Intelligence assists—humans remain accountable.</a:t>
            </a:r>
          </a:p>
          <a:p/>
          <a:p>
            <a:r>
              <a:t>🔄 TRANSITION TO NEXT SLIDE:</a:t>
            </a:r>
          </a:p>
          <a:p>
            <a:r>
              <a:t>How does a supplier shortlist turn into actual binding market prices?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IPMS converts recommendations into real competition by issuing RFQs to up to 3 suppliers via a dedicated portal.</a:t>
            </a:r>
          </a:p>
          <a:p/>
          <a:p>
            <a:r>
              <a:t>🎙️ SUGGESTED NARRATION (~1.0 min):</a:t>
            </a:r>
          </a:p>
          <a:p>
            <a:r>
              <a:t>We never issue a Purchase Order directly from a recommendation. Instead, the supervisor issues an RFQ to up to three qualified suppliers. Suppliers log into their dedicated Vendor Portal to submit binding unit prices, lead times, and committed delivery dates.</a:t>
            </a:r>
          </a:p>
          <a:p/>
          <a:p>
            <a:r>
              <a:t>🔄 TRANSITION TO NEXT SLIDE:</a:t>
            </a:r>
          </a:p>
          <a:p>
            <a:r>
              <a:t>When multiple suppliers submit quotes, how do we choose the winner?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The 5-Factor Quotation Model V2 evaluates commercial price against committed delivery speed, reliability, and quality.</a:t>
            </a:r>
          </a:p>
          <a:p/>
          <a:p>
            <a:r>
              <a:t>🎙️ SUGGESTED NARRATION (~1.0 min):</a:t>
            </a:r>
          </a:p>
          <a:p>
            <a:r>
              <a:t>Vendor A is the cheapest at $42, but takes 7 days. Vendor B is $48, but delivers in 2 days with 96% quality. Our deterministic 5-Factor Model V2 scores price at 35%, delivery date at 20%, lead time at 15%, reliability at 15%, and quality at 15%. This protects against lowball bids that fail SLAs.</a:t>
            </a:r>
          </a:p>
          <a:p/>
          <a:p>
            <a:r>
              <a:t>🔄 TRANSITION TO NEXT SLIDE:</a:t>
            </a:r>
          </a:p>
          <a:p>
            <a:r>
              <a:t>Once the supervisor confirms the winning vendor, how does execution happen?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ReportLab compiles an official corporate PO PDF with complete idempotency and automatic vendor alerts.</a:t>
            </a:r>
          </a:p>
          <a:p/>
          <a:p>
            <a:r>
              <a:t>🎙️ SUGGESTED NARRATION (~1.0 min):</a:t>
            </a:r>
          </a:p>
          <a:p>
            <a:r>
              <a:t>Upon final authorization, IPMS generates an official Purchase Order and compiles an immutable PDF via ReportLab. Our idempotent design guarantees that repeated clicks or network retries never generate duplicate PO records or charges.</a:t>
            </a:r>
          </a:p>
          <a:p/>
          <a:p>
            <a:r>
              <a:t>🔄 TRANSITION TO NEXT SLIDE:</a:t>
            </a:r>
          </a:p>
          <a:p>
            <a:r>
              <a:t>How does our prototype architecture translate to enterprise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Modular REST microservice architecture designed to plug directly into enterprise ERP and identity systems.</a:t>
            </a:r>
          </a:p>
          <a:p/>
          <a:p>
            <a:r>
              <a:t>🎙️ SUGGESTED NARRATION (~1.0 min):</a:t>
            </a:r>
          </a:p>
          <a:p>
            <a:r>
              <a:t>While our hackathon prototype utilizes simulated test data and local storage, the backend contracts are built on clean RESTful microservice boundaries. It can seamlessly connect to SAP S/4HANA, Oracle ERP, and enterprise SSO.</a:t>
            </a:r>
          </a:p>
          <a:p/>
          <a:p>
            <a:r>
              <a:t>🔄 TRANSITION TO NEXT SLIDE:</a:t>
            </a:r>
          </a:p>
          <a:p>
            <a:r>
              <a:t>How does our design philosophy align with Micron Technology?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Direct alignment with Micron official core values: People, Innovation, Collaboration, Tenacity, and Customer Focus.</a:t>
            </a:r>
          </a:p>
          <a:p/>
          <a:p>
            <a:r>
              <a:t>🎙️ SUGGESTED NARRATION (~1.0 min):</a:t>
            </a:r>
          </a:p>
          <a:p>
            <a:r>
              <a:t>Micron leads the world in memory and semiconductor innovation, where precision and accountability are paramount. IPMS directly reflects these values: valuing human experience, pioneering hybrid AI architecture, connecting cross-functional teams, and maintaining rigorous governance.</a:t>
            </a:r>
          </a:p>
          <a:p/>
          <a:p>
            <a:r>
              <a:t>🔄 TRANSITION TO NEXT SLIDE:</a:t>
            </a:r>
          </a:p>
          <a:p>
            <a:r>
              <a:t>What tangible business impact does this create?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Four business value pillars: cost avoidance, duplicate prevention, quotation optimization, and engineering productivity.</a:t>
            </a:r>
          </a:p>
          <a:p/>
          <a:p>
            <a:r>
              <a:t>🎙️ SUGGESTED NARRATION (~1.0 min):</a:t>
            </a:r>
          </a:p>
          <a:p>
            <a:r>
              <a:t>The impact of IPMS is fourfold: using warehouse stock first, preventing duplicate purchases, picking supplier bids based on total value rather than just lowest price, and saving engineering hours spent searching for context.</a:t>
            </a:r>
          </a:p>
          <a:p/>
          <a:p>
            <a:r>
              <a:t>🔄 TRANSITION TO NEXT SLIDE:</a:t>
            </a:r>
          </a:p>
          <a:p>
            <a:r>
              <a:t>Let us look at our measurable ROI framework.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Transparent ROI measurement framework balancing tangible cost avoidance and productivity gains against operational costs.</a:t>
            </a:r>
          </a:p>
          <a:p/>
          <a:p>
            <a:r>
              <a:t>🎙️ SUGGESTED NARRATION (~1.0 min):</a:t>
            </a:r>
          </a:p>
          <a:p>
            <a:r>
              <a:t>We do not extrapolate fabricated enterprise savings. Instead, we provide a grounded ROI equation: stock utilized times avoided cost, plus prevented duplicates, plus quotation optimization, minus operating cost. In our demonstrated prototype test runs, stock checks and duplicate alerts intercepted over $2,000 in unnecessary spend on the first batch alone.</a:t>
            </a:r>
          </a:p>
          <a:p/>
          <a:p>
            <a:r>
              <a:t>🔄 TRANSITION TO NEXT SLIDE:</a:t>
            </a:r>
          </a:p>
          <a:p>
            <a:r>
              <a:t>Let us move to the closing statement and launch the live product demo.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Transition into the live 8-10 minute end-to-end interactive demo across Employee, Supervisor, and Vendor roles.</a:t>
            </a:r>
          </a:p>
          <a:p/>
          <a:p>
            <a:r>
              <a:t>🎙️ SUGGESTED NARRATION (~1.0 min):</a:t>
            </a:r>
          </a:p>
          <a:p>
            <a:r>
              <a:t>We have explained the decisions. Now let us follow an actual purchase request through the live application. We will switch to our live environment at localhost:3000 to demonstrate the employee request, stock check, duplicate detection, supervisor revision loop, vendor bidding portal, 5-factor quotation scoring, and instant PO generation in real time. Thank you.</a:t>
            </a:r>
          </a:p>
          <a:p/>
          <a:p>
            <a:r>
              <a:t>🔄 TRANSITION TO NEXT SLIDE:</a:t>
            </a:r>
          </a:p>
          <a:p>
            <a:r>
              <a:t>Begin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698480" cy="2011680"/>
          </a:xfrm>
          <a:prstGeom prst="rect">
            <a:avLst/>
          </a:prstGeom>
          <a:noFill/>
        </p:spPr>
        <p:txBody>
          <a:bodyPr wrap="none">
            <a:spAutoFit/>
          </a:bodyPr>
          <a:lstStyle/>
          <a:p>
            <a:pPr>
              <a:defRPr sz="4400" b="1">
                <a:solidFill>
                  <a:srgbClr val="FFFFFF"/>
                </a:solidFill>
                <a:latin typeface="Segoe UI"/>
              </a:defRPr>
            </a:pPr>
            <a:r>
              <a:t>A Purchase Request Looks Simple.</a:t>
            </a:r>
          </a:p>
          <a:p>
            <a:pPr>
              <a:spcBef>
                <a:spcPts val="1200"/>
              </a:spcBef>
              <a:defRPr sz="1800">
                <a:solidFill>
                  <a:srgbClr val="00A3E0"/>
                </a:solidFill>
              </a:defRPr>
            </a:pPr>
            <a:r>
              <a:t>Intelligent Procurement Management System (IPMS) — Micron Technology Hackathon</a:t>
            </a:r>
          </a:p>
        </p:txBody>
      </p:sp>
      <p:sp>
        <p:nvSpPr>
          <p:cNvPr id="5" name="Rounded Rectangle 4"/>
          <p:cNvSpPr/>
          <p:nvPr/>
        </p:nvSpPr>
        <p:spPr>
          <a:xfrm>
            <a:off x="731520" y="4114800"/>
            <a:ext cx="1920240" cy="1188720"/>
          </a:xfrm>
          <a:prstGeom prst="roundRect">
            <a:avLst/>
          </a:prstGeom>
          <a:solidFill>
            <a:srgbClr val="0A2540"/>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tIns="320040"/>
          <a:lstStyle/>
          <a:p>
            <a:pPr algn="ctr">
              <a:defRPr sz="1400" b="1">
                <a:solidFill>
                  <a:srgbClr val="FFFFFF"/>
                </a:solidFill>
              </a:defRPr>
            </a:pPr>
            <a:r>
              <a:t>REQUEST</a:t>
            </a:r>
          </a:p>
        </p:txBody>
      </p:sp>
      <p:sp>
        <p:nvSpPr>
          <p:cNvPr id="6" name="Rounded Rectangle 5"/>
          <p:cNvSpPr/>
          <p:nvPr/>
        </p:nvSpPr>
        <p:spPr>
          <a:xfrm>
            <a:off x="2926080" y="4114800"/>
            <a:ext cx="1920240" cy="1188720"/>
          </a:xfrm>
          <a:prstGeom prst="roundRect">
            <a:avLst/>
          </a:prstGeom>
          <a:solidFill>
            <a:srgbClr val="051426"/>
          </a:solidFill>
          <a:ln w="19050">
            <a:solidFill>
              <a:srgbClr val="1E3A58"/>
            </a:solidFill>
          </a:ln>
        </p:spPr>
        <p:style>
          <a:lnRef idx="1">
            <a:schemeClr val="accent1"/>
          </a:lnRef>
          <a:fillRef idx="3">
            <a:schemeClr val="accent1"/>
          </a:fillRef>
          <a:effectRef idx="2">
            <a:schemeClr val="accent1"/>
          </a:effectRef>
          <a:fontRef idx="minor">
            <a:schemeClr val="lt1"/>
          </a:fontRef>
        </p:style>
        <p:txBody>
          <a:bodyPr rtlCol="0" anchor="ctr" tIns="320040"/>
          <a:lstStyle/>
          <a:p>
            <a:pPr algn="ctr">
              <a:defRPr sz="1400" b="1">
                <a:solidFill>
                  <a:srgbClr val="94A3B8"/>
                </a:solidFill>
              </a:defRPr>
            </a:pPr>
            <a:r>
              <a:t>INTELLIGENCE</a:t>
            </a:r>
          </a:p>
        </p:txBody>
      </p:sp>
      <p:sp>
        <p:nvSpPr>
          <p:cNvPr id="7" name="Rounded Rectangle 6"/>
          <p:cNvSpPr/>
          <p:nvPr/>
        </p:nvSpPr>
        <p:spPr>
          <a:xfrm>
            <a:off x="5120640" y="4114800"/>
            <a:ext cx="1920240" cy="1188720"/>
          </a:xfrm>
          <a:prstGeom prst="roundRect">
            <a:avLst/>
          </a:prstGeom>
          <a:solidFill>
            <a:srgbClr val="051426"/>
          </a:solidFill>
          <a:ln w="19050">
            <a:solidFill>
              <a:srgbClr val="1E3A58"/>
            </a:solidFill>
          </a:ln>
        </p:spPr>
        <p:style>
          <a:lnRef idx="1">
            <a:schemeClr val="accent1"/>
          </a:lnRef>
          <a:fillRef idx="3">
            <a:schemeClr val="accent1"/>
          </a:fillRef>
          <a:effectRef idx="2">
            <a:schemeClr val="accent1"/>
          </a:effectRef>
          <a:fontRef idx="minor">
            <a:schemeClr val="lt1"/>
          </a:fontRef>
        </p:style>
        <p:txBody>
          <a:bodyPr rtlCol="0" anchor="ctr" tIns="320040"/>
          <a:lstStyle/>
          <a:p>
            <a:pPr algn="ctr">
              <a:defRPr sz="1400" b="1">
                <a:solidFill>
                  <a:srgbClr val="94A3B8"/>
                </a:solidFill>
              </a:defRPr>
            </a:pPr>
            <a:r>
              <a:t>COMPETITION</a:t>
            </a:r>
          </a:p>
        </p:txBody>
      </p:sp>
      <p:sp>
        <p:nvSpPr>
          <p:cNvPr id="8" name="Rounded Rectangle 7"/>
          <p:cNvSpPr/>
          <p:nvPr/>
        </p:nvSpPr>
        <p:spPr>
          <a:xfrm>
            <a:off x="7315200" y="4114800"/>
            <a:ext cx="1920240" cy="1188720"/>
          </a:xfrm>
          <a:prstGeom prst="roundRect">
            <a:avLst/>
          </a:prstGeom>
          <a:solidFill>
            <a:srgbClr val="051426"/>
          </a:solidFill>
          <a:ln w="19050">
            <a:solidFill>
              <a:srgbClr val="1E3A58"/>
            </a:solidFill>
          </a:ln>
        </p:spPr>
        <p:style>
          <a:lnRef idx="1">
            <a:schemeClr val="accent1"/>
          </a:lnRef>
          <a:fillRef idx="3">
            <a:schemeClr val="accent1"/>
          </a:fillRef>
          <a:effectRef idx="2">
            <a:schemeClr val="accent1"/>
          </a:effectRef>
          <a:fontRef idx="minor">
            <a:schemeClr val="lt1"/>
          </a:fontRef>
        </p:style>
        <p:txBody>
          <a:bodyPr rtlCol="0" anchor="ctr" tIns="320040"/>
          <a:lstStyle/>
          <a:p>
            <a:pPr algn="ctr">
              <a:defRPr sz="1400" b="1">
                <a:solidFill>
                  <a:srgbClr val="94A3B8"/>
                </a:solidFill>
              </a:defRPr>
            </a:pPr>
            <a:r>
              <a:t>DECISION</a:t>
            </a:r>
          </a:p>
        </p:txBody>
      </p:sp>
      <p:sp>
        <p:nvSpPr>
          <p:cNvPr id="9" name="Rounded Rectangle 8"/>
          <p:cNvSpPr/>
          <p:nvPr/>
        </p:nvSpPr>
        <p:spPr>
          <a:xfrm>
            <a:off x="9509760" y="4114800"/>
            <a:ext cx="1920240" cy="1188720"/>
          </a:xfrm>
          <a:prstGeom prst="roundRect">
            <a:avLst/>
          </a:prstGeom>
          <a:solidFill>
            <a:srgbClr val="051426"/>
          </a:solidFill>
          <a:ln w="19050">
            <a:solidFill>
              <a:srgbClr val="1E3A58"/>
            </a:solidFill>
          </a:ln>
        </p:spPr>
        <p:style>
          <a:lnRef idx="1">
            <a:schemeClr val="accent1"/>
          </a:lnRef>
          <a:fillRef idx="3">
            <a:schemeClr val="accent1"/>
          </a:fillRef>
          <a:effectRef idx="2">
            <a:schemeClr val="accent1"/>
          </a:effectRef>
          <a:fontRef idx="minor">
            <a:schemeClr val="lt1"/>
          </a:fontRef>
        </p:style>
        <p:txBody>
          <a:bodyPr rtlCol="0" anchor="ctr" tIns="320040"/>
          <a:lstStyle/>
          <a:p>
            <a:pPr algn="ctr">
              <a:defRPr sz="1400" b="1">
                <a:solidFill>
                  <a:srgbClr val="94A3B8"/>
                </a:solidFill>
              </a:defRPr>
            </a:pPr>
            <a:r>
              <a:t>EXECUTION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1097280"/>
          </a:xfrm>
          <a:prstGeom prst="rect">
            <a:avLst/>
          </a:prstGeom>
          <a:noFill/>
        </p:spPr>
        <p:txBody>
          <a:bodyPr wrap="none">
            <a:spAutoFit/>
          </a:bodyPr>
          <a:lstStyle/>
          <a:p>
            <a:pPr>
              <a:defRPr sz="3600" b="1">
                <a:solidFill>
                  <a:srgbClr val="0F172A"/>
                </a:solidFill>
              </a:defRPr>
            </a:pPr>
            <a:r>
              <a:t>Until You Follow What Happens Next.</a:t>
            </a:r>
          </a:p>
        </p:txBody>
      </p:sp>
      <p:sp>
        <p:nvSpPr>
          <p:cNvPr id="5" name="Rounded Rectangle 4"/>
          <p:cNvSpPr/>
          <p:nvPr/>
        </p:nvSpPr>
        <p:spPr>
          <a:xfrm>
            <a:off x="4754880" y="2926080"/>
            <a:ext cx="2743200" cy="1371600"/>
          </a:xfrm>
          <a:prstGeom prst="roundRect">
            <a:avLst/>
          </a:prstGeom>
          <a:solidFill>
            <a:srgbClr val="0072CE"/>
          </a:solidFill>
          <a:ln w="1905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PURCHASE</a:t>
            </a:r>
            <a:br/>
            <a:r>
              <a:t>REQUEST</a:t>
            </a:r>
          </a:p>
        </p:txBody>
      </p:sp>
      <p:sp>
        <p:nvSpPr>
          <p:cNvPr id="6" name="Rounded Rectangle 5"/>
          <p:cNvSpPr/>
          <p:nvPr/>
        </p:nvSpPr>
        <p:spPr>
          <a:xfrm>
            <a:off x="914400" y="2286000"/>
            <a:ext cx="3200400" cy="822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defRPr>
            </a:pPr>
            <a:r>
              <a:t>DO WE NEED IT?</a:t>
            </a:r>
          </a:p>
        </p:txBody>
      </p:sp>
      <p:sp>
        <p:nvSpPr>
          <p:cNvPr id="7" name="Rounded Rectangle 6"/>
          <p:cNvSpPr/>
          <p:nvPr/>
        </p:nvSpPr>
        <p:spPr>
          <a:xfrm>
            <a:off x="914400" y="4114800"/>
            <a:ext cx="3200400" cy="822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defRPr>
            </a:pPr>
            <a:r>
              <a:t>ARE WE ALREADY BUYING IT?</a:t>
            </a:r>
          </a:p>
        </p:txBody>
      </p:sp>
      <p:sp>
        <p:nvSpPr>
          <p:cNvPr id="8" name="Rounded Rectangle 7"/>
          <p:cNvSpPr/>
          <p:nvPr/>
        </p:nvSpPr>
        <p:spPr>
          <a:xfrm>
            <a:off x="8046720" y="2286000"/>
            <a:ext cx="3200400" cy="822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defRPr>
            </a:pPr>
            <a:r>
              <a:t>WHO SHOULD SUPPLY IT?</a:t>
            </a:r>
          </a:p>
        </p:txBody>
      </p:sp>
      <p:sp>
        <p:nvSpPr>
          <p:cNvPr id="9" name="Rounded Rectangle 8"/>
          <p:cNvSpPr/>
          <p:nvPr/>
        </p:nvSpPr>
        <p:spPr>
          <a:xfrm>
            <a:off x="8046720" y="4114800"/>
            <a:ext cx="3200400" cy="822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defRPr>
            </a:pPr>
            <a:r>
              <a:t>WHAT DO WE KNOW ABOUT THEM?</a:t>
            </a:r>
          </a:p>
        </p:txBody>
      </p:sp>
      <p:sp>
        <p:nvSpPr>
          <p:cNvPr id="10" name="Rounded Rectangle 9"/>
          <p:cNvSpPr/>
          <p:nvPr/>
        </p:nvSpPr>
        <p:spPr>
          <a:xfrm>
            <a:off x="4389120" y="4937760"/>
            <a:ext cx="3200400" cy="822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defRPr>
            </a:pPr>
            <a:r>
              <a:t>WHICH OFFER IS REALLY BEST?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1463040"/>
          </a:xfrm>
          <a:prstGeom prst="rect">
            <a:avLst/>
          </a:prstGeom>
          <a:noFill/>
        </p:spPr>
        <p:txBody>
          <a:bodyPr wrap="none">
            <a:spAutoFit/>
          </a:bodyPr>
          <a:lstStyle/>
          <a:p>
            <a:pPr>
              <a:defRPr sz="3600" b="1">
                <a:solidFill>
                  <a:srgbClr val="0F172A"/>
                </a:solidFill>
              </a:defRPr>
            </a:pPr>
            <a:r>
              <a:t>Procurement Isn't a Form.</a:t>
            </a:r>
            <a:br/>
            <a:r>
              <a:t>It's a Chain of Decisions.</a:t>
            </a:r>
          </a:p>
        </p:txBody>
      </p:sp>
      <p:sp>
        <p:nvSpPr>
          <p:cNvPr id="5" name="Rounded Rectangle 4"/>
          <p:cNvSpPr/>
          <p:nvPr/>
        </p:nvSpPr>
        <p:spPr>
          <a:xfrm>
            <a:off x="731520" y="3474720"/>
            <a:ext cx="1600200" cy="1280160"/>
          </a:xfrm>
          <a:prstGeom prst="roundRect">
            <a:avLst/>
          </a:prstGeom>
          <a:solidFill>
            <a:srgbClr val="FFFFFF"/>
          </a:solidFill>
          <a:ln w="1905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72CE"/>
                </a:solidFill>
              </a:defRPr>
            </a:pPr>
            <a:r>
              <a:t>01</a:t>
            </a:r>
            <a:br/>
            <a:r>
              <a:t>REQUEST</a:t>
            </a:r>
          </a:p>
        </p:txBody>
      </p:sp>
      <p:sp>
        <p:nvSpPr>
          <p:cNvPr id="6" name="Rounded Rectangle 5"/>
          <p:cNvSpPr/>
          <p:nvPr/>
        </p:nvSpPr>
        <p:spPr>
          <a:xfrm>
            <a:off x="2514600" y="3474720"/>
            <a:ext cx="1600200" cy="1280160"/>
          </a:xfrm>
          <a:prstGeom prst="roundRect">
            <a:avLst/>
          </a:prstGeom>
          <a:solidFill>
            <a:srgbClr val="FFFFFF"/>
          </a:solidFill>
          <a:ln w="1905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72CE"/>
                </a:solidFill>
              </a:defRPr>
            </a:pPr>
            <a:r>
              <a:t>02</a:t>
            </a:r>
            <a:br/>
            <a:r>
              <a:t>VERIFY</a:t>
            </a:r>
          </a:p>
        </p:txBody>
      </p:sp>
      <p:sp>
        <p:nvSpPr>
          <p:cNvPr id="7" name="Rounded Rectangle 6"/>
          <p:cNvSpPr/>
          <p:nvPr/>
        </p:nvSpPr>
        <p:spPr>
          <a:xfrm>
            <a:off x="4297680" y="3474720"/>
            <a:ext cx="1600200" cy="1280160"/>
          </a:xfrm>
          <a:prstGeom prst="roundRect">
            <a:avLst/>
          </a:prstGeom>
          <a:solidFill>
            <a:srgbClr val="FFFFFF"/>
          </a:solidFill>
          <a:ln w="1905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72CE"/>
                </a:solidFill>
              </a:defRPr>
            </a:pPr>
            <a:r>
              <a:t>03</a:t>
            </a:r>
            <a:br/>
            <a:r>
              <a:t>UNDERSTAND</a:t>
            </a:r>
          </a:p>
        </p:txBody>
      </p:sp>
      <p:sp>
        <p:nvSpPr>
          <p:cNvPr id="8" name="Rounded Rectangle 7"/>
          <p:cNvSpPr/>
          <p:nvPr/>
        </p:nvSpPr>
        <p:spPr>
          <a:xfrm>
            <a:off x="6080760" y="3474720"/>
            <a:ext cx="1600200" cy="1280160"/>
          </a:xfrm>
          <a:prstGeom prst="roundRect">
            <a:avLst/>
          </a:prstGeom>
          <a:solidFill>
            <a:srgbClr val="FFFFFF"/>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F172A"/>
                </a:solidFill>
              </a:defRPr>
            </a:pPr>
            <a:r>
              <a:t>04</a:t>
            </a:r>
            <a:br/>
            <a:r>
              <a:t>COMPARE</a:t>
            </a:r>
          </a:p>
        </p:txBody>
      </p:sp>
      <p:sp>
        <p:nvSpPr>
          <p:cNvPr id="9" name="Rounded Rectangle 8"/>
          <p:cNvSpPr/>
          <p:nvPr/>
        </p:nvSpPr>
        <p:spPr>
          <a:xfrm>
            <a:off x="7863840" y="3474720"/>
            <a:ext cx="1600200" cy="1280160"/>
          </a:xfrm>
          <a:prstGeom prst="roundRect">
            <a:avLst/>
          </a:prstGeom>
          <a:solidFill>
            <a:srgbClr val="FFFFFF"/>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F172A"/>
                </a:solidFill>
              </a:defRPr>
            </a:pPr>
            <a:r>
              <a:t>05</a:t>
            </a:r>
            <a:br/>
            <a:r>
              <a:t>DECIDE</a:t>
            </a:r>
          </a:p>
        </p:txBody>
      </p:sp>
      <p:sp>
        <p:nvSpPr>
          <p:cNvPr id="10" name="Rounded Rectangle 9"/>
          <p:cNvSpPr/>
          <p:nvPr/>
        </p:nvSpPr>
        <p:spPr>
          <a:xfrm>
            <a:off x="9646920" y="3474720"/>
            <a:ext cx="1600200" cy="1280160"/>
          </a:xfrm>
          <a:prstGeom prst="roundRect">
            <a:avLst/>
          </a:prstGeom>
          <a:solidFill>
            <a:srgbClr val="FFFFFF"/>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F172A"/>
                </a:solidFill>
              </a:defRPr>
            </a:pPr>
            <a:r>
              <a:t>06</a:t>
            </a:r>
            <a:br/>
            <a:r>
              <a:t>EXECUTE</a:t>
            </a:r>
          </a:p>
        </p:txBody>
      </p:sp>
      <p:sp>
        <p:nvSpPr>
          <p:cNvPr id="11" name="TextBox 10"/>
          <p:cNvSpPr txBox="1"/>
          <p:nvPr/>
        </p:nvSpPr>
        <p:spPr>
          <a:xfrm>
            <a:off x="731520" y="5303520"/>
            <a:ext cx="10698480" cy="731520"/>
          </a:xfrm>
          <a:prstGeom prst="rect">
            <a:avLst/>
          </a:prstGeom>
          <a:noFill/>
        </p:spPr>
        <p:txBody>
          <a:bodyPr wrap="none">
            <a:spAutoFit/>
          </a:bodyPr>
          <a:lstStyle/>
          <a:p>
            <a:pPr>
              <a:defRPr sz="1800" b="1">
                <a:solidFill>
                  <a:srgbClr val="0072CE"/>
                </a:solidFill>
              </a:defRPr>
            </a:pPr>
            <a:r>
              <a:t>Every important question should be answered before money is committed.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698480" cy="1280160"/>
          </a:xfrm>
          <a:prstGeom prst="rect">
            <a:avLst/>
          </a:prstGeom>
          <a:noFill/>
        </p:spPr>
        <p:txBody>
          <a:bodyPr wrap="none">
            <a:spAutoFit/>
          </a:bodyPr>
          <a:lstStyle/>
          <a:p>
            <a:pPr>
              <a:defRPr sz="3600" b="1">
                <a:solidFill>
                  <a:srgbClr val="0F172A"/>
                </a:solidFill>
              </a:defRPr>
            </a:pPr>
            <a:r>
              <a:t>First: Don't Buy What You Already Have.</a:t>
            </a:r>
          </a:p>
          <a:p>
            <a:pPr>
              <a:defRPr sz="1600">
                <a:solidFill>
                  <a:srgbClr val="64748B"/>
                </a:solidFill>
              </a:defRPr>
            </a:pPr>
            <a:r>
              <a:t>Decision #1: Deterministic Inventory Stock Check</a:t>
            </a:r>
          </a:p>
        </p:txBody>
      </p:sp>
      <p:sp>
        <p:nvSpPr>
          <p:cNvPr id="5" name="Rounded Rectangle 4"/>
          <p:cNvSpPr/>
          <p:nvPr/>
        </p:nvSpPr>
        <p:spPr>
          <a:xfrm>
            <a:off x="1097280" y="2560320"/>
            <a:ext cx="292608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64748B"/>
                </a:solidFill>
              </a:defRPr>
            </a:pPr>
            <a:r>
              <a:t>REQUESTED</a:t>
            </a:r>
          </a:p>
          <a:p>
            <a:pPr algn="ctr">
              <a:spcBef>
                <a:spcPts val="1400"/>
              </a:spcBef>
              <a:defRPr sz="2800" b="1">
                <a:solidFill>
                  <a:srgbClr val="0F172A"/>
                </a:solidFill>
              </a:defRPr>
            </a:pPr>
            <a:r>
              <a:t>100 UNITS</a:t>
            </a:r>
          </a:p>
        </p:txBody>
      </p:sp>
      <p:sp>
        <p:nvSpPr>
          <p:cNvPr id="6" name="Rounded Rectangle 5"/>
          <p:cNvSpPr/>
          <p:nvPr/>
        </p:nvSpPr>
        <p:spPr>
          <a:xfrm>
            <a:off x="4754880" y="2560320"/>
            <a:ext cx="2926080" cy="201168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64748B"/>
                </a:solidFill>
              </a:defRPr>
            </a:pPr>
            <a:r>
              <a:t>IN STOCK</a:t>
            </a:r>
          </a:p>
          <a:p>
            <a:pPr algn="ctr">
              <a:spcBef>
                <a:spcPts val="1400"/>
              </a:spcBef>
              <a:defRPr sz="2800" b="1">
                <a:solidFill>
                  <a:srgbClr val="10B981"/>
                </a:solidFill>
              </a:defRPr>
            </a:pPr>
            <a:r>
              <a:t>70 UNITS</a:t>
            </a:r>
          </a:p>
        </p:txBody>
      </p:sp>
      <p:sp>
        <p:nvSpPr>
          <p:cNvPr id="7" name="Rounded Rectangle 6"/>
          <p:cNvSpPr/>
          <p:nvPr/>
        </p:nvSpPr>
        <p:spPr>
          <a:xfrm>
            <a:off x="8412480" y="2560320"/>
            <a:ext cx="2926080" cy="2011680"/>
          </a:xfrm>
          <a:prstGeom prst="roundRect">
            <a:avLst/>
          </a:prstGeom>
          <a:solidFill>
            <a:srgbClr val="EFF6FF"/>
          </a:solidFill>
          <a:ln w="1905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64748B"/>
                </a:solidFill>
              </a:defRPr>
            </a:pPr>
            <a:r>
              <a:t>ACTUAL BUY</a:t>
            </a:r>
          </a:p>
          <a:p>
            <a:pPr algn="ctr">
              <a:spcBef>
                <a:spcPts val="1400"/>
              </a:spcBef>
              <a:defRPr sz="2800" b="1">
                <a:solidFill>
                  <a:srgbClr val="0072CE"/>
                </a:solidFill>
              </a:defRPr>
            </a:pPr>
            <a:r>
              <a:t>30 UNITS</a:t>
            </a:r>
          </a:p>
        </p:txBody>
      </p:sp>
      <p:sp>
        <p:nvSpPr>
          <p:cNvPr id="8" name="TextBox 7"/>
          <p:cNvSpPr txBox="1"/>
          <p:nvPr/>
        </p:nvSpPr>
        <p:spPr>
          <a:xfrm>
            <a:off x="731520" y="5303520"/>
            <a:ext cx="10698480" cy="731520"/>
          </a:xfrm>
          <a:prstGeom prst="rect">
            <a:avLst/>
          </a:prstGeom>
          <a:noFill/>
        </p:spPr>
        <p:txBody>
          <a:bodyPr wrap="none">
            <a:spAutoFit/>
          </a:bodyPr>
          <a:lstStyle/>
          <a:p>
            <a:pPr algn="ctr">
              <a:defRPr sz="2000" b="1">
                <a:solidFill>
                  <a:srgbClr val="001830"/>
                </a:solidFill>
              </a:defRPr>
            </a:pPr>
            <a:r>
              <a:t>"The cheapest purchase is the purchase you never had to make."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698480" cy="1280160"/>
          </a:xfrm>
          <a:prstGeom prst="rect">
            <a:avLst/>
          </a:prstGeom>
          <a:noFill/>
        </p:spPr>
        <p:txBody>
          <a:bodyPr wrap="none">
            <a:spAutoFit/>
          </a:bodyPr>
          <a:lstStyle/>
          <a:p>
            <a:pPr>
              <a:defRPr sz="3600" b="1">
                <a:solidFill>
                  <a:srgbClr val="0F172A"/>
                </a:solidFill>
              </a:defRPr>
            </a:pPr>
            <a:r>
              <a:t>What If Someone Already Asked For Those 30?</a:t>
            </a:r>
          </a:p>
          <a:p>
            <a:pPr>
              <a:defRPr sz="1600">
                <a:solidFill>
                  <a:srgbClr val="64748B"/>
                </a:solidFill>
              </a:defRPr>
            </a:pPr>
            <a:r>
              <a:t>Decision #2: Deterministic ±20% Duplicate Windowing</a:t>
            </a:r>
          </a:p>
        </p:txBody>
      </p:sp>
      <p:sp>
        <p:nvSpPr>
          <p:cNvPr id="5" name="Rounded Rectangle 4"/>
          <p:cNvSpPr/>
          <p:nvPr/>
        </p:nvSpPr>
        <p:spPr>
          <a:xfrm>
            <a:off x="914400" y="2560320"/>
            <a:ext cx="292608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172A"/>
                </a:solidFill>
              </a:defRPr>
            </a:pPr>
            <a:r>
              <a:t>NEW REQUEST</a:t>
            </a:r>
            <a:br/>
            <a:br/>
            <a:r>
              <a:t>Thermal Paste</a:t>
            </a:r>
            <a:br/>
            <a:r>
              <a:t>30 Units</a:t>
            </a:r>
          </a:p>
        </p:txBody>
      </p:sp>
      <p:sp>
        <p:nvSpPr>
          <p:cNvPr id="6" name="Rounded Rectangle 5"/>
          <p:cNvSpPr/>
          <p:nvPr/>
        </p:nvSpPr>
        <p:spPr>
          <a:xfrm>
            <a:off x="4389120" y="2560320"/>
            <a:ext cx="3383280" cy="2011680"/>
          </a:xfrm>
          <a:prstGeom prst="roundRect">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B45309"/>
                </a:solidFill>
              </a:defRPr>
            </a:pPr>
            <a:r>
              <a:t>⚠ POTENTIAL MATCH</a:t>
            </a:r>
            <a:br/>
            <a:br/>
            <a:r>
              <a:t>Department Match</a:t>
            </a:r>
            <a:br/>
            <a:r>
              <a:t>±20% Quantity Window</a:t>
            </a:r>
            <a:br/>
            <a:r>
              <a:t>Decision-Support Flag</a:t>
            </a:r>
          </a:p>
        </p:txBody>
      </p:sp>
      <p:sp>
        <p:nvSpPr>
          <p:cNvPr id="7" name="Rounded Rectangle 6"/>
          <p:cNvSpPr/>
          <p:nvPr/>
        </p:nvSpPr>
        <p:spPr>
          <a:xfrm>
            <a:off x="8321040" y="2560320"/>
            <a:ext cx="292608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172A"/>
                </a:solidFill>
              </a:defRPr>
            </a:pPr>
            <a:r>
              <a:t>EXISTING ACTIVE PR</a:t>
            </a:r>
            <a:br/>
            <a:br/>
            <a:r>
              <a:t>PR-2026-0042</a:t>
            </a:r>
            <a:br/>
            <a:r>
              <a:t>28 Units (Active)</a:t>
            </a:r>
          </a:p>
        </p:txBody>
      </p:sp>
      <p:sp>
        <p:nvSpPr>
          <p:cNvPr id="8" name="TextBox 7"/>
          <p:cNvSpPr txBox="1"/>
          <p:nvPr/>
        </p:nvSpPr>
        <p:spPr>
          <a:xfrm>
            <a:off x="731520" y="5303520"/>
            <a:ext cx="10698480" cy="731520"/>
          </a:xfrm>
          <a:prstGeom prst="rect">
            <a:avLst/>
          </a:prstGeom>
          <a:noFill/>
        </p:spPr>
        <p:txBody>
          <a:bodyPr wrap="none">
            <a:spAutoFit/>
          </a:bodyPr>
          <a:lstStyle/>
          <a:p>
            <a:pPr algn="ctr">
              <a:defRPr sz="1800" b="1">
                <a:solidFill>
                  <a:srgbClr val="001830"/>
                </a:solidFill>
              </a:defRPr>
            </a:pPr>
            <a:r>
              <a:t>Make potential waste visible before money leaves the organization.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1280160"/>
          </a:xfrm>
          <a:prstGeom prst="rect">
            <a:avLst/>
          </a:prstGeom>
          <a:noFill/>
        </p:spPr>
        <p:txBody>
          <a:bodyPr wrap="none">
            <a:spAutoFit/>
          </a:bodyPr>
          <a:lstStyle/>
          <a:p>
            <a:pPr>
              <a:defRPr sz="3800" b="1">
                <a:solidFill>
                  <a:srgbClr val="FFFFFF"/>
                </a:solidFill>
              </a:defRPr>
            </a:pPr>
            <a:r>
              <a:t>Two Checks. One Goal.</a:t>
            </a:r>
          </a:p>
        </p:txBody>
      </p:sp>
      <p:sp>
        <p:nvSpPr>
          <p:cNvPr id="5" name="Rounded Rectangle 4"/>
          <p:cNvSpPr/>
          <p:nvPr/>
        </p:nvSpPr>
        <p:spPr>
          <a:xfrm>
            <a:off x="1097280" y="2560320"/>
            <a:ext cx="4114800" cy="1828800"/>
          </a:xfrm>
          <a:prstGeom prst="roundRect">
            <a:avLst/>
          </a:prstGeom>
          <a:solidFill>
            <a:srgbClr val="0A2540"/>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USE WHAT</a:t>
            </a:r>
            <a:br/>
            <a:r>
              <a:t>YOU HAVE</a:t>
            </a:r>
          </a:p>
        </p:txBody>
      </p:sp>
      <p:sp>
        <p:nvSpPr>
          <p:cNvPr id="6" name="TextBox 5"/>
          <p:cNvSpPr txBox="1"/>
          <p:nvPr/>
        </p:nvSpPr>
        <p:spPr>
          <a:xfrm>
            <a:off x="5486400" y="2926080"/>
            <a:ext cx="1188720" cy="914400"/>
          </a:xfrm>
          <a:prstGeom prst="rect">
            <a:avLst/>
          </a:prstGeom>
          <a:noFill/>
        </p:spPr>
        <p:txBody>
          <a:bodyPr wrap="none">
            <a:spAutoFit/>
          </a:bodyPr>
          <a:lstStyle/>
          <a:p>
            <a:pPr algn="ctr">
              <a:defRPr sz="3600" b="1">
                <a:solidFill>
                  <a:srgbClr val="00A3E0"/>
                </a:solidFill>
              </a:defRPr>
            </a:pPr>
            <a:r>
              <a:t>+</a:t>
            </a:r>
          </a:p>
        </p:txBody>
      </p:sp>
      <p:sp>
        <p:nvSpPr>
          <p:cNvPr id="7" name="Rounded Rectangle 6"/>
          <p:cNvSpPr/>
          <p:nvPr/>
        </p:nvSpPr>
        <p:spPr>
          <a:xfrm>
            <a:off x="6949440" y="2560320"/>
            <a:ext cx="4114800" cy="1828800"/>
          </a:xfrm>
          <a:prstGeom prst="roundRect">
            <a:avLst/>
          </a:prstGeom>
          <a:solidFill>
            <a:srgbClr val="0A2540"/>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DON'T BUY</a:t>
            </a:r>
            <a:br/>
            <a:r>
              <a:t>TWICE</a:t>
            </a:r>
          </a:p>
        </p:txBody>
      </p:sp>
      <p:sp>
        <p:nvSpPr>
          <p:cNvPr id="8" name="Rounded Rectangle 7"/>
          <p:cNvSpPr/>
          <p:nvPr/>
        </p:nvSpPr>
        <p:spPr>
          <a:xfrm>
            <a:off x="2560320" y="4846320"/>
            <a:ext cx="7040880" cy="1097280"/>
          </a:xfrm>
          <a:prstGeom prst="roundRect">
            <a:avLst/>
          </a:prstGeom>
          <a:solidFill>
            <a:srgbClr val="10B98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LESS UNNECESSARY SPEND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1463040"/>
          </a:xfrm>
          <a:prstGeom prst="rect">
            <a:avLst/>
          </a:prstGeom>
          <a:noFill/>
        </p:spPr>
        <p:txBody>
          <a:bodyPr wrap="none">
            <a:spAutoFit/>
          </a:bodyPr>
          <a:lstStyle/>
          <a:p>
            <a:pPr>
              <a:defRPr sz="3600" b="1">
                <a:solidFill>
                  <a:srgbClr val="0F172A"/>
                </a:solidFill>
              </a:defRPr>
            </a:pPr>
            <a:r>
              <a:t>Now We Know We Need to Buy.</a:t>
            </a:r>
            <a:br/>
            <a:r>
              <a:t>Who Should We Talk To?</a:t>
            </a:r>
          </a:p>
        </p:txBody>
      </p:sp>
      <p:sp>
        <p:nvSpPr>
          <p:cNvPr id="5" name="Rounded Rectangle 4"/>
          <p:cNvSpPr/>
          <p:nvPr/>
        </p:nvSpPr>
        <p:spPr>
          <a:xfrm>
            <a:off x="1097280" y="2926080"/>
            <a:ext cx="301752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F172A"/>
                </a:solidFill>
              </a:defRPr>
            </a:pPr>
            <a:r>
              <a:t>STEP 1</a:t>
            </a:r>
            <a:br/>
            <a:br/>
            <a:r>
              <a:t>GENUINE NEED</a:t>
            </a:r>
            <a:br/>
            <a:br/>
            <a:r>
              <a:t>Net 30 Units Verified</a:t>
            </a:r>
          </a:p>
        </p:txBody>
      </p:sp>
      <p:sp>
        <p:nvSpPr>
          <p:cNvPr id="6" name="Rounded Rectangle 5"/>
          <p:cNvSpPr/>
          <p:nvPr/>
        </p:nvSpPr>
        <p:spPr>
          <a:xfrm>
            <a:off x="4754880" y="2926080"/>
            <a:ext cx="301752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64748B"/>
                </a:solidFill>
              </a:defRPr>
            </a:pPr>
            <a:r>
              <a:t>STEP 2</a:t>
            </a:r>
            <a:br/>
            <a:br/>
            <a:r>
              <a:t>POSSIBLE VENDORS</a:t>
            </a:r>
            <a:br/>
            <a:br/>
            <a:r>
              <a:t>12 Registered Suppliers</a:t>
            </a:r>
          </a:p>
        </p:txBody>
      </p:sp>
      <p:sp>
        <p:nvSpPr>
          <p:cNvPr id="7" name="Rounded Rectangle 6"/>
          <p:cNvSpPr/>
          <p:nvPr/>
        </p:nvSpPr>
        <p:spPr>
          <a:xfrm>
            <a:off x="8412480" y="2926080"/>
            <a:ext cx="3017520" cy="2011680"/>
          </a:xfrm>
          <a:prstGeom prst="roundRect">
            <a:avLst/>
          </a:prstGeom>
          <a:solidFill>
            <a:srgbClr val="FFFFFF"/>
          </a:solidFill>
          <a:ln w="1905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2CE"/>
                </a:solidFill>
              </a:defRPr>
            </a:pPr>
            <a:r>
              <a:t>STEP 3</a:t>
            </a:r>
            <a:br/>
            <a:br/>
            <a:r>
              <a:t>INTELLIGENT SHORTLIST</a:t>
            </a:r>
            <a:br/>
            <a:br/>
            <a:r>
              <a:t>Top 3 Recommended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698480" cy="1280160"/>
          </a:xfrm>
          <a:prstGeom prst="rect">
            <a:avLst/>
          </a:prstGeom>
          <a:noFill/>
        </p:spPr>
        <p:txBody>
          <a:bodyPr wrap="none">
            <a:spAutoFit/>
          </a:bodyPr>
          <a:lstStyle/>
          <a:p>
            <a:pPr>
              <a:defRPr sz="3400" b="1">
                <a:solidFill>
                  <a:srgbClr val="0F172A"/>
                </a:solidFill>
              </a:defRPr>
            </a:pPr>
            <a:r>
              <a:t>A Vendor Score Can Tell You What Happened.</a:t>
            </a:r>
          </a:p>
        </p:txBody>
      </p:sp>
      <p:sp>
        <p:nvSpPr>
          <p:cNvPr id="5" name="Rounded Rectangle 4"/>
          <p:cNvSpPr/>
          <p:nvPr/>
        </p:nvSpPr>
        <p:spPr>
          <a:xfrm>
            <a:off x="4114800" y="2286000"/>
            <a:ext cx="3931920" cy="2194560"/>
          </a:xfrm>
          <a:prstGeom prst="roundRect">
            <a:avLst/>
          </a:prstGeom>
          <a:solidFill>
            <a:srgbClr val="FFFFFF"/>
          </a:solidFill>
          <a:ln w="1905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64748B"/>
                </a:solidFill>
              </a:defRPr>
            </a:pPr>
            <a:r>
              <a:t>VENDOR A</a:t>
            </a:r>
          </a:p>
          <a:p>
            <a:pPr algn="ctr">
              <a:spcBef>
                <a:spcPts val="800"/>
              </a:spcBef>
              <a:defRPr sz="5400" b="1">
                <a:solidFill>
                  <a:srgbClr val="0072CE"/>
                </a:solidFill>
              </a:defRPr>
            </a:pPr>
            <a:r>
              <a:t>82</a:t>
            </a:r>
          </a:p>
        </p:txBody>
      </p:sp>
      <p:sp>
        <p:nvSpPr>
          <p:cNvPr id="6" name="TextBox 5"/>
          <p:cNvSpPr txBox="1"/>
          <p:nvPr/>
        </p:nvSpPr>
        <p:spPr>
          <a:xfrm>
            <a:off x="731520" y="5029200"/>
            <a:ext cx="10698480" cy="914400"/>
          </a:xfrm>
          <a:prstGeom prst="rect">
            <a:avLst/>
          </a:prstGeom>
          <a:noFill/>
        </p:spPr>
        <p:txBody>
          <a:bodyPr wrap="none">
            <a:spAutoFit/>
          </a:bodyPr>
          <a:lstStyle/>
          <a:p>
            <a:pPr algn="ctr">
              <a:defRPr sz="3200" b="1">
                <a:solidFill>
                  <a:srgbClr val="001830"/>
                </a:solidFill>
              </a:defRPr>
            </a:pPr>
            <a:r>
              <a:t>"But Can It Tell You Why?"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0072CE"/>
                </a:solidFill>
              </a:defRPr>
            </a:pPr>
            <a:r>
              <a:t>DATA REMEMBERS</a:t>
            </a:r>
            <a:br/>
            <a:r>
              <a:t>THE NUMBERS</a:t>
            </a:r>
          </a:p>
          <a:p>
            <a:pPr>
              <a:spcBef>
                <a:spcPts val="2000"/>
              </a:spcBef>
              <a:defRPr sz="1800" b="1">
                <a:solidFill>
                  <a:srgbClr val="0F172A"/>
                </a:solidFill>
              </a:defRPr>
            </a:pPr>
            <a:r>
              <a:t>QUALITY: 94%</a:t>
            </a:r>
          </a:p>
          <a:p>
            <a:pPr>
              <a:spcBef>
                <a:spcPts val="2000"/>
              </a:spcBef>
              <a:defRPr sz="1800" b="1">
                <a:solidFill>
                  <a:srgbClr val="0F172A"/>
                </a:solidFill>
              </a:defRPr>
            </a:pPr>
            <a:r>
              <a:t>DELIVERY: 88%</a:t>
            </a:r>
          </a:p>
          <a:p>
            <a:pPr>
              <a:spcBef>
                <a:spcPts val="2000"/>
              </a:spcBef>
              <a:defRPr sz="1800" b="1">
                <a:solidFill>
                  <a:srgbClr val="0F172A"/>
                </a:solidFill>
              </a:defRPr>
            </a:pPr>
            <a:r>
              <a:t>RELIABILITY: 85%</a:t>
            </a:r>
          </a:p>
        </p:txBody>
      </p:sp>
      <p:sp>
        <p:nvSpPr>
          <p:cNvPr id="5" name="Rounded Rectangle 4"/>
          <p:cNvSpPr/>
          <p:nvPr/>
        </p:nvSpPr>
        <p:spPr>
          <a:xfrm>
            <a:off x="6309360" y="1280160"/>
            <a:ext cx="5120640" cy="4389120"/>
          </a:xfrm>
          <a:prstGeom prst="roundRect">
            <a:avLst/>
          </a:prstGeom>
          <a:solidFill>
            <a:srgbClr val="F1F5F9"/>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001830"/>
                </a:solidFill>
              </a:defRPr>
            </a:pPr>
            <a:r>
              <a:t>PEOPLE REMEMBER</a:t>
            </a:r>
            <a:br/>
            <a:r>
              <a:t>THE EXPERIENCE</a:t>
            </a:r>
          </a:p>
          <a:p>
            <a:pPr>
              <a:spcBef>
                <a:spcPts val="3000"/>
              </a:spcBef>
              <a:defRPr sz="2000" b="1">
                <a:solidFill>
                  <a:srgbClr val="0F172A"/>
                </a:solidFill>
              </a:defRPr>
            </a:pPr>
            <a:r>
              <a:t>"Delivery was recovered quickly.</a:t>
            </a:r>
            <a:br/>
            <a:r>
              <a:t>Communication wasn't."</a:t>
            </a:r>
          </a:p>
          <a:p>
            <a:pPr>
              <a:spcBef>
                <a:spcPts val="2000"/>
              </a:spcBef>
              <a:defRPr sz="1300">
                <a:solidFill>
                  <a:srgbClr val="64748B"/>
                </a:solidFill>
              </a:defRPr>
            </a:pPr>
            <a:r>
              <a:t>— Quarterly Vendor Survey Ingestion</a:t>
            </a:r>
          </a:p>
        </p:txBody>
      </p:sp>
      <p:sp>
        <p:nvSpPr>
          <p:cNvPr id="6" name="TextBox 5"/>
          <p:cNvSpPr txBox="1"/>
          <p:nvPr/>
        </p:nvSpPr>
        <p:spPr>
          <a:xfrm>
            <a:off x="731520" y="5943600"/>
            <a:ext cx="10698480" cy="548640"/>
          </a:xfrm>
          <a:prstGeom prst="rect">
            <a:avLst/>
          </a:prstGeom>
          <a:noFill/>
        </p:spPr>
        <p:txBody>
          <a:bodyPr wrap="none">
            <a:spAutoFit/>
          </a:bodyPr>
          <a:lstStyle/>
          <a:p>
            <a:pPr algn="ctr">
              <a:defRPr sz="1500" b="1">
                <a:solidFill>
                  <a:srgbClr val="64748B"/>
                </a:solidFill>
              </a:defRPr>
            </a:pPr>
            <a:r>
              <a:t>Structured data tells us what happened. Human experience helps us understand why.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698480" cy="1188720"/>
          </a:xfrm>
          <a:prstGeom prst="rect">
            <a:avLst/>
          </a:prstGeom>
          <a:noFill/>
        </p:spPr>
        <p:txBody>
          <a:bodyPr wrap="none">
            <a:spAutoFit/>
          </a:bodyPr>
          <a:lstStyle/>
          <a:p>
            <a:pPr>
              <a:defRPr sz="3400" b="1">
                <a:solidFill>
                  <a:srgbClr val="0F172A"/>
                </a:solidFill>
              </a:defRPr>
            </a:pPr>
            <a:r>
              <a:t>How Does Human Experience Become Intelligence?</a:t>
            </a:r>
          </a:p>
        </p:txBody>
      </p:sp>
      <p:sp>
        <p:nvSpPr>
          <p:cNvPr id="5" name="Rounded Rectangle 4"/>
          <p:cNvSpPr/>
          <p:nvPr/>
        </p:nvSpPr>
        <p:spPr>
          <a:xfrm>
            <a:off x="731520" y="2377440"/>
            <a:ext cx="2560320" cy="2377440"/>
          </a:xfrm>
          <a:prstGeom prst="roundRect">
            <a:avLst/>
          </a:prstGeom>
          <a:solidFill>
            <a:srgbClr val="FFFFFF"/>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4748B"/>
                </a:solidFill>
              </a:defRPr>
            </a:pPr>
            <a:r>
              <a:t>01</a:t>
            </a:r>
            <a:br/>
            <a:br/>
            <a:r>
              <a:t>QUARTERLY FEEDBACK</a:t>
            </a:r>
            <a:br/>
            <a:br/>
            <a:r>
              <a:t>Survey reviews &amp; notes</a:t>
            </a:r>
          </a:p>
        </p:txBody>
      </p:sp>
      <p:sp>
        <p:nvSpPr>
          <p:cNvPr id="6" name="Rounded Rectangle 5"/>
          <p:cNvSpPr/>
          <p:nvPr/>
        </p:nvSpPr>
        <p:spPr>
          <a:xfrm>
            <a:off x="3474720" y="2377440"/>
            <a:ext cx="2560320" cy="2377440"/>
          </a:xfrm>
          <a:prstGeom prst="roundRect">
            <a:avLst/>
          </a:prstGeom>
          <a:solidFill>
            <a:srgbClr val="FFFFFF"/>
          </a:solidFill>
          <a:ln w="1905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72CE"/>
                </a:solidFill>
              </a:defRPr>
            </a:pPr>
            <a:r>
              <a:t>02</a:t>
            </a:r>
            <a:br/>
            <a:br/>
            <a:r>
              <a:t>SEMANTIC RETRIEVAL</a:t>
            </a:r>
            <a:br/>
            <a:br/>
            <a:r>
              <a:t>Dense vector similarity</a:t>
            </a:r>
          </a:p>
        </p:txBody>
      </p:sp>
      <p:sp>
        <p:nvSpPr>
          <p:cNvPr id="7" name="Rounded Rectangle 6"/>
          <p:cNvSpPr/>
          <p:nvPr/>
        </p:nvSpPr>
        <p:spPr>
          <a:xfrm>
            <a:off x="6217920" y="2377440"/>
            <a:ext cx="2560320" cy="2377440"/>
          </a:xfrm>
          <a:prstGeom prst="roundRect">
            <a:avLst/>
          </a:prstGeom>
          <a:solidFill>
            <a:srgbClr val="FFFFFF"/>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A3E0"/>
                </a:solidFill>
              </a:defRPr>
            </a:pPr>
            <a:r>
              <a:t>03</a:t>
            </a:r>
            <a:br/>
            <a:br/>
            <a:r>
              <a:t>GROUNDED EVIDENCE</a:t>
            </a:r>
            <a:br/>
            <a:br/>
            <a:r>
              <a:t>Metrics + Retrieved Context</a:t>
            </a:r>
          </a:p>
        </p:txBody>
      </p:sp>
      <p:sp>
        <p:nvSpPr>
          <p:cNvPr id="8" name="Rounded Rectangle 7"/>
          <p:cNvSpPr/>
          <p:nvPr/>
        </p:nvSpPr>
        <p:spPr>
          <a:xfrm>
            <a:off x="8961120" y="2377440"/>
            <a:ext cx="2560320" cy="23774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0B981"/>
                </a:solidFill>
              </a:defRPr>
            </a:pPr>
            <a:r>
              <a:t>04</a:t>
            </a:r>
            <a:br/>
            <a:br/>
            <a:r>
              <a:t>SYNTHESIZED INSIGHT</a:t>
            </a:r>
            <a:br/>
            <a:br/>
            <a:r>
              <a:t>Strengths, Risks &amp; Badges</a:t>
            </a:r>
          </a:p>
        </p:txBody>
      </p:sp>
      <p:sp>
        <p:nvSpPr>
          <p:cNvPr id="9" name="TextBox 8"/>
          <p:cNvSpPr txBox="1"/>
          <p:nvPr/>
        </p:nvSpPr>
        <p:spPr>
          <a:xfrm>
            <a:off x="731520" y="5303520"/>
            <a:ext cx="10698480" cy="731520"/>
          </a:xfrm>
          <a:prstGeom prst="rect">
            <a:avLst/>
          </a:prstGeom>
          <a:noFill/>
        </p:spPr>
        <p:txBody>
          <a:bodyPr wrap="none">
            <a:spAutoFit/>
          </a:bodyPr>
          <a:lstStyle/>
          <a:p>
            <a:pPr algn="ctr">
              <a:defRPr sz="1700" b="1">
                <a:solidFill>
                  <a:srgbClr val="001830"/>
                </a:solidFill>
              </a:defRPr>
            </a:pPr>
            <a:r>
              <a:t>AI does not search the organization blindly. It reasons over retrieved evidence.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097280"/>
            <a:ext cx="5120640" cy="3931920"/>
          </a:xfrm>
          <a:prstGeom prst="roundRect">
            <a:avLst/>
          </a:prstGeom>
          <a:solidFill>
            <a:srgbClr val="0A2540"/>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2 + 2 = 4</a:t>
            </a:r>
            <a:br/>
            <a:br/>
            <a:r>
              <a:t>DON'T CALL AI.</a:t>
            </a:r>
          </a:p>
          <a:p>
            <a:br/>
            <a:pPr>
              <a:defRPr sz="1500">
                <a:solidFill>
                  <a:srgbClr val="94A3B8"/>
                </a:solidFill>
              </a:defRPr>
            </a:pPr>
            <a:r>
              <a:t>• Stock Shortage Math</a:t>
            </a:r>
            <a:br/>
            <a:r>
              <a:t>• ±20% Duplicate Window</a:t>
            </a:r>
            <a:br/>
            <a:r>
              <a:t>• Quotation Formula V2</a:t>
            </a:r>
            <a:br/>
            <a:r>
              <a:t>• Idempotent PO Records</a:t>
            </a:r>
          </a:p>
        </p:txBody>
      </p:sp>
      <p:sp>
        <p:nvSpPr>
          <p:cNvPr id="5" name="Rounded Rectangle 4"/>
          <p:cNvSpPr/>
          <p:nvPr/>
        </p:nvSpPr>
        <p:spPr>
          <a:xfrm>
            <a:off x="6309360" y="1097280"/>
            <a:ext cx="5120640" cy="3931920"/>
          </a:xfrm>
          <a:prstGeom prst="roundRect">
            <a:avLst/>
          </a:prstGeom>
          <a:solidFill>
            <a:srgbClr val="0A2540"/>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00A3E0"/>
                </a:solidFill>
              </a:defRPr>
            </a:pPr>
            <a:r>
              <a:t>"Which vendor is safer</a:t>
            </a:r>
            <a:br/>
            <a:r>
              <a:t>for this situation?"</a:t>
            </a:r>
            <a:br/>
            <a:br/>
            <a:r>
              <a:t>NOW AI HELPS.</a:t>
            </a:r>
          </a:p>
          <a:p>
            <a:br/>
            <a:pPr>
              <a:defRPr sz="1500">
                <a:solidFill>
                  <a:srgbClr val="FFFFFF"/>
                </a:solidFill>
              </a:defRPr>
            </a:pPr>
            <a:r>
              <a:t>• Review Sentiment Synthesis</a:t>
            </a:r>
            <a:br/>
            <a:r>
              <a:t>• Qualitative Risk Extraction</a:t>
            </a:r>
            <a:br/>
            <a:r>
              <a:t>• Contextual Copilot QA</a:t>
            </a:r>
          </a:p>
        </p:txBody>
      </p:sp>
      <p:sp>
        <p:nvSpPr>
          <p:cNvPr id="6" name="TextBox 5"/>
          <p:cNvSpPr txBox="1"/>
          <p:nvPr/>
        </p:nvSpPr>
        <p:spPr>
          <a:xfrm>
            <a:off x="731520" y="5303520"/>
            <a:ext cx="10698480" cy="914400"/>
          </a:xfrm>
          <a:prstGeom prst="rect">
            <a:avLst/>
          </a:prstGeom>
          <a:noFill/>
        </p:spPr>
        <p:txBody>
          <a:bodyPr wrap="none">
            <a:spAutoFit/>
          </a:bodyPr>
          <a:lstStyle/>
          <a:p>
            <a:pPr algn="ctr">
              <a:defRPr sz="2600" b="1">
                <a:solidFill>
                  <a:srgbClr val="10B981"/>
                </a:solidFill>
              </a:defRPr>
            </a:pPr>
            <a:r>
              <a:t>"WE USE AI FOR AMBIGUITY. NOT ARITHMETIC."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698480" cy="1188720"/>
          </a:xfrm>
          <a:prstGeom prst="rect">
            <a:avLst/>
          </a:prstGeom>
          <a:noFill/>
        </p:spPr>
        <p:txBody>
          <a:bodyPr wrap="none">
            <a:spAutoFit/>
          </a:bodyPr>
          <a:lstStyle/>
          <a:p>
            <a:pPr>
              <a:defRPr sz="3400" b="1">
                <a:solidFill>
                  <a:srgbClr val="0F172A"/>
                </a:solidFill>
              </a:defRPr>
            </a:pPr>
            <a:r>
              <a:t>And We Don't Pay for the Same Intelligence Twice.</a:t>
            </a:r>
          </a:p>
        </p:txBody>
      </p:sp>
      <p:sp>
        <p:nvSpPr>
          <p:cNvPr id="5" name="Rounded Rectangle 4"/>
          <p:cNvSpPr/>
          <p:nvPr/>
        </p:nvSpPr>
        <p:spPr>
          <a:xfrm>
            <a:off x="1097280" y="2286000"/>
            <a:ext cx="4572000" cy="256032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65F46"/>
                </a:solidFill>
              </a:defRPr>
            </a:pPr>
            <a:r>
              <a:t>SAME CONTEXT</a:t>
            </a:r>
            <a:br/>
            <a:br/>
            <a:r>
              <a:t>Snapshot Cache Hit</a:t>
            </a:r>
            <a:br/>
            <a:r>
              <a:t>0 Tokens Incurred</a:t>
            </a:r>
            <a:br/>
            <a:r>
              <a:t>Instant Sub-5ms Load</a:t>
            </a:r>
          </a:p>
        </p:txBody>
      </p:sp>
      <p:sp>
        <p:nvSpPr>
          <p:cNvPr id="6" name="Rounded Rectangle 5"/>
          <p:cNvSpPr/>
          <p:nvPr/>
        </p:nvSpPr>
        <p:spPr>
          <a:xfrm>
            <a:off x="6492240" y="2286000"/>
            <a:ext cx="4572000" cy="2560320"/>
          </a:xfrm>
          <a:prstGeom prst="roundRect">
            <a:avLst/>
          </a:prstGeom>
          <a:solidFill>
            <a:srgbClr val="FFFFFF"/>
          </a:solidFill>
          <a:ln w="1905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172A"/>
                </a:solidFill>
              </a:defRPr>
            </a:pPr>
            <a:r>
              <a:t>NEW CONTEXT</a:t>
            </a:r>
            <a:br/>
            <a:br/>
            <a:r>
              <a:t>Explicit User Click</a:t>
            </a:r>
            <a:br/>
            <a:r>
              <a:t>On-Demand RAG</a:t>
            </a:r>
            <a:br/>
            <a:r>
              <a:t>New Snapshot Version</a:t>
            </a:r>
          </a:p>
        </p:txBody>
      </p:sp>
      <p:sp>
        <p:nvSpPr>
          <p:cNvPr id="7" name="TextBox 6"/>
          <p:cNvSpPr txBox="1"/>
          <p:nvPr/>
        </p:nvSpPr>
        <p:spPr>
          <a:xfrm>
            <a:off x="731520" y="5303520"/>
            <a:ext cx="10698480" cy="731520"/>
          </a:xfrm>
          <a:prstGeom prst="rect">
            <a:avLst/>
          </a:prstGeom>
          <a:noFill/>
        </p:spPr>
        <p:txBody>
          <a:bodyPr wrap="none">
            <a:spAutoFit/>
          </a:bodyPr>
          <a:lstStyle/>
          <a:p>
            <a:pPr algn="ctr">
              <a:defRPr sz="1800" b="1">
                <a:solidFill>
                  <a:srgbClr val="001830"/>
                </a:solidFill>
              </a:defRPr>
            </a:pPr>
            <a:r>
              <a:t>AI should be expensive only when new intelligence is required.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0698480" cy="1645920"/>
          </a:xfrm>
          <a:prstGeom prst="rect">
            <a:avLst/>
          </a:prstGeom>
          <a:noFill/>
        </p:spPr>
        <p:txBody>
          <a:bodyPr wrap="none">
            <a:spAutoFit/>
          </a:bodyPr>
          <a:lstStyle/>
          <a:p>
            <a:pPr algn="ctr">
              <a:defRPr sz="3600" b="1">
                <a:solidFill>
                  <a:srgbClr val="FFFFFF"/>
                </a:solidFill>
              </a:defRPr>
            </a:pPr>
            <a:r>
              <a:t>RECOMMENDATION</a:t>
            </a:r>
            <a:br/>
            <a:r>
              <a:t>≠</a:t>
            </a:r>
            <a:br/>
            <a:r>
              <a:t>AUTHORITY</a:t>
            </a:r>
          </a:p>
        </p:txBody>
      </p:sp>
      <p:sp>
        <p:nvSpPr>
          <p:cNvPr id="5" name="Rounded Rectangle 4"/>
          <p:cNvSpPr/>
          <p:nvPr/>
        </p:nvSpPr>
        <p:spPr>
          <a:xfrm>
            <a:off x="1371600" y="3108960"/>
            <a:ext cx="4389120" cy="1645920"/>
          </a:xfrm>
          <a:prstGeom prst="roundRect">
            <a:avLst/>
          </a:prstGeom>
          <a:solidFill>
            <a:srgbClr val="0A2540"/>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AI RECOMMENDS</a:t>
            </a:r>
            <a:br/>
            <a:br/>
            <a:r>
              <a:t>Surfaces Evidence &amp; Scores</a:t>
            </a:r>
          </a:p>
        </p:txBody>
      </p:sp>
      <p:sp>
        <p:nvSpPr>
          <p:cNvPr id="6" name="Rounded Rectangle 5"/>
          <p:cNvSpPr/>
          <p:nvPr/>
        </p:nvSpPr>
        <p:spPr>
          <a:xfrm>
            <a:off x="6400800" y="3108960"/>
            <a:ext cx="4389120" cy="1645920"/>
          </a:xfrm>
          <a:prstGeom prst="roundRect">
            <a:avLst/>
          </a:prstGeom>
          <a:solidFill>
            <a:srgbClr val="0A254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59E0B"/>
                </a:solidFill>
              </a:defRPr>
            </a:pPr>
            <a:r>
              <a:t>HUMAN DECIDES</a:t>
            </a:r>
            <a:br/>
            <a:br/>
            <a:r>
              <a:t>Override Requires Justification</a:t>
            </a:r>
          </a:p>
        </p:txBody>
      </p:sp>
      <p:sp>
        <p:nvSpPr>
          <p:cNvPr id="7" name="TextBox 6"/>
          <p:cNvSpPr txBox="1"/>
          <p:nvPr/>
        </p:nvSpPr>
        <p:spPr>
          <a:xfrm>
            <a:off x="731520" y="5303520"/>
            <a:ext cx="10698480" cy="914400"/>
          </a:xfrm>
          <a:prstGeom prst="rect">
            <a:avLst/>
          </a:prstGeom>
          <a:noFill/>
        </p:spPr>
        <p:txBody>
          <a:bodyPr wrap="none">
            <a:spAutoFit/>
          </a:bodyPr>
          <a:lstStyle/>
          <a:p>
            <a:pPr algn="ctr">
              <a:defRPr sz="2200" b="1">
                <a:solidFill>
                  <a:srgbClr val="00A3E0"/>
                </a:solidFill>
              </a:defRPr>
            </a:pPr>
            <a:r>
              <a:t>"The System Owns Intelligence. Humans Own Accountability."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698480" cy="1280160"/>
          </a:xfrm>
          <a:prstGeom prst="rect">
            <a:avLst/>
          </a:prstGeom>
          <a:noFill/>
        </p:spPr>
        <p:txBody>
          <a:bodyPr wrap="none">
            <a:spAutoFit/>
          </a:bodyPr>
          <a:lstStyle/>
          <a:p>
            <a:pPr>
              <a:defRPr sz="3600" b="1">
                <a:solidFill>
                  <a:srgbClr val="0F172A"/>
                </a:solidFill>
              </a:defRPr>
            </a:pPr>
            <a:r>
              <a:t>A Recommendation Isn't a Purchase Order.</a:t>
            </a:r>
          </a:p>
          <a:p>
            <a:pPr>
              <a:defRPr sz="1600">
                <a:solidFill>
                  <a:srgbClr val="64748B"/>
                </a:solidFill>
              </a:defRPr>
            </a:pPr>
            <a:r>
              <a:t>From Candidate Shortlist to Competitive Market RFQ</a:t>
            </a:r>
          </a:p>
        </p:txBody>
      </p:sp>
      <p:sp>
        <p:nvSpPr>
          <p:cNvPr id="5" name="Rounded Rectangle 4"/>
          <p:cNvSpPr/>
          <p:nvPr/>
        </p:nvSpPr>
        <p:spPr>
          <a:xfrm>
            <a:off x="731520" y="2560320"/>
            <a:ext cx="2560320" cy="2194560"/>
          </a:xfrm>
          <a:prstGeom prst="roundRect">
            <a:avLst/>
          </a:prstGeom>
          <a:solidFill>
            <a:srgbClr val="FFFFFF"/>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64748B"/>
                </a:solidFill>
              </a:defRPr>
            </a:pPr>
            <a:r>
              <a:t>01</a:t>
            </a:r>
            <a:br/>
            <a:br/>
            <a:r>
              <a:t>RECOMMEND</a:t>
            </a:r>
            <a:br/>
            <a:br/>
            <a:r>
              <a:t>Top 3 Suppliers</a:t>
            </a:r>
          </a:p>
        </p:txBody>
      </p:sp>
      <p:sp>
        <p:nvSpPr>
          <p:cNvPr id="6" name="Rounded Rectangle 5"/>
          <p:cNvSpPr/>
          <p:nvPr/>
        </p:nvSpPr>
        <p:spPr>
          <a:xfrm>
            <a:off x="3474720" y="2560320"/>
            <a:ext cx="2560320" cy="2194560"/>
          </a:xfrm>
          <a:prstGeom prst="roundRect">
            <a:avLst/>
          </a:prstGeom>
          <a:solidFill>
            <a:srgbClr val="FFFFFF"/>
          </a:solidFill>
          <a:ln w="1905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2CE"/>
                </a:solidFill>
              </a:defRPr>
            </a:pPr>
            <a:r>
              <a:t>02</a:t>
            </a:r>
            <a:br/>
            <a:br/>
            <a:r>
              <a:t>INVITE</a:t>
            </a:r>
            <a:br/>
            <a:br/>
            <a:r>
              <a:t>Multi-Vendor RFQ</a:t>
            </a:r>
          </a:p>
        </p:txBody>
      </p:sp>
      <p:sp>
        <p:nvSpPr>
          <p:cNvPr id="7" name="Rounded Rectangle 6"/>
          <p:cNvSpPr/>
          <p:nvPr/>
        </p:nvSpPr>
        <p:spPr>
          <a:xfrm>
            <a:off x="6217920" y="2560320"/>
            <a:ext cx="2560320" cy="2194560"/>
          </a:xfrm>
          <a:prstGeom prst="roundRect">
            <a:avLst/>
          </a:prstGeom>
          <a:solidFill>
            <a:srgbClr val="FFFFFF"/>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A3E0"/>
                </a:solidFill>
              </a:defRPr>
            </a:pPr>
            <a:r>
              <a:t>03</a:t>
            </a:r>
            <a:br/>
            <a:br/>
            <a:r>
              <a:t>COMPETE</a:t>
            </a:r>
            <a:br/>
            <a:br/>
            <a:r>
              <a:t>Supplier Portal Bids</a:t>
            </a:r>
          </a:p>
        </p:txBody>
      </p:sp>
      <p:sp>
        <p:nvSpPr>
          <p:cNvPr id="8" name="Rounded Rectangle 7"/>
          <p:cNvSpPr/>
          <p:nvPr/>
        </p:nvSpPr>
        <p:spPr>
          <a:xfrm>
            <a:off x="8961120" y="2560320"/>
            <a:ext cx="2560320" cy="21945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0B981"/>
                </a:solidFill>
              </a:defRPr>
            </a:pPr>
            <a:r>
              <a:t>04</a:t>
            </a:r>
            <a:br/>
            <a:br/>
            <a:r>
              <a:t>COMPARE</a:t>
            </a:r>
            <a:br/>
            <a:br/>
            <a:r>
              <a:t>5-Factor Model V2</a:t>
            </a:r>
          </a:p>
        </p:txBody>
      </p:sp>
      <p:sp>
        <p:nvSpPr>
          <p:cNvPr id="9" name="TextBox 8"/>
          <p:cNvSpPr txBox="1"/>
          <p:nvPr/>
        </p:nvSpPr>
        <p:spPr>
          <a:xfrm>
            <a:off x="731520" y="5303520"/>
            <a:ext cx="10698480" cy="731520"/>
          </a:xfrm>
          <a:prstGeom prst="rect">
            <a:avLst/>
          </a:prstGeom>
          <a:noFill/>
        </p:spPr>
        <p:txBody>
          <a:bodyPr wrap="none">
            <a:spAutoFit/>
          </a:bodyPr>
          <a:lstStyle/>
          <a:p>
            <a:pPr algn="ctr">
              <a:defRPr sz="1700" b="1">
                <a:solidFill>
                  <a:srgbClr val="001830"/>
                </a:solidFill>
              </a:defRPr>
            </a:pPr>
            <a:r>
              <a:t>Recommendation identifies who to consider. Competition reveals the actual offer.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698480" cy="1188720"/>
          </a:xfrm>
          <a:prstGeom prst="rect">
            <a:avLst/>
          </a:prstGeom>
          <a:noFill/>
        </p:spPr>
        <p:txBody>
          <a:bodyPr wrap="none">
            <a:spAutoFit/>
          </a:bodyPr>
          <a:lstStyle/>
          <a:p>
            <a:pPr>
              <a:defRPr sz="3400" b="1">
                <a:solidFill>
                  <a:srgbClr val="0F172A"/>
                </a:solidFill>
              </a:defRPr>
            </a:pPr>
            <a:r>
              <a:t>Three Vendors. Three Different Trade-Offs.</a:t>
            </a:r>
          </a:p>
        </p:txBody>
      </p:sp>
      <p:sp>
        <p:nvSpPr>
          <p:cNvPr id="5" name="Rounded Rectangle 4"/>
          <p:cNvSpPr/>
          <p:nvPr/>
        </p:nvSpPr>
        <p:spPr>
          <a:xfrm>
            <a:off x="731520" y="2194560"/>
            <a:ext cx="3383280" cy="2377440"/>
          </a:xfrm>
          <a:prstGeom prst="roundRect">
            <a:avLst/>
          </a:prstGeom>
          <a:solidFill>
            <a:srgbClr val="FFFFFF"/>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F172A"/>
                </a:solidFill>
              </a:defRPr>
            </a:pPr>
            <a:r>
              <a:t>VENDOR A</a:t>
            </a:r>
            <a:br/>
            <a:br/>
            <a:r>
              <a:t>$42 / Unit</a:t>
            </a:r>
            <a:br/>
            <a:r>
              <a:t>7 Days Lead Time</a:t>
            </a:r>
            <a:br/>
            <a:r>
              <a:t>88% Quality</a:t>
            </a:r>
          </a:p>
        </p:txBody>
      </p:sp>
      <p:sp>
        <p:nvSpPr>
          <p:cNvPr id="6" name="Rounded Rectangle 5"/>
          <p:cNvSpPr/>
          <p:nvPr/>
        </p:nvSpPr>
        <p:spPr>
          <a:xfrm>
            <a:off x="4389120" y="2194560"/>
            <a:ext cx="3383280" cy="23774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F172A"/>
                </a:solidFill>
              </a:defRPr>
            </a:pPr>
            <a:r>
              <a:t>VENDOR B</a:t>
            </a:r>
            <a:br/>
            <a:br/>
            <a:r>
              <a:t>$48 / Unit</a:t>
            </a:r>
            <a:br/>
            <a:r>
              <a:t>2 Days Lead Time</a:t>
            </a:r>
            <a:br/>
            <a:r>
              <a:t>96% Quality</a:t>
            </a:r>
          </a:p>
        </p:txBody>
      </p:sp>
      <p:sp>
        <p:nvSpPr>
          <p:cNvPr id="7" name="Rounded Rectangle 6"/>
          <p:cNvSpPr/>
          <p:nvPr/>
        </p:nvSpPr>
        <p:spPr>
          <a:xfrm>
            <a:off x="8046720" y="2194560"/>
            <a:ext cx="3383280" cy="2377440"/>
          </a:xfrm>
          <a:prstGeom prst="roundRect">
            <a:avLst/>
          </a:prstGeom>
          <a:solidFill>
            <a:srgbClr val="FFFFFF"/>
          </a:solidFill>
          <a:ln w="1905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F172A"/>
                </a:solidFill>
              </a:defRPr>
            </a:pPr>
            <a:r>
              <a:t>VENDOR C</a:t>
            </a:r>
            <a:br/>
            <a:br/>
            <a:r>
              <a:t>$45 / Unit</a:t>
            </a:r>
            <a:br/>
            <a:r>
              <a:t>4 Days Lead Time</a:t>
            </a:r>
            <a:br/>
            <a:r>
              <a:t>91% Quality</a:t>
            </a:r>
          </a:p>
        </p:txBody>
      </p:sp>
      <p:sp>
        <p:nvSpPr>
          <p:cNvPr id="8" name="TextBox 7"/>
          <p:cNvSpPr txBox="1"/>
          <p:nvPr/>
        </p:nvSpPr>
        <p:spPr>
          <a:xfrm>
            <a:off x="731520" y="4846320"/>
            <a:ext cx="10698480" cy="1371600"/>
          </a:xfrm>
          <a:prstGeom prst="rect">
            <a:avLst/>
          </a:prstGeom>
          <a:noFill/>
        </p:spPr>
        <p:txBody>
          <a:bodyPr wrap="none">
            <a:spAutoFit/>
          </a:bodyPr>
          <a:lstStyle/>
          <a:p>
            <a:pPr algn="ctr">
              <a:defRPr sz="1400">
                <a:solidFill>
                  <a:srgbClr val="64748B"/>
                </a:solidFill>
              </a:defRPr>
            </a:pPr>
            <a:r>
              <a:t>5-Factor Model V2: Price (35%) + Delivery Date (20%) + Lead Time (15%) + Reliability (15%) + Quality (15%)</a:t>
            </a:r>
          </a:p>
          <a:p>
            <a:pPr algn="ctr">
              <a:spcBef>
                <a:spcPts val="800"/>
              </a:spcBef>
              <a:defRPr sz="1800" b="1">
                <a:solidFill>
                  <a:srgbClr val="001830"/>
                </a:solidFill>
              </a:defRPr>
            </a:pPr>
            <a:r>
              <a:t>"We don't optimize for the cheapest quote. We optimize for the best procurement outcome."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698480" cy="1280160"/>
          </a:xfrm>
          <a:prstGeom prst="rect">
            <a:avLst/>
          </a:prstGeom>
          <a:noFill/>
        </p:spPr>
        <p:txBody>
          <a:bodyPr wrap="none">
            <a:spAutoFit/>
          </a:bodyPr>
          <a:lstStyle/>
          <a:p>
            <a:pPr>
              <a:defRPr sz="3400" b="1">
                <a:solidFill>
                  <a:srgbClr val="0F172A"/>
                </a:solidFill>
              </a:defRPr>
            </a:pPr>
            <a:r>
              <a:t>Intelligence Is Useless If Execution Isn't Reliable.</a:t>
            </a:r>
          </a:p>
        </p:txBody>
      </p:sp>
      <p:sp>
        <p:nvSpPr>
          <p:cNvPr id="5" name="Rounded Rectangle 4"/>
          <p:cNvSpPr/>
          <p:nvPr/>
        </p:nvSpPr>
        <p:spPr>
          <a:xfrm>
            <a:off x="1097280" y="2560320"/>
            <a:ext cx="292608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172A"/>
                </a:solidFill>
              </a:defRPr>
            </a:pPr>
            <a:r>
              <a:t>SUPERVISOR</a:t>
            </a:r>
            <a:br/>
            <a:r>
              <a:t>APPROVAL</a:t>
            </a:r>
            <a:br/>
            <a:br/>
            <a:r>
              <a:t>Final Sign-off</a:t>
            </a:r>
          </a:p>
        </p:txBody>
      </p:sp>
      <p:sp>
        <p:nvSpPr>
          <p:cNvPr id="6" name="Rounded Rectangle 5"/>
          <p:cNvSpPr/>
          <p:nvPr/>
        </p:nvSpPr>
        <p:spPr>
          <a:xfrm>
            <a:off x="4663440" y="2560320"/>
            <a:ext cx="2926080" cy="2011680"/>
          </a:xfrm>
          <a:prstGeom prst="roundRect">
            <a:avLst/>
          </a:prstGeom>
          <a:solidFill>
            <a:srgbClr val="FFFFFF"/>
          </a:solidFill>
          <a:ln w="1905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72CE"/>
                </a:solidFill>
              </a:defRPr>
            </a:pPr>
            <a:r>
              <a:t>IDEMPOTENT</a:t>
            </a:r>
            <a:br/>
            <a:r>
              <a:t>PO ENGINE</a:t>
            </a:r>
            <a:br/>
            <a:br/>
            <a:r>
              <a:t>Zero Duplicate Risk</a:t>
            </a:r>
          </a:p>
        </p:txBody>
      </p:sp>
      <p:sp>
        <p:nvSpPr>
          <p:cNvPr id="7" name="Rounded Rectangle 6"/>
          <p:cNvSpPr/>
          <p:nvPr/>
        </p:nvSpPr>
        <p:spPr>
          <a:xfrm>
            <a:off x="8229600" y="2560320"/>
            <a:ext cx="2926080" cy="20116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0B981"/>
                </a:solidFill>
              </a:defRPr>
            </a:pPr>
            <a:r>
              <a:t>OFFICIAL PO</a:t>
            </a:r>
            <a:br/>
            <a:r>
              <a:t>&amp; PDF ISSUED</a:t>
            </a:r>
            <a:br/>
            <a:br/>
            <a:r>
              <a:t>Instant Vendor Alert</a:t>
            </a:r>
          </a:p>
        </p:txBody>
      </p:sp>
      <p:sp>
        <p:nvSpPr>
          <p:cNvPr id="8" name="TextBox 7"/>
          <p:cNvSpPr txBox="1"/>
          <p:nvPr/>
        </p:nvSpPr>
        <p:spPr>
          <a:xfrm>
            <a:off x="731520" y="5303520"/>
            <a:ext cx="10698480" cy="731520"/>
          </a:xfrm>
          <a:prstGeom prst="rect">
            <a:avLst/>
          </a:prstGeom>
          <a:noFill/>
        </p:spPr>
        <p:txBody>
          <a:bodyPr wrap="none">
            <a:spAutoFit/>
          </a:bodyPr>
          <a:lstStyle/>
          <a:p>
            <a:pPr algn="ctr">
              <a:defRPr sz="1800" b="1">
                <a:solidFill>
                  <a:srgbClr val="001830"/>
                </a:solidFill>
              </a:defRPr>
            </a:pPr>
            <a:r>
              <a:t>One Decision → One Safe, Legally Binding Purchase Order.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698480" cy="1280160"/>
          </a:xfrm>
          <a:prstGeom prst="rect">
            <a:avLst/>
          </a:prstGeom>
          <a:noFill/>
        </p:spPr>
        <p:txBody>
          <a:bodyPr wrap="none">
            <a:spAutoFit/>
          </a:bodyPr>
          <a:lstStyle/>
          <a:p>
            <a:pPr>
              <a:defRPr sz="3200" b="1">
                <a:solidFill>
                  <a:srgbClr val="0F172A"/>
                </a:solidFill>
              </a:defRPr>
            </a:pPr>
            <a:r>
              <a:t>The Prototype Is Simulated.</a:t>
            </a:r>
            <a:br/>
            <a:r>
              <a:t>The Architecture Is Designed to Connect.</a:t>
            </a:r>
          </a:p>
        </p:txBody>
      </p:sp>
      <p:sp>
        <p:nvSpPr>
          <p:cNvPr id="5" name="Rounded Rectangle 4"/>
          <p:cNvSpPr/>
          <p:nvPr/>
        </p:nvSpPr>
        <p:spPr>
          <a:xfrm>
            <a:off x="731520" y="2560320"/>
            <a:ext cx="320040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64748B"/>
                </a:solidFill>
              </a:defRPr>
            </a:pPr>
            <a:r>
              <a:t>TODAY (PROTOTYPE)</a:t>
            </a:r>
            <a:br/>
            <a:br/>
            <a:r>
              <a:t>• Simulated Stock Data</a:t>
            </a:r>
            <a:br/>
            <a:r>
              <a:t>• Ingested Survey CSVs</a:t>
            </a:r>
            <a:br/>
            <a:r>
              <a:t>• Local SQLite Schema</a:t>
            </a:r>
          </a:p>
        </p:txBody>
      </p:sp>
      <p:sp>
        <p:nvSpPr>
          <p:cNvPr id="6" name="Rounded Rectangle 5"/>
          <p:cNvSpPr/>
          <p:nvPr/>
        </p:nvSpPr>
        <p:spPr>
          <a:xfrm>
            <a:off x="4480560" y="2560320"/>
            <a:ext cx="3200400" cy="2194560"/>
          </a:xfrm>
          <a:prstGeom prst="roundRect">
            <a:avLst/>
          </a:prstGeom>
          <a:solidFill>
            <a:srgbClr val="EFF6FF"/>
          </a:solidFill>
          <a:ln w="1905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2CE"/>
                </a:solidFill>
              </a:defRPr>
            </a:pPr>
            <a:r>
              <a:t>IPMS ENGINE</a:t>
            </a:r>
            <a:br/>
            <a:br/>
            <a:r>
              <a:t>• RESTful API Contracts</a:t>
            </a:r>
            <a:br/>
            <a:r>
              <a:t>• Decision Machine</a:t>
            </a:r>
            <a:br/>
            <a:r>
              <a:t>• Pluggable AI / RAG</a:t>
            </a:r>
          </a:p>
        </p:txBody>
      </p:sp>
      <p:sp>
        <p:nvSpPr>
          <p:cNvPr id="7" name="Rounded Rectangle 6"/>
          <p:cNvSpPr/>
          <p:nvPr/>
        </p:nvSpPr>
        <p:spPr>
          <a:xfrm>
            <a:off x="8229600" y="2560320"/>
            <a:ext cx="3200400" cy="21945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F172A"/>
                </a:solidFill>
              </a:defRPr>
            </a:pPr>
            <a:r>
              <a:t>ENTERPRISE READY</a:t>
            </a:r>
            <a:br/>
            <a:br/>
            <a:r>
              <a:t>• SAP / Oracle ERP Cloud</a:t>
            </a:r>
            <a:br/>
            <a:r>
              <a:t>• SSO / Okta Auth</a:t>
            </a:r>
            <a:br/>
            <a:r>
              <a:t>• Warehouse MES Systems</a:t>
            </a:r>
          </a:p>
        </p:txBody>
      </p:sp>
      <p:sp>
        <p:nvSpPr>
          <p:cNvPr id="8" name="TextBox 7"/>
          <p:cNvSpPr txBox="1"/>
          <p:nvPr/>
        </p:nvSpPr>
        <p:spPr>
          <a:xfrm>
            <a:off x="731520" y="5303520"/>
            <a:ext cx="10698480" cy="731520"/>
          </a:xfrm>
          <a:prstGeom prst="rect">
            <a:avLst/>
          </a:prstGeom>
          <a:noFill/>
        </p:spPr>
        <p:txBody>
          <a:bodyPr wrap="none">
            <a:spAutoFit/>
          </a:bodyPr>
          <a:lstStyle/>
          <a:p>
            <a:pPr algn="ctr">
              <a:defRPr sz="1700" b="1">
                <a:solidFill>
                  <a:srgbClr val="001830"/>
                </a:solidFill>
              </a:defRPr>
            </a:pPr>
            <a:r>
              <a:t>The intelligence layer is built around decision contracts, not where data originates.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698480" cy="1188720"/>
          </a:xfrm>
          <a:prstGeom prst="rect">
            <a:avLst/>
          </a:prstGeom>
          <a:noFill/>
        </p:spPr>
        <p:txBody>
          <a:bodyPr wrap="none">
            <a:spAutoFit/>
          </a:bodyPr>
          <a:lstStyle/>
          <a:p>
            <a:pPr>
              <a:defRPr sz="3400" b="1">
                <a:solidFill>
                  <a:srgbClr val="0F172A"/>
                </a:solidFill>
              </a:defRPr>
            </a:pPr>
            <a:r>
              <a:t>Alignment with Micron Technology Values</a:t>
            </a:r>
          </a:p>
        </p:txBody>
      </p:sp>
      <p:sp>
        <p:nvSpPr>
          <p:cNvPr id="5" name="Rounded Rectangle 4"/>
          <p:cNvSpPr/>
          <p:nvPr/>
        </p:nvSpPr>
        <p:spPr>
          <a:xfrm>
            <a:off x="731520" y="2377440"/>
            <a:ext cx="2560320" cy="2377440"/>
          </a:xfrm>
          <a:prstGeom prst="roundRect">
            <a:avLst/>
          </a:prstGeom>
          <a:solidFill>
            <a:srgbClr val="FFFFFF"/>
          </a:solidFill>
          <a:ln w="1905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72CE"/>
                </a:solidFill>
              </a:defRPr>
            </a:pPr>
            <a:r>
              <a:t>PEOPLE</a:t>
            </a:r>
            <a:br/>
            <a:br/>
            <a:r>
              <a:t>Human experience fuels organizational intelligence</a:t>
            </a:r>
          </a:p>
        </p:txBody>
      </p:sp>
      <p:sp>
        <p:nvSpPr>
          <p:cNvPr id="6" name="Rounded Rectangle 5"/>
          <p:cNvSpPr/>
          <p:nvPr/>
        </p:nvSpPr>
        <p:spPr>
          <a:xfrm>
            <a:off x="3474720" y="2377440"/>
            <a:ext cx="2560320" cy="2377440"/>
          </a:xfrm>
          <a:prstGeom prst="roundRect">
            <a:avLst/>
          </a:prstGeom>
          <a:solidFill>
            <a:srgbClr val="FFFFFF"/>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A3E0"/>
                </a:solidFill>
              </a:defRPr>
            </a:pPr>
            <a:r>
              <a:t>INNOVATION</a:t>
            </a:r>
            <a:br/>
            <a:br/>
            <a:r>
              <a:t>Hybrid deterministic + RAG AI architecture</a:t>
            </a:r>
          </a:p>
        </p:txBody>
      </p:sp>
      <p:sp>
        <p:nvSpPr>
          <p:cNvPr id="7" name="Rounded Rectangle 6"/>
          <p:cNvSpPr/>
          <p:nvPr/>
        </p:nvSpPr>
        <p:spPr>
          <a:xfrm>
            <a:off x="6217920" y="2377440"/>
            <a:ext cx="2560320" cy="2377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defRPr>
            </a:pPr>
            <a:r>
              <a:t>COLLABORATION</a:t>
            </a:r>
            <a:br/>
            <a:br/>
            <a:r>
              <a:t>Unified workflow for Requesters, Buyers &amp; Vendors</a:t>
            </a:r>
          </a:p>
        </p:txBody>
      </p:sp>
      <p:sp>
        <p:nvSpPr>
          <p:cNvPr id="8" name="Rounded Rectangle 7"/>
          <p:cNvSpPr/>
          <p:nvPr/>
        </p:nvSpPr>
        <p:spPr>
          <a:xfrm>
            <a:off x="8961120" y="2377440"/>
            <a:ext cx="2560320" cy="23774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0B981"/>
                </a:solidFill>
              </a:defRPr>
            </a:pPr>
            <a:r>
              <a:t>TENACITY &amp; QUALITY</a:t>
            </a:r>
            <a:br/>
            <a:br/>
            <a:r>
              <a:t>Governed overrides, audited revisions &amp; SLA tracking</a:t>
            </a:r>
          </a:p>
        </p:txBody>
      </p:sp>
      <p:sp>
        <p:nvSpPr>
          <p:cNvPr id="9" name="TextBox 8"/>
          <p:cNvSpPr txBox="1"/>
          <p:nvPr/>
        </p:nvSpPr>
        <p:spPr>
          <a:xfrm>
            <a:off x="731520" y="5303520"/>
            <a:ext cx="10698480" cy="731520"/>
          </a:xfrm>
          <a:prstGeom prst="rect">
            <a:avLst/>
          </a:prstGeom>
          <a:noFill/>
        </p:spPr>
        <p:txBody>
          <a:bodyPr wrap="none">
            <a:spAutoFit/>
          </a:bodyPr>
          <a:lstStyle/>
          <a:p>
            <a:pPr algn="ctr">
              <a:defRPr sz="1700" b="1">
                <a:solidFill>
                  <a:srgbClr val="001830"/>
                </a:solidFill>
              </a:defRPr>
            </a:pPr>
            <a:r>
              <a:t>"We didn't just apply AI to procurement. We designed intelligence around responsible decisions."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698480" cy="1188720"/>
          </a:xfrm>
          <a:prstGeom prst="rect">
            <a:avLst/>
          </a:prstGeom>
          <a:noFill/>
        </p:spPr>
        <p:txBody>
          <a:bodyPr wrap="none">
            <a:spAutoFit/>
          </a:bodyPr>
          <a:lstStyle/>
          <a:p>
            <a:pPr>
              <a:defRPr sz="3400" b="1">
                <a:solidFill>
                  <a:srgbClr val="0F172A"/>
                </a:solidFill>
              </a:defRPr>
            </a:pPr>
            <a:r>
              <a:t>So What Does Better Intelligence Actually Create?</a:t>
            </a:r>
          </a:p>
        </p:txBody>
      </p:sp>
      <p:sp>
        <p:nvSpPr>
          <p:cNvPr id="5" name="Rounded Rectangle 4"/>
          <p:cNvSpPr/>
          <p:nvPr/>
        </p:nvSpPr>
        <p:spPr>
          <a:xfrm>
            <a:off x="731520" y="2377440"/>
            <a:ext cx="2560320" cy="23774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0B981"/>
                </a:solidFill>
              </a:defRPr>
            </a:pPr>
            <a:r>
              <a:t>LESS WASTE</a:t>
            </a:r>
            <a:br/>
            <a:br/>
            <a:r>
              <a:t>Inventory checks prevent unneeded spend</a:t>
            </a:r>
          </a:p>
        </p:txBody>
      </p:sp>
      <p:sp>
        <p:nvSpPr>
          <p:cNvPr id="6" name="Rounded Rectangle 5"/>
          <p:cNvSpPr/>
          <p:nvPr/>
        </p:nvSpPr>
        <p:spPr>
          <a:xfrm>
            <a:off x="3474720" y="2377440"/>
            <a:ext cx="2560320" cy="237744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59E0B"/>
                </a:solidFill>
              </a:defRPr>
            </a:pPr>
            <a:r>
              <a:t>LESS DUPLICATION</a:t>
            </a:r>
            <a:br/>
            <a:br/>
            <a:r>
              <a:t>±20% duplicate window flags double buys</a:t>
            </a:r>
          </a:p>
        </p:txBody>
      </p:sp>
      <p:sp>
        <p:nvSpPr>
          <p:cNvPr id="7" name="Rounded Rectangle 6"/>
          <p:cNvSpPr/>
          <p:nvPr/>
        </p:nvSpPr>
        <p:spPr>
          <a:xfrm>
            <a:off x="6217920" y="2377440"/>
            <a:ext cx="2560320" cy="2377440"/>
          </a:xfrm>
          <a:prstGeom prst="roundRect">
            <a:avLst/>
          </a:prstGeom>
          <a:solidFill>
            <a:srgbClr val="FFFFFF"/>
          </a:solidFill>
          <a:ln w="1905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72CE"/>
                </a:solidFill>
              </a:defRPr>
            </a:pPr>
            <a:r>
              <a:t>BETTER OUTCOMES</a:t>
            </a:r>
            <a:br/>
            <a:br/>
            <a:r>
              <a:t>5-Factor Model V2 balances price &amp; SLAs</a:t>
            </a:r>
          </a:p>
        </p:txBody>
      </p:sp>
      <p:sp>
        <p:nvSpPr>
          <p:cNvPr id="8" name="Rounded Rectangle 7"/>
          <p:cNvSpPr/>
          <p:nvPr/>
        </p:nvSpPr>
        <p:spPr>
          <a:xfrm>
            <a:off x="8961120" y="2377440"/>
            <a:ext cx="2560320" cy="2377440"/>
          </a:xfrm>
          <a:prstGeom prst="roundRect">
            <a:avLst/>
          </a:prstGeom>
          <a:solidFill>
            <a:srgbClr val="FFFFFF"/>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A3E0"/>
                </a:solidFill>
              </a:defRPr>
            </a:pPr>
            <a:r>
              <a:t>MORE TIME</a:t>
            </a:r>
            <a:br/>
            <a:br/>
            <a:r>
              <a:t>Instant context replaces manual searching</a:t>
            </a:r>
          </a:p>
        </p:txBody>
      </p:sp>
      <p:sp>
        <p:nvSpPr>
          <p:cNvPr id="9" name="TextBox 8"/>
          <p:cNvSpPr txBox="1"/>
          <p:nvPr/>
        </p:nvSpPr>
        <p:spPr>
          <a:xfrm>
            <a:off x="731520" y="5303520"/>
            <a:ext cx="10698480" cy="731520"/>
          </a:xfrm>
          <a:prstGeom prst="rect">
            <a:avLst/>
          </a:prstGeom>
          <a:noFill/>
        </p:spPr>
        <p:txBody>
          <a:bodyPr wrap="none">
            <a:spAutoFit/>
          </a:bodyPr>
          <a:lstStyle/>
          <a:p>
            <a:pPr algn="ctr">
              <a:defRPr sz="1600" b="1">
                <a:solidFill>
                  <a:srgbClr val="001830"/>
                </a:solidFill>
              </a:defRPr>
            </a:pPr>
            <a:r>
              <a:t>The ROI comes from empowering professionals to make decisions instead of hunting for data.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698480" cy="1188720"/>
          </a:xfrm>
          <a:prstGeom prst="rect">
            <a:avLst/>
          </a:prstGeom>
          <a:noFill/>
        </p:spPr>
        <p:txBody>
          <a:bodyPr wrap="none">
            <a:spAutoFit/>
          </a:bodyPr>
          <a:lstStyle/>
          <a:p>
            <a:pPr>
              <a:defRPr sz="3600" b="1">
                <a:solidFill>
                  <a:srgbClr val="FFFFFF"/>
                </a:solidFill>
              </a:defRPr>
            </a:pPr>
            <a:r>
              <a:t>Every Decision Has a Measurable Value.</a:t>
            </a:r>
          </a:p>
        </p:txBody>
      </p:sp>
      <p:sp>
        <p:nvSpPr>
          <p:cNvPr id="5" name="Rounded Rectangle 4"/>
          <p:cNvSpPr/>
          <p:nvPr/>
        </p:nvSpPr>
        <p:spPr>
          <a:xfrm>
            <a:off x="731520" y="2194560"/>
            <a:ext cx="2560320" cy="2011680"/>
          </a:xfrm>
          <a:prstGeom prst="roundRect">
            <a:avLst/>
          </a:prstGeom>
          <a:solidFill>
            <a:srgbClr val="0A2540"/>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DON'T BUY</a:t>
            </a:r>
            <a:br/>
            <a:r>
              <a:t>WHAT YOU HAVE</a:t>
            </a:r>
            <a:br/>
            <a:br/>
            <a:r>
              <a:t>Stock Avoidance</a:t>
            </a:r>
            <a:br/>
            <a:r>
              <a:t>[Qty × Cost]</a:t>
            </a:r>
          </a:p>
        </p:txBody>
      </p:sp>
      <p:sp>
        <p:nvSpPr>
          <p:cNvPr id="6" name="Rounded Rectangle 5"/>
          <p:cNvSpPr/>
          <p:nvPr/>
        </p:nvSpPr>
        <p:spPr>
          <a:xfrm>
            <a:off x="3474720" y="2194560"/>
            <a:ext cx="2560320" cy="2011680"/>
          </a:xfrm>
          <a:prstGeom prst="roundRect">
            <a:avLst/>
          </a:prstGeom>
          <a:solidFill>
            <a:srgbClr val="0A2540"/>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DON'T BUY</a:t>
            </a:r>
            <a:br/>
            <a:r>
              <a:t>TWICE</a:t>
            </a:r>
            <a:br/>
            <a:br/>
            <a:r>
              <a:t>Duplicate Avoidance</a:t>
            </a:r>
            <a:br/>
            <a:r>
              <a:t>[PR Value]</a:t>
            </a:r>
          </a:p>
        </p:txBody>
      </p:sp>
      <p:sp>
        <p:nvSpPr>
          <p:cNvPr id="7" name="Rounded Rectangle 6"/>
          <p:cNvSpPr/>
          <p:nvPr/>
        </p:nvSpPr>
        <p:spPr>
          <a:xfrm>
            <a:off x="6217920" y="2194560"/>
            <a:ext cx="2560320" cy="2011680"/>
          </a:xfrm>
          <a:prstGeom prst="roundRect">
            <a:avLst/>
          </a:prstGeom>
          <a:solidFill>
            <a:srgbClr val="0A2540"/>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CHOOSE</a:t>
            </a:r>
            <a:br/>
            <a:r>
              <a:t>BETTER</a:t>
            </a:r>
            <a:br/>
            <a:br/>
            <a:r>
              <a:t>Quotation Optimization</a:t>
            </a:r>
            <a:br/>
            <a:r>
              <a:t>[SLA + Price]</a:t>
            </a:r>
          </a:p>
        </p:txBody>
      </p:sp>
      <p:sp>
        <p:nvSpPr>
          <p:cNvPr id="8" name="Rounded Rectangle 7"/>
          <p:cNvSpPr/>
          <p:nvPr/>
        </p:nvSpPr>
        <p:spPr>
          <a:xfrm>
            <a:off x="8961120" y="2194560"/>
            <a:ext cx="2560320" cy="2011680"/>
          </a:xfrm>
          <a:prstGeom prst="roundRect">
            <a:avLst/>
          </a:prstGeom>
          <a:solidFill>
            <a:srgbClr val="0A2540"/>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SEARCH</a:t>
            </a:r>
            <a:br/>
            <a:r>
              <a:t>LESS</a:t>
            </a:r>
            <a:br/>
            <a:br/>
            <a:r>
              <a:t>Productivity Recovery</a:t>
            </a:r>
            <a:br/>
            <a:r>
              <a:t>[Review Time Saved]</a:t>
            </a:r>
          </a:p>
        </p:txBody>
      </p:sp>
      <p:sp>
        <p:nvSpPr>
          <p:cNvPr id="9" name="Rounded Rectangle 8"/>
          <p:cNvSpPr/>
          <p:nvPr/>
        </p:nvSpPr>
        <p:spPr>
          <a:xfrm>
            <a:off x="731520" y="4572000"/>
            <a:ext cx="10698480" cy="1280160"/>
          </a:xfrm>
          <a:prstGeom prst="roundRect">
            <a:avLst/>
          </a:prstGeom>
          <a:solidFill>
            <a:srgbClr val="10B98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MEASURABLE VALUE CREATED  −  SYSTEM OPERATING COST  =  TRUE ROI</a:t>
            </a:r>
          </a:p>
          <a:p>
            <a:pPr algn="ctr">
              <a:spcBef>
                <a:spcPts val="400"/>
              </a:spcBef>
              <a:defRPr sz="1200">
                <a:solidFill>
                  <a:srgbClr val="ECFDF5"/>
                </a:solidFill>
              </a:defRPr>
            </a:pPr>
            <a:r>
              <a:t>Demonstrated Prototype Scenario: $1,250 stock avoided + $840 duplicate spend prevented on first 5 PRs.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0"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698480" cy="2743200"/>
          </a:xfrm>
          <a:prstGeom prst="rect">
            <a:avLst/>
          </a:prstGeom>
          <a:noFill/>
        </p:spPr>
        <p:txBody>
          <a:bodyPr wrap="none">
            <a:spAutoFit/>
          </a:bodyPr>
          <a:lstStyle/>
          <a:p>
            <a:pPr algn="ctr">
              <a:defRPr sz="3600" b="1">
                <a:solidFill>
                  <a:srgbClr val="FFFFFF"/>
                </a:solidFill>
              </a:defRPr>
            </a:pPr>
            <a:r>
              <a:t>"We Didn't Automate a Purchase Request."</a:t>
            </a:r>
          </a:p>
          <a:p>
            <a:pPr algn="ctr">
              <a:spcBef>
                <a:spcPts val="1400"/>
              </a:spcBef>
              <a:defRPr sz="3000" b="1">
                <a:solidFill>
                  <a:srgbClr val="00A3E0"/>
                </a:solidFill>
              </a:defRPr>
            </a:pPr>
            <a:r>
              <a:t>We Made Every Decision Around It More Intelligent.</a:t>
            </a:r>
          </a:p>
          <a:p>
            <a:pPr algn="ctr">
              <a:spcBef>
                <a:spcPts val="2000"/>
              </a:spcBef>
              <a:defRPr sz="1800">
                <a:solidFill>
                  <a:srgbClr val="94A3B8"/>
                </a:solidFill>
              </a:defRPr>
            </a:pPr>
            <a:r>
              <a:t>From Processing Procurement to Understanding Procurement.</a:t>
            </a:r>
          </a:p>
        </p:txBody>
      </p:sp>
      <p:sp>
        <p:nvSpPr>
          <p:cNvPr id="5" name="Rounded Rectangle 4"/>
          <p:cNvSpPr/>
          <p:nvPr/>
        </p:nvSpPr>
        <p:spPr>
          <a:xfrm>
            <a:off x="3291840" y="4572000"/>
            <a:ext cx="5577840" cy="1097280"/>
          </a:xfrm>
          <a:prstGeom prst="roundRect">
            <a:avLst/>
          </a:prstGeom>
          <a:solidFill>
            <a:srgbClr val="0072CE"/>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LIVE SYSTEM DEMONSTRATION</a:t>
            </a:r>
          </a:p>
          <a:p>
            <a:pPr algn="ctr">
              <a:defRPr sz="1300">
                <a:solidFill>
                  <a:srgbClr val="E0F2FE"/>
                </a:solidFill>
              </a:defRPr>
            </a:pPr>
            <a:r>
              <a:t>http://localhost:3000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